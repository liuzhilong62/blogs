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media/image5.webp" ContentType="image/webp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9"/>
  </p:notesMasterIdLst>
  <p:sldIdLst>
    <p:sldId id="319" r:id="rId3"/>
    <p:sldId id="321" r:id="rId4"/>
    <p:sldId id="322" r:id="rId5"/>
    <p:sldId id="361" r:id="rId6"/>
    <p:sldId id="374" r:id="rId7"/>
    <p:sldId id="376" r:id="rId8"/>
    <p:sldId id="377" r:id="rId9"/>
    <p:sldId id="378" r:id="rId10"/>
    <p:sldId id="379" r:id="rId11"/>
    <p:sldId id="380" r:id="rId12"/>
    <p:sldId id="375" r:id="rId13"/>
    <p:sldId id="381" r:id="rId14"/>
    <p:sldId id="382" r:id="rId15"/>
    <p:sldId id="365" r:id="rId16"/>
    <p:sldId id="366" r:id="rId17"/>
    <p:sldId id="367" r:id="rId18"/>
    <p:sldId id="368" r:id="rId19"/>
    <p:sldId id="369" r:id="rId20"/>
    <p:sldId id="370" r:id="rId21"/>
    <p:sldId id="371" r:id="rId22"/>
    <p:sldId id="372" r:id="rId23"/>
    <p:sldId id="373" r:id="rId24"/>
    <p:sldId id="383" r:id="rId25"/>
    <p:sldId id="384" r:id="rId26"/>
    <p:sldId id="387" r:id="rId27"/>
    <p:sldId id="390" r:id="rId28"/>
    <p:sldId id="389" r:id="rId29"/>
    <p:sldId id="388" r:id="rId30"/>
    <p:sldId id="392" r:id="rId31"/>
    <p:sldId id="393" r:id="rId32"/>
    <p:sldId id="394" r:id="rId33"/>
    <p:sldId id="385" r:id="rId34"/>
    <p:sldId id="335" r:id="rId35"/>
    <p:sldId id="333" r:id="rId36"/>
    <p:sldId id="334" r:id="rId37"/>
    <p:sldId id="320" r:id="rId38"/>
  </p:sldIdLst>
  <p:sldSz cx="12192000" cy="6858000"/>
  <p:notesSz cx="6858000" cy="9144000"/>
  <p:custDataLst>
    <p:tags r:id="rId4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86" userDrawn="1">
          <p15:clr>
            <a:srgbClr val="A4A3A4"/>
          </p15:clr>
        </p15:guide>
        <p15:guide id="2" pos="383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Mia Vida Villanueva" initials="MVV" lastIdx="1" clrIdx="0"/>
  <p:cmAuthor id="7" name="1206988966@qq.com" initials="1" lastIdx="1" clrIdx="2"/>
  <p:cmAuthor id="1" name="杨 伟洲" initials="杨" lastIdx="1" clrIdx="0"/>
  <p:cmAuthor id="8" name="姜伟光" initials="姜" lastIdx="1" clrIdx="0"/>
  <p:cmAuthor id="2" name="Fish Zheng" initials="FZ" lastIdx="1" clrIdx="1"/>
  <p:cmAuthor id="3" name="Author" initials="A" lastIdx="0" clrIdx="3"/>
  <p:cmAuthor id="4" name="Administrator" initials="A" lastIdx="4" clrIdx="3"/>
  <p:cmAuthor id="5" name="宋洁然" initials="宋" lastIdx="2" clrIdx="1"/>
  <p:cmAuthor id="6" name="ming qiu" initials="m" lastIdx="17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AEFFE"/>
    <a:srgbClr val="11044A"/>
    <a:srgbClr val="D3E40E"/>
    <a:srgbClr val="8C13FD"/>
    <a:srgbClr val="CFF829"/>
    <a:srgbClr val="A43AFE"/>
    <a:srgbClr val="AC52AF"/>
    <a:srgbClr val="A33ACA"/>
    <a:srgbClr val="F2FA0E"/>
    <a:srgbClr val="BA4CB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086"/>
        <p:guide pos="3832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4" Type="http://schemas.openxmlformats.org/officeDocument/2006/relationships/tags" Target="tags/tag93.xml"/><Relationship Id="rId43" Type="http://schemas.openxmlformats.org/officeDocument/2006/relationships/commentAuthors" Target="commentAuthors.xml"/><Relationship Id="rId42" Type="http://schemas.openxmlformats.org/officeDocument/2006/relationships/tableStyles" Target="tableStyles.xml"/><Relationship Id="rId41" Type="http://schemas.openxmlformats.org/officeDocument/2006/relationships/viewProps" Target="viewProps.xml"/><Relationship Id="rId40" Type="http://schemas.openxmlformats.org/officeDocument/2006/relationships/presProps" Target="presProps.xml"/><Relationship Id="rId4" Type="http://schemas.openxmlformats.org/officeDocument/2006/relationships/slide" Target="slides/slide2.xml"/><Relationship Id="rId39" Type="http://schemas.openxmlformats.org/officeDocument/2006/relationships/notesMaster" Target="notesMasters/notesMaster1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924" y="914474"/>
            <a:ext cx="9800206" cy="2570609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5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924" y="3560691"/>
            <a:ext cx="9800206" cy="147252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5" spc="200"/>
            </a:lvl1pPr>
            <a:lvl2pPr marL="457200" indent="0" algn="ctr">
              <a:buNone/>
              <a:defRPr sz="2005"/>
            </a:lvl2pPr>
            <a:lvl3pPr marL="915035" indent="0" algn="ctr">
              <a:buNone/>
              <a:defRPr sz="1800"/>
            </a:lvl3pPr>
            <a:lvl4pPr marL="1371600" indent="0" algn="ctr">
              <a:buNone/>
              <a:defRPr sz="1595"/>
            </a:lvl4pPr>
            <a:lvl5pPr marL="1828800" indent="0" algn="ctr">
              <a:buNone/>
              <a:defRPr sz="1595"/>
            </a:lvl5pPr>
            <a:lvl6pPr marL="2286635" indent="0" algn="ctr">
              <a:buNone/>
              <a:defRPr sz="1595"/>
            </a:lvl6pPr>
            <a:lvl7pPr marL="2743200" indent="0" algn="ctr">
              <a:buNone/>
              <a:defRPr sz="1595"/>
            </a:lvl7pPr>
            <a:lvl8pPr marL="3200400" indent="0" algn="ctr">
              <a:buNone/>
              <a:defRPr sz="1595"/>
            </a:lvl8pPr>
            <a:lvl9pPr marL="3658235" indent="0" algn="ctr">
              <a:buNone/>
              <a:defRPr sz="1595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63" y="608450"/>
            <a:ext cx="10970326" cy="705658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63" y="1490522"/>
            <a:ext cx="10970326" cy="4759589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1005" y="3848715"/>
            <a:ext cx="7769598" cy="766863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395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1005" y="4615577"/>
            <a:ext cx="7769598" cy="867671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595">
                <a:solidFill>
                  <a:schemeClr val="tx1">
                    <a:tint val="75000"/>
                  </a:schemeClr>
                </a:solidFill>
              </a:defRPr>
            </a:lvl2pPr>
            <a:lvl3pPr marL="915035" indent="0">
              <a:buNone/>
              <a:defRPr sz="1595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595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595">
                <a:solidFill>
                  <a:schemeClr val="tx1">
                    <a:tint val="75000"/>
                  </a:schemeClr>
                </a:solidFill>
              </a:defRPr>
            </a:lvl5pPr>
            <a:lvl6pPr marL="2286635" indent="0">
              <a:buNone/>
              <a:defRPr sz="1595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595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595">
                <a:solidFill>
                  <a:schemeClr val="tx1">
                    <a:tint val="75000"/>
                  </a:schemeClr>
                </a:solidFill>
              </a:defRPr>
            </a:lvl8pPr>
            <a:lvl9pPr marL="3658235" indent="0">
              <a:buNone/>
              <a:defRPr sz="159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63" y="608450"/>
            <a:ext cx="10970326" cy="705658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63" y="1501323"/>
            <a:ext cx="5177331" cy="4748788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2259" y="1501323"/>
            <a:ext cx="5177331" cy="4748788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63" y="608450"/>
            <a:ext cx="10970326" cy="705658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63" y="1429316"/>
            <a:ext cx="5342949" cy="381631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5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5" b="1"/>
            </a:lvl2pPr>
            <a:lvl3pPr marL="915035" indent="0">
              <a:buNone/>
              <a:defRPr sz="1800" b="1"/>
            </a:lvl3pPr>
            <a:lvl4pPr marL="1371600" indent="0">
              <a:buNone/>
              <a:defRPr sz="1595" b="1"/>
            </a:lvl4pPr>
            <a:lvl5pPr marL="1828800" indent="0">
              <a:buNone/>
              <a:defRPr sz="1595" b="1"/>
            </a:lvl5pPr>
            <a:lvl6pPr marL="2286635" indent="0">
              <a:buNone/>
              <a:defRPr sz="1595" b="1"/>
            </a:lvl6pPr>
            <a:lvl7pPr marL="2743200" indent="0">
              <a:buNone/>
              <a:defRPr sz="1595" b="1"/>
            </a:lvl7pPr>
            <a:lvl8pPr marL="3200400" indent="0">
              <a:buNone/>
              <a:defRPr sz="1595" b="1"/>
            </a:lvl8pPr>
            <a:lvl9pPr marL="3658235" indent="0">
              <a:buNone/>
              <a:defRPr sz="1595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63" y="1854151"/>
            <a:ext cx="5342949" cy="439596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6391" y="1421845"/>
            <a:ext cx="5342949" cy="381631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5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5" b="1"/>
            </a:lvl2pPr>
            <a:lvl3pPr marL="915035" indent="0">
              <a:buNone/>
              <a:defRPr sz="1800" b="1"/>
            </a:lvl3pPr>
            <a:lvl4pPr marL="1371600" indent="0">
              <a:buNone/>
              <a:defRPr sz="1595" b="1"/>
            </a:lvl4pPr>
            <a:lvl5pPr marL="1828800" indent="0">
              <a:buNone/>
              <a:defRPr sz="1595" b="1"/>
            </a:lvl5pPr>
            <a:lvl6pPr marL="2286635" indent="0">
              <a:buNone/>
              <a:defRPr sz="1595" b="1"/>
            </a:lvl6pPr>
            <a:lvl7pPr marL="2743200" indent="0">
              <a:buNone/>
              <a:defRPr sz="1595" b="1"/>
            </a:lvl7pPr>
            <a:lvl8pPr marL="3200400" indent="0">
              <a:buNone/>
              <a:defRPr sz="1595" b="1"/>
            </a:lvl8pPr>
            <a:lvl9pPr marL="3658235" indent="0">
              <a:buNone/>
              <a:defRPr sz="1595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6391" y="1854151"/>
            <a:ext cx="5342949" cy="439596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63" y="608450"/>
            <a:ext cx="10970326" cy="705658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63" y="1555327"/>
            <a:ext cx="5233614" cy="4608377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595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1052" y="1555327"/>
            <a:ext cx="5227737" cy="4608377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595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5850" y="914474"/>
            <a:ext cx="1044107" cy="502961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94" y="914474"/>
            <a:ext cx="9170141" cy="502961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63" y="774064"/>
            <a:ext cx="10973926" cy="5483248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924" y="2484203"/>
            <a:ext cx="9800206" cy="1018884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5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924" y="3560691"/>
            <a:ext cx="9800206" cy="471638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5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bg>
      <p:bgPr>
        <a:solidFill>
          <a:srgbClr val="1009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62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63" y="608450"/>
            <a:ext cx="10970326" cy="705658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63" y="1490522"/>
            <a:ext cx="10970326" cy="4759589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63" y="6314916"/>
            <a:ext cx="2700277" cy="3168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423" y="6314916"/>
            <a:ext cx="3960407" cy="3168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8511" y="6314916"/>
            <a:ext cx="2700277" cy="3168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5035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5035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5035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59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5035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59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5035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5035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5035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5035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5035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5035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503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503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5035" algn="l" defTabSz="91503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503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503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635" algn="l" defTabSz="91503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503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503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8235" algn="l" defTabSz="91503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3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71.xml"/><Relationship Id="rId8" Type="http://schemas.openxmlformats.org/officeDocument/2006/relationships/tags" Target="../tags/tag70.xml"/><Relationship Id="rId7" Type="http://schemas.openxmlformats.org/officeDocument/2006/relationships/tags" Target="../tags/tag69.xml"/><Relationship Id="rId6" Type="http://schemas.openxmlformats.org/officeDocument/2006/relationships/tags" Target="../tags/tag68.xml"/><Relationship Id="rId5" Type="http://schemas.openxmlformats.org/officeDocument/2006/relationships/tags" Target="../tags/tag67.xml"/><Relationship Id="rId4" Type="http://schemas.openxmlformats.org/officeDocument/2006/relationships/tags" Target="../tags/tag66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2" Type="http://schemas.openxmlformats.org/officeDocument/2006/relationships/slideLayout" Target="../slideLayouts/slideLayout2.xml"/><Relationship Id="rId11" Type="http://schemas.openxmlformats.org/officeDocument/2006/relationships/tags" Target="../tags/tag72.xml"/><Relationship Id="rId10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3.xml"/><Relationship Id="rId2" Type="http://schemas.openxmlformats.org/officeDocument/2006/relationships/image" Target="../media/image3.png"/><Relationship Id="rId1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5.webp"/><Relationship Id="rId2" Type="http://schemas.openxmlformats.org/officeDocument/2006/relationships/image" Target="../media/image3.png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1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4.xml"/><Relationship Id="rId2" Type="http://schemas.openxmlformats.org/officeDocument/2006/relationships/image" Target="../media/image3.png"/><Relationship Id="rId1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5.xml"/><Relationship Id="rId2" Type="http://schemas.openxmlformats.org/officeDocument/2006/relationships/image" Target="../media/image3.png"/><Relationship Id="rId1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6.xml"/><Relationship Id="rId2" Type="http://schemas.openxmlformats.org/officeDocument/2006/relationships/image" Target="../media/image3.png"/><Relationship Id="rId1" Type="http://schemas.openxmlformats.org/officeDocument/2006/relationships/image" Target="../media/image4.jpe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7.xml"/><Relationship Id="rId2" Type="http://schemas.openxmlformats.org/officeDocument/2006/relationships/image" Target="../media/image3.png"/><Relationship Id="rId1" Type="http://schemas.openxmlformats.org/officeDocument/2006/relationships/image" Target="../media/image4.jpe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8.xml"/><Relationship Id="rId2" Type="http://schemas.openxmlformats.org/officeDocument/2006/relationships/image" Target="../media/image3.png"/><Relationship Id="rId1" Type="http://schemas.openxmlformats.org/officeDocument/2006/relationships/image" Target="../media/image4.jpe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9.xml"/><Relationship Id="rId2" Type="http://schemas.openxmlformats.org/officeDocument/2006/relationships/image" Target="../media/image3.png"/><Relationship Id="rId1" Type="http://schemas.openxmlformats.org/officeDocument/2006/relationships/image" Target="../media/image4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1" Type="http://schemas.openxmlformats.org/officeDocument/2006/relationships/image" Target="../media/image4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1" Type="http://schemas.openxmlformats.org/officeDocument/2006/relationships/image" Target="../media/image4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1" Type="http://schemas.openxmlformats.org/officeDocument/2006/relationships/image" Target="../media/image4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1" Type="http://schemas.openxmlformats.org/officeDocument/2006/relationships/image" Target="../media/image4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1" Type="http://schemas.openxmlformats.org/officeDocument/2006/relationships/image" Target="../media/image4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1" Type="http://schemas.openxmlformats.org/officeDocument/2006/relationships/image" Target="../media/image4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1" Type="http://schemas.openxmlformats.org/officeDocument/2006/relationships/image" Target="../media/image4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1" Type="http://schemas.openxmlformats.org/officeDocument/2006/relationships/image" Target="../media/image4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1" Type="http://schemas.openxmlformats.org/officeDocument/2006/relationships/image" Target="../media/image4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1" Type="http://schemas.openxmlformats.org/officeDocument/2006/relationships/image" Target="../media/image4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1" Type="http://schemas.openxmlformats.org/officeDocument/2006/relationships/image" Target="../media/image4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1" Type="http://schemas.openxmlformats.org/officeDocument/2006/relationships/image" Target="../media/image4.jpe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0.xml"/><Relationship Id="rId2" Type="http://schemas.openxmlformats.org/officeDocument/2006/relationships/image" Target="../media/image3.png"/><Relationship Id="rId1" Type="http://schemas.openxmlformats.org/officeDocument/2006/relationships/image" Target="../media/image4.jpe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1.xml"/><Relationship Id="rId2" Type="http://schemas.openxmlformats.org/officeDocument/2006/relationships/image" Target="../media/image3.png"/><Relationship Id="rId1" Type="http://schemas.openxmlformats.org/officeDocument/2006/relationships/image" Target="../media/image4.jpeg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2.xml"/><Relationship Id="rId2" Type="http://schemas.openxmlformats.org/officeDocument/2006/relationships/image" Target="../media/image3.png"/><Relationship Id="rId1" Type="http://schemas.openxmlformats.org/officeDocument/2006/relationships/image" Target="../media/image4.jpeg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3.xml"/><Relationship Id="rId2" Type="http://schemas.openxmlformats.org/officeDocument/2006/relationships/image" Target="../media/image3.png"/><Relationship Id="rId1" Type="http://schemas.openxmlformats.org/officeDocument/2006/relationships/image" Target="../media/image4.jpeg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4.xml"/><Relationship Id="rId2" Type="http://schemas.openxmlformats.org/officeDocument/2006/relationships/image" Target="../media/image3.png"/><Relationship Id="rId1" Type="http://schemas.openxmlformats.org/officeDocument/2006/relationships/image" Target="../media/image4.jpeg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5.xml"/><Relationship Id="rId2" Type="http://schemas.openxmlformats.org/officeDocument/2006/relationships/image" Target="../media/image3.png"/><Relationship Id="rId1" Type="http://schemas.openxmlformats.org/officeDocument/2006/relationships/image" Target="../media/image4.jpeg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6.xml"/><Relationship Id="rId2" Type="http://schemas.openxmlformats.org/officeDocument/2006/relationships/image" Target="../media/image3.png"/><Relationship Id="rId1" Type="http://schemas.openxmlformats.org/officeDocument/2006/relationships/image" Target="../media/image4.jpeg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7.xml"/><Relationship Id="rId2" Type="http://schemas.openxmlformats.org/officeDocument/2006/relationships/image" Target="../media/image3.png"/><Relationship Id="rId1" Type="http://schemas.openxmlformats.org/officeDocument/2006/relationships/image" Target="../media/image4.jpeg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8.xml"/><Relationship Id="rId2" Type="http://schemas.openxmlformats.org/officeDocument/2006/relationships/image" Target="../media/image3.png"/><Relationship Id="rId1" Type="http://schemas.openxmlformats.org/officeDocument/2006/relationships/image" Target="../media/image4.jpeg"/></Relationships>
</file>

<file path=ppt/slides/_rels/slide3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9.xml"/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image" Target="../media/image4.jpeg"/></Relationships>
</file>

<file path=ppt/slides/_rels/slide3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90.xml"/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image" Target="../media/image4.jpeg"/></Relationships>
</file>

<file path=ppt/slides/_rels/slide3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91.xml"/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image" Target="../media/image4.jpe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92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封面画板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" y="1744"/>
            <a:ext cx="12191283" cy="6856253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242695" y="2835910"/>
            <a:ext cx="9707245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kumimoji="1" lang="en-US" altLang="zh-CN" sz="6000" b="1" dirty="0" smtClean="0">
                <a:solidFill>
                  <a:schemeClr val="bg1"/>
                </a:solidFill>
                <a:latin typeface="思源黑体 CN Heavy" panose="020B0A00000000000000" charset="-122"/>
                <a:ea typeface="思源黑体 CN Heavy" panose="020B0A00000000000000" charset="-122"/>
                <a:cs typeface="思源黑体 CN Heavy" panose="020B0A00000000000000" charset="-122"/>
              </a:rPr>
              <a:t>      PG</a:t>
            </a:r>
            <a:r>
              <a:rPr kumimoji="1" lang="zh-CN" altLang="en-US" sz="6000" b="1" dirty="0" smtClean="0">
                <a:solidFill>
                  <a:schemeClr val="bg1"/>
                </a:solidFill>
                <a:latin typeface="思源黑体 CN Heavy" panose="020B0A00000000000000" charset="-122"/>
                <a:ea typeface="思源黑体 CN Heavy" panose="020B0A00000000000000" charset="-122"/>
                <a:cs typeface="思源黑体 CN Heavy" panose="020B0A00000000000000" charset="-122"/>
              </a:rPr>
              <a:t>在云环境下的</a:t>
            </a:r>
            <a:endParaRPr kumimoji="1" lang="zh-CN" altLang="en-US" sz="6000" b="1" dirty="0" smtClean="0">
              <a:solidFill>
                <a:schemeClr val="bg1"/>
              </a:solidFill>
              <a:latin typeface="思源黑体 CN Heavy" panose="020B0A00000000000000" charset="-122"/>
              <a:ea typeface="思源黑体 CN Heavy" panose="020B0A00000000000000" charset="-122"/>
              <a:cs typeface="思源黑体 CN Heavy" panose="020B0A00000000000000" charset="-122"/>
            </a:endParaRPr>
          </a:p>
          <a:p>
            <a:pPr marL="1828800" lvl="4" indent="457200"/>
            <a:r>
              <a:rPr kumimoji="1" lang="en-US" altLang="zh-CN" sz="6000" b="1" dirty="0" smtClean="0">
                <a:solidFill>
                  <a:schemeClr val="bg1"/>
                </a:solidFill>
                <a:latin typeface="思源黑体 CN Heavy" panose="020B0A00000000000000" charset="-122"/>
                <a:ea typeface="思源黑体 CN Heavy" panose="020B0A00000000000000" charset="-122"/>
                <a:cs typeface="思源黑体 CN Heavy" panose="020B0A00000000000000" charset="-122"/>
              </a:rPr>
              <a:t>CG</a:t>
            </a:r>
            <a:r>
              <a:rPr kumimoji="1" lang="zh-CN" altLang="en-US" sz="6000" b="1" dirty="0" smtClean="0">
                <a:solidFill>
                  <a:schemeClr val="bg1"/>
                </a:solidFill>
                <a:latin typeface="思源黑体 CN Heavy" panose="020B0A00000000000000" charset="-122"/>
                <a:ea typeface="思源黑体 CN Heavy" panose="020B0A00000000000000" charset="-122"/>
                <a:cs typeface="思源黑体 CN Heavy" panose="020B0A00000000000000" charset="-122"/>
              </a:rPr>
              <a:t>内存管理</a:t>
            </a:r>
            <a:endParaRPr kumimoji="1" lang="zh-CN" altLang="en-US" sz="6000" b="1" dirty="0" smtClean="0">
              <a:solidFill>
                <a:schemeClr val="bg1"/>
              </a:solidFill>
              <a:latin typeface="思源黑体 CN Heavy" panose="020B0A00000000000000" charset="-122"/>
              <a:ea typeface="思源黑体 CN Heavy" panose="020B0A00000000000000" charset="-122"/>
              <a:cs typeface="思源黑体 CN Heavy" panose="020B0A00000000000000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9228455" y="844550"/>
            <a:ext cx="294386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120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开源生态大会暨</a:t>
            </a:r>
            <a:r>
              <a:rPr lang="en-US" altLang="zh-CN" sz="120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PostgreSQL</a:t>
            </a:r>
            <a:r>
              <a:rPr lang="zh-CN" altLang="en-US" sz="120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高峰论坛</a:t>
            </a:r>
            <a:endParaRPr lang="zh-CN" altLang="en-US" sz="1200" b="1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207500" y="476250"/>
            <a:ext cx="2863215" cy="3835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9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以开源之道</a:t>
            </a:r>
            <a:r>
              <a:rPr lang="en-US" altLang="zh-CN" sz="19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·</a:t>
            </a:r>
            <a:r>
              <a:rPr lang="zh-CN" altLang="en-US" sz="19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见致远之志</a:t>
            </a:r>
            <a:endParaRPr lang="zh-CN" altLang="en-US" sz="1900">
              <a:solidFill>
                <a:schemeClr val="bg1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封面画板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635" cy="685800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742846" y="3203219"/>
            <a:ext cx="261075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13" name="文本框 12"/>
          <p:cNvSpPr txBox="1"/>
          <p:nvPr>
            <p:custDataLst>
              <p:tags r:id="rId2"/>
            </p:custDataLst>
          </p:nvPr>
        </p:nvSpPr>
        <p:spPr>
          <a:xfrm>
            <a:off x="5807250" y="1632170"/>
            <a:ext cx="13978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600" b="1" spc="-300" dirty="0">
                <a:gradFill>
                  <a:gsLst>
                    <a:gs pos="50000">
                      <a:srgbClr val="BB59BC"/>
                    </a:gs>
                    <a:gs pos="100000">
                      <a:srgbClr val="425CCA"/>
                    </a:gs>
                    <a:gs pos="0">
                      <a:srgbClr val="F7CC7E"/>
                    </a:gs>
                  </a:gsLst>
                  <a:lin ang="2580000" scaled="1"/>
                </a:gradFill>
                <a:latin typeface="思源黑体 CN Heavy" panose="020B0A00000000000000" charset="-122"/>
                <a:ea typeface="思源黑体 CN Heavy" panose="020B0A00000000000000" charset="-122"/>
              </a:rPr>
              <a:t>0 1</a:t>
            </a:r>
            <a:endParaRPr kumimoji="1" lang="en-US" altLang="zh-CN" sz="3600" b="1" spc="-300" dirty="0">
              <a:gradFill>
                <a:gsLst>
                  <a:gs pos="50000">
                    <a:srgbClr val="BB59BC"/>
                  </a:gs>
                  <a:gs pos="100000">
                    <a:srgbClr val="425CCA"/>
                  </a:gs>
                  <a:gs pos="0">
                    <a:srgbClr val="F7CC7E"/>
                  </a:gs>
                </a:gsLst>
                <a:lin ang="2580000" scaled="1"/>
              </a:gradFill>
              <a:latin typeface="思源黑体 CN Heavy" panose="020B0A00000000000000" charset="-122"/>
              <a:ea typeface="思源黑体 CN Heavy" panose="020B0A00000000000000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3"/>
            </p:custDataLst>
          </p:nvPr>
        </p:nvSpPr>
        <p:spPr>
          <a:xfrm>
            <a:off x="5807250" y="2594413"/>
            <a:ext cx="13978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kumimoji="1" lang="en-US" altLang="zh-CN" sz="3600" b="1" spc="-300" dirty="0">
                <a:gradFill>
                  <a:gsLst>
                    <a:gs pos="50000">
                      <a:srgbClr val="BB59BC"/>
                    </a:gs>
                    <a:gs pos="100000">
                      <a:srgbClr val="425CCA"/>
                    </a:gs>
                    <a:gs pos="0">
                      <a:srgbClr val="F7CC7E"/>
                    </a:gs>
                  </a:gsLst>
                  <a:lin ang="2580000" scaled="1"/>
                </a:gradFill>
                <a:latin typeface="思源黑体 CN Heavy" panose="020B0A00000000000000" charset="-122"/>
                <a:ea typeface="思源黑体 CN Heavy" panose="020B0A00000000000000" charset="-122"/>
              </a:rPr>
              <a:t>0 2</a:t>
            </a:r>
            <a:endParaRPr kumimoji="1" lang="en-US" altLang="zh-CN" sz="3600" b="1" spc="-300" dirty="0">
              <a:gradFill>
                <a:gsLst>
                  <a:gs pos="50000">
                    <a:srgbClr val="BB59BC"/>
                  </a:gs>
                  <a:gs pos="100000">
                    <a:srgbClr val="425CCA"/>
                  </a:gs>
                  <a:gs pos="0">
                    <a:srgbClr val="F7CC7E"/>
                  </a:gs>
                </a:gsLst>
                <a:lin ang="2580000" scaled="1"/>
              </a:gradFill>
              <a:latin typeface="思源黑体 CN Heavy" panose="020B0A00000000000000" charset="-122"/>
              <a:ea typeface="思源黑体 CN Heavy" panose="020B0A00000000000000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4"/>
            </p:custDataLst>
          </p:nvPr>
        </p:nvSpPr>
        <p:spPr>
          <a:xfrm>
            <a:off x="5807250" y="3544823"/>
            <a:ext cx="13978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kumimoji="1" lang="en-US" altLang="zh-CN" sz="3600" b="1" spc="-300" dirty="0">
                <a:gradFill>
                  <a:gsLst>
                    <a:gs pos="50000">
                      <a:srgbClr val="BB59BC"/>
                    </a:gs>
                    <a:gs pos="100000">
                      <a:srgbClr val="425CCA"/>
                    </a:gs>
                    <a:gs pos="0">
                      <a:srgbClr val="F7CC7E"/>
                    </a:gs>
                  </a:gsLst>
                  <a:lin ang="2580000" scaled="1"/>
                </a:gradFill>
                <a:latin typeface="思源黑体 CN Heavy" panose="020B0A00000000000000" charset="-122"/>
                <a:ea typeface="思源黑体 CN Heavy" panose="020B0A00000000000000" charset="-122"/>
              </a:rPr>
              <a:t>0 3</a:t>
            </a:r>
            <a:endParaRPr kumimoji="1" lang="en-US" altLang="zh-CN" sz="3600" b="1" spc="-300" dirty="0">
              <a:gradFill>
                <a:gsLst>
                  <a:gs pos="50000">
                    <a:srgbClr val="BB59BC"/>
                  </a:gs>
                  <a:gs pos="100000">
                    <a:srgbClr val="425CCA"/>
                  </a:gs>
                  <a:gs pos="0">
                    <a:srgbClr val="F7CC7E"/>
                  </a:gs>
                </a:gsLst>
                <a:lin ang="2580000" scaled="1"/>
              </a:gradFill>
              <a:latin typeface="思源黑体 CN Heavy" panose="020B0A00000000000000" charset="-122"/>
              <a:ea typeface="思源黑体 CN Heavy" panose="020B0A00000000000000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5"/>
            </p:custDataLst>
          </p:nvPr>
        </p:nvSpPr>
        <p:spPr>
          <a:xfrm>
            <a:off x="5807250" y="4502233"/>
            <a:ext cx="13978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kumimoji="1" lang="en-US" altLang="zh-CN" sz="3600" b="1" spc="-300" dirty="0">
                <a:gradFill>
                  <a:gsLst>
                    <a:gs pos="50000">
                      <a:srgbClr val="BB59BC"/>
                    </a:gs>
                    <a:gs pos="100000">
                      <a:srgbClr val="425CCA"/>
                    </a:gs>
                    <a:gs pos="0">
                      <a:srgbClr val="F7CC7E"/>
                    </a:gs>
                  </a:gsLst>
                  <a:lin ang="2580000" scaled="1"/>
                </a:gradFill>
                <a:latin typeface="思源黑体 CN Heavy" panose="020B0A00000000000000" charset="-122"/>
                <a:ea typeface="思源黑体 CN Heavy" panose="020B0A00000000000000" charset="-122"/>
              </a:rPr>
              <a:t>0 4</a:t>
            </a:r>
            <a:endParaRPr kumimoji="1" lang="en-US" altLang="zh-CN" sz="3600" b="1" spc="-300" dirty="0">
              <a:gradFill>
                <a:gsLst>
                  <a:gs pos="50000">
                    <a:srgbClr val="BB59BC"/>
                  </a:gs>
                  <a:gs pos="100000">
                    <a:srgbClr val="425CCA"/>
                  </a:gs>
                  <a:gs pos="0">
                    <a:srgbClr val="F7CC7E"/>
                  </a:gs>
                </a:gsLst>
                <a:lin ang="2580000" scaled="1"/>
              </a:gradFill>
              <a:latin typeface="思源黑体 CN Heavy" panose="020B0A00000000000000" charset="-122"/>
              <a:ea typeface="思源黑体 CN Heavy" panose="020B0A00000000000000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6"/>
            </p:custDataLst>
          </p:nvPr>
        </p:nvSpPr>
        <p:spPr>
          <a:xfrm>
            <a:off x="6954163" y="1648012"/>
            <a:ext cx="2844874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sz="2000" b="1" dirty="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CGROUP</a:t>
            </a:r>
            <a:r>
              <a:rPr kumimoji="1" lang="zh-CN" altLang="en-US" sz="2000" b="1" dirty="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资源</a:t>
            </a:r>
            <a:r>
              <a:rPr kumimoji="1" lang="zh-CN" altLang="en-US" sz="2000" b="1" dirty="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管理</a:t>
            </a:r>
            <a:endParaRPr kumimoji="1" lang="zh-CN" altLang="en-US" sz="2000" b="1" dirty="0">
              <a:solidFill>
                <a:schemeClr val="bg1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sp>
        <p:nvSpPr>
          <p:cNvPr id="18" name="文本框 17"/>
          <p:cNvSpPr txBox="1"/>
          <p:nvPr>
            <p:custDataLst>
              <p:tags r:id="rId7"/>
            </p:custDataLst>
          </p:nvPr>
        </p:nvSpPr>
        <p:spPr>
          <a:xfrm>
            <a:off x="6954163" y="2563632"/>
            <a:ext cx="2844874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en-US" sz="2000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pages</a:t>
            </a:r>
            <a:r>
              <a:rPr kumimoji="1" lang="zh-CN" altLang="en-US" sz="2000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计算</a:t>
            </a:r>
            <a:endParaRPr kumimoji="1" lang="zh-CN" altLang="en-US" sz="2000" dirty="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</p:txBody>
      </p:sp>
      <p:sp>
        <p:nvSpPr>
          <p:cNvPr id="19" name="文本框 18"/>
          <p:cNvSpPr txBox="1"/>
          <p:nvPr>
            <p:custDataLst>
              <p:tags r:id="rId8"/>
            </p:custDataLst>
          </p:nvPr>
        </p:nvSpPr>
        <p:spPr>
          <a:xfrm>
            <a:off x="6953885" y="3519805"/>
            <a:ext cx="34340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000" dirty="0" smtClean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大页的</a:t>
            </a:r>
            <a:r>
              <a:rPr kumimoji="1" lang="zh-CN" altLang="en-US" sz="2000" dirty="0" smtClean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管理</a:t>
            </a:r>
            <a:endParaRPr kumimoji="1" lang="zh-CN" altLang="en-US" sz="2000" dirty="0" smtClean="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9"/>
            </p:custDataLst>
          </p:nvPr>
        </p:nvSpPr>
        <p:spPr>
          <a:xfrm>
            <a:off x="6953885" y="4474210"/>
            <a:ext cx="34340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000" dirty="0" smtClean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内存故障</a:t>
            </a:r>
            <a:r>
              <a:rPr kumimoji="1" lang="zh-CN" altLang="en-US" sz="2000" dirty="0" smtClean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模型</a:t>
            </a:r>
            <a:endParaRPr kumimoji="1" lang="zh-CN" altLang="en-US" sz="2000" dirty="0" smtClean="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2617647" y="2560874"/>
            <a:ext cx="139787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kumimoji="1" lang="zh-CN" altLang="en-US" sz="4200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目录</a:t>
            </a:r>
            <a:endParaRPr kumimoji="1" lang="zh-CN" altLang="en-US" sz="4200" dirty="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2658553" y="3229484"/>
            <a:ext cx="1439524" cy="321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kumimoji="1" lang="en-GB" altLang="zh-CN" sz="1500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CONTENTS</a:t>
            </a:r>
            <a:endParaRPr kumimoji="1" lang="en-GB" altLang="zh-CN" sz="1500" dirty="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pic>
        <p:nvPicPr>
          <p:cNvPr id="12" name="图片 11" descr="未标题-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3875" y="287655"/>
            <a:ext cx="1737995" cy="746760"/>
          </a:xfrm>
          <a:prstGeom prst="rect">
            <a:avLst/>
          </a:prstGeom>
        </p:spPr>
      </p:pic>
      <p:sp>
        <p:nvSpPr>
          <p:cNvPr id="23" name="文本框 22"/>
          <p:cNvSpPr txBox="1"/>
          <p:nvPr/>
        </p:nvSpPr>
        <p:spPr>
          <a:xfrm>
            <a:off x="9228455" y="716915"/>
            <a:ext cx="294386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120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开源生态大会暨</a:t>
            </a:r>
            <a:r>
              <a:rPr lang="en-US" altLang="zh-CN" sz="120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PostgreSQL</a:t>
            </a:r>
            <a:r>
              <a:rPr lang="zh-CN" altLang="en-US" sz="120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高峰论坛</a:t>
            </a:r>
            <a:endParaRPr lang="zh-CN" altLang="en-US" sz="1200" b="1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9207500" y="348615"/>
            <a:ext cx="2863215" cy="3835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9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以开源之道</a:t>
            </a:r>
            <a:r>
              <a:rPr lang="en-US" altLang="zh-CN" sz="19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·</a:t>
            </a:r>
            <a:r>
              <a:rPr lang="zh-CN" altLang="en-US" sz="19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见致远之志</a:t>
            </a:r>
            <a:endParaRPr lang="zh-CN" altLang="en-US" sz="1900">
              <a:solidFill>
                <a:schemeClr val="bg1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</p:spTree>
    <p:custDataLst>
      <p:tags r:id="rId1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5257800" y="2690495"/>
            <a:ext cx="495427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kumimoji="1" lang="en-US" sz="6000" b="1" dirty="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  <a:sym typeface="+mn-ea"/>
              </a:rPr>
              <a:t>CGOUOP</a:t>
            </a:r>
            <a:endParaRPr kumimoji="1" lang="en-US" sz="6000" b="1" dirty="0">
              <a:solidFill>
                <a:schemeClr val="bg1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  <a:sym typeface="+mn-ea"/>
            </a:endParaRPr>
          </a:p>
          <a:p>
            <a:r>
              <a:rPr kumimoji="1" lang="zh-CN" altLang="en-US" sz="6000" b="1" dirty="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  <a:sym typeface="+mn-ea"/>
              </a:rPr>
              <a:t>资源</a:t>
            </a:r>
            <a:r>
              <a:rPr kumimoji="1" lang="zh-CN" altLang="en-US" sz="6000" b="1" dirty="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  <a:sym typeface="+mn-ea"/>
              </a:rPr>
              <a:t>管理</a:t>
            </a:r>
            <a:endParaRPr kumimoji="1" lang="zh-CN" altLang="en-US" sz="6000" b="1" dirty="0">
              <a:solidFill>
                <a:schemeClr val="bg1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  <a:sym typeface="+mn-ea"/>
            </a:endParaRPr>
          </a:p>
        </p:txBody>
      </p:sp>
      <p:pic>
        <p:nvPicPr>
          <p:cNvPr id="5" name="图片 4" descr="未标题-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287655"/>
            <a:ext cx="1737995" cy="74676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9228455" y="716915"/>
            <a:ext cx="294386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120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开源生态大会暨</a:t>
            </a:r>
            <a:r>
              <a:rPr lang="en-US" altLang="zh-CN" sz="120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PostgreSQL</a:t>
            </a:r>
            <a:r>
              <a:rPr lang="zh-CN" altLang="en-US" sz="120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高峰论坛</a:t>
            </a:r>
            <a:endParaRPr lang="zh-CN" altLang="en-US" sz="1200" b="1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9207500" y="348615"/>
            <a:ext cx="2863215" cy="3835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9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以开源之道</a:t>
            </a:r>
            <a:r>
              <a:rPr lang="en-US" altLang="zh-CN" sz="19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·</a:t>
            </a:r>
            <a:r>
              <a:rPr lang="zh-CN" altLang="en-US" sz="19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见致远之志</a:t>
            </a:r>
            <a:endParaRPr lang="zh-CN" altLang="en-US" sz="1900">
              <a:solidFill>
                <a:schemeClr val="bg1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670559" y="1636370"/>
            <a:ext cx="10849927" cy="31381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 err="1">
              <a:solidFill>
                <a:schemeClr val="bg1"/>
              </a:solidFill>
              <a:latin typeface="Open Sans"/>
            </a:endParaRPr>
          </a:p>
          <a:p>
            <a:r>
              <a:rPr lang="zh-CN" altLang="en-US" dirty="0" err="1">
                <a:solidFill>
                  <a:schemeClr val="bg1"/>
                </a:solidFill>
                <a:latin typeface="Open Sans"/>
              </a:rPr>
              <a:t>什么是</a:t>
            </a:r>
            <a:r>
              <a:rPr lang="en-US" altLang="zh-CN" dirty="0" err="1">
                <a:solidFill>
                  <a:schemeClr val="bg1"/>
                </a:solidFill>
                <a:latin typeface="Open Sans"/>
              </a:rPr>
              <a:t>CGROUP</a:t>
            </a:r>
            <a:r>
              <a:rPr lang="zh-CN" altLang="en-US" dirty="0" err="1">
                <a:solidFill>
                  <a:schemeClr val="bg1"/>
                </a:solidFill>
                <a:latin typeface="Open Sans"/>
              </a:rPr>
              <a:t>？</a:t>
            </a:r>
            <a:endParaRPr lang="zh-CN" altLang="en-US" dirty="0" err="1">
              <a:solidFill>
                <a:schemeClr val="bg1"/>
              </a:solidFill>
              <a:latin typeface="Open Sans"/>
            </a:endParaRPr>
          </a:p>
          <a:p>
            <a:r>
              <a:rPr lang="en-US" altLang="en-US" dirty="0" err="1">
                <a:solidFill>
                  <a:schemeClr val="bg1"/>
                </a:solidFill>
                <a:latin typeface="Open Sans"/>
              </a:rPr>
              <a:t>Cgroup</a:t>
            </a:r>
            <a:r>
              <a:rPr lang="zh-CN" altLang="en-US" dirty="0" err="1">
                <a:solidFill>
                  <a:schemeClr val="bg1"/>
                </a:solidFill>
                <a:latin typeface="Open Sans"/>
              </a:rPr>
              <a:t>（控制组）是</a:t>
            </a:r>
            <a:r>
              <a:rPr lang="en-US" altLang="en-US" dirty="0" err="1">
                <a:solidFill>
                  <a:schemeClr val="bg1"/>
                </a:solidFill>
                <a:latin typeface="Open Sans"/>
              </a:rPr>
              <a:t> Linux </a:t>
            </a:r>
            <a:r>
              <a:rPr lang="zh-CN" altLang="en-US" dirty="0" err="1">
                <a:solidFill>
                  <a:schemeClr val="bg1"/>
                </a:solidFill>
                <a:latin typeface="Open Sans"/>
              </a:rPr>
              <a:t>内核提供的进程组</a:t>
            </a:r>
            <a:r>
              <a:rPr lang="zh-CN" altLang="en-US" b="1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Open Sans"/>
              </a:rPr>
              <a:t>资源管理</a:t>
            </a:r>
            <a:r>
              <a:rPr lang="zh-CN" altLang="en-US" dirty="0" err="1">
                <a:solidFill>
                  <a:schemeClr val="bg1"/>
                </a:solidFill>
                <a:latin typeface="Open Sans"/>
              </a:rPr>
              <a:t>机制，用于对一组进程的</a:t>
            </a:r>
            <a:r>
              <a:rPr lang="en-US" altLang="en-US" dirty="0" err="1">
                <a:solidFill>
                  <a:schemeClr val="bg1"/>
                </a:solidFill>
                <a:latin typeface="Open Sans"/>
              </a:rPr>
              <a:t> CPU </a:t>
            </a:r>
            <a:r>
              <a:rPr lang="zh-CN" altLang="en-US" dirty="0" err="1">
                <a:solidFill>
                  <a:schemeClr val="bg1"/>
                </a:solidFill>
                <a:latin typeface="Open Sans"/>
              </a:rPr>
              <a:t>时间、物理内存页面、</a:t>
            </a:r>
            <a:r>
              <a:rPr lang="en-US" altLang="zh-CN" dirty="0" err="1">
                <a:solidFill>
                  <a:schemeClr val="bg1"/>
                </a:solidFill>
                <a:latin typeface="Open Sans"/>
              </a:rPr>
              <a:t>IO</a:t>
            </a:r>
            <a:r>
              <a:rPr lang="zh-CN" altLang="en-US" dirty="0" err="1">
                <a:solidFill>
                  <a:schemeClr val="bg1"/>
                </a:solidFill>
                <a:latin typeface="Open Sans"/>
              </a:rPr>
              <a:t>、网络等资源进行配额限制、隔离与使用统计。</a:t>
            </a:r>
            <a:endParaRPr lang="zh-CN" altLang="en-US" dirty="0" err="1">
              <a:solidFill>
                <a:schemeClr val="bg1"/>
              </a:solidFill>
              <a:latin typeface="Open Sans"/>
            </a:endParaRPr>
          </a:p>
          <a:p>
            <a:r>
              <a:rPr lang="en-US" altLang="zh-CN" dirty="0" err="1">
                <a:solidFill>
                  <a:schemeClr val="bg1"/>
                </a:solidFill>
                <a:latin typeface="Open Sans"/>
              </a:rPr>
              <a:t>CGROUP</a:t>
            </a:r>
            <a:r>
              <a:rPr lang="zh-CN" altLang="en-US" dirty="0" err="1">
                <a:solidFill>
                  <a:schemeClr val="bg1"/>
                </a:solidFill>
                <a:latin typeface="Open Sans"/>
              </a:rPr>
              <a:t>使用非常广泛，容器也是用的</a:t>
            </a:r>
            <a:r>
              <a:rPr lang="en-US" altLang="zh-CN" dirty="0" err="1">
                <a:solidFill>
                  <a:schemeClr val="bg1"/>
                </a:solidFill>
                <a:latin typeface="Open Sans"/>
              </a:rPr>
              <a:t>cgroup</a:t>
            </a:r>
            <a:r>
              <a:rPr lang="zh-CN" altLang="en-US" dirty="0" err="1">
                <a:solidFill>
                  <a:schemeClr val="bg1"/>
                </a:solidFill>
                <a:latin typeface="Open Sans"/>
              </a:rPr>
              <a:t>来管理资源的。对于</a:t>
            </a:r>
            <a:r>
              <a:rPr lang="en-US" altLang="zh-CN" dirty="0" err="1">
                <a:solidFill>
                  <a:schemeClr val="bg1"/>
                </a:solidFill>
                <a:latin typeface="Open Sans"/>
              </a:rPr>
              <a:t>PostgreSQL</a:t>
            </a:r>
            <a:r>
              <a:rPr lang="zh-CN" altLang="en-US" dirty="0" err="1">
                <a:solidFill>
                  <a:schemeClr val="bg1"/>
                </a:solidFill>
                <a:latin typeface="Open Sans"/>
              </a:rPr>
              <a:t>来说，无论是不是容器管理，都可以用</a:t>
            </a:r>
            <a:r>
              <a:rPr lang="en-US" altLang="zh-CN" dirty="0" err="1">
                <a:solidFill>
                  <a:schemeClr val="bg1"/>
                </a:solidFill>
                <a:latin typeface="Open Sans"/>
              </a:rPr>
              <a:t>CGROUP</a:t>
            </a:r>
            <a:r>
              <a:rPr lang="zh-CN" altLang="en-US" dirty="0" err="1">
                <a:solidFill>
                  <a:schemeClr val="bg1"/>
                </a:solidFill>
                <a:latin typeface="Open Sans"/>
              </a:rPr>
              <a:t>来管理资源，这也是云厂商的</a:t>
            </a:r>
            <a:r>
              <a:rPr lang="zh-CN" altLang="en-US" dirty="0" err="1">
                <a:solidFill>
                  <a:schemeClr val="bg1"/>
                </a:solidFill>
                <a:latin typeface="Open Sans"/>
              </a:rPr>
              <a:t>常见做法。</a:t>
            </a:r>
            <a:endParaRPr lang="zh-CN" altLang="en-US" dirty="0" err="1">
              <a:solidFill>
                <a:schemeClr val="bg1"/>
              </a:solidFill>
              <a:latin typeface="Open Sans"/>
            </a:endParaRPr>
          </a:p>
          <a:p>
            <a:endParaRPr lang="zh-CN" altLang="en-US" dirty="0" err="1">
              <a:solidFill>
                <a:schemeClr val="bg1"/>
              </a:solidFill>
              <a:latin typeface="Open Sans"/>
            </a:endParaRPr>
          </a:p>
          <a:p>
            <a:endParaRPr lang="en-US" dirty="0" err="1">
              <a:solidFill>
                <a:schemeClr val="bg1"/>
              </a:solidFill>
              <a:latin typeface="Open Sans"/>
            </a:endParaRPr>
          </a:p>
          <a:p>
            <a:endParaRPr lang="en-US" dirty="0" err="1">
              <a:solidFill>
                <a:schemeClr val="bg1"/>
              </a:solidFill>
              <a:latin typeface="Open Sans"/>
            </a:endParaRPr>
          </a:p>
          <a:p>
            <a:endParaRPr lang="en-US" dirty="0" err="1">
              <a:solidFill>
                <a:schemeClr val="bg1"/>
              </a:solidFill>
              <a:latin typeface="Open Sans"/>
            </a:endParaRPr>
          </a:p>
          <a:p>
            <a:endParaRPr lang="zh-CN" altLang="en-US" b="0" i="0" u="none" strike="noStrike" dirty="0">
              <a:solidFill>
                <a:schemeClr val="bg1"/>
              </a:solidFill>
              <a:effectLst/>
              <a:latin typeface="Open Sans"/>
            </a:endParaRPr>
          </a:p>
        </p:txBody>
      </p:sp>
      <p:pic>
        <p:nvPicPr>
          <p:cNvPr id="8" name="图片 4" descr="未标题-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287655"/>
            <a:ext cx="1737995" cy="74676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9228455" y="716915"/>
            <a:ext cx="294386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120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开源生态大会暨</a:t>
            </a:r>
            <a:r>
              <a:rPr lang="en-US" altLang="zh-CN" sz="120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PostgreSQL</a:t>
            </a:r>
            <a:r>
              <a:rPr lang="zh-CN" altLang="en-US" sz="120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高峰论坛</a:t>
            </a:r>
            <a:endParaRPr lang="zh-CN" altLang="en-US" sz="1200" b="1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9207500" y="348615"/>
            <a:ext cx="2863215" cy="3835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9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以开源之道</a:t>
            </a:r>
            <a:r>
              <a:rPr lang="en-US" altLang="zh-CN" sz="19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·</a:t>
            </a:r>
            <a:r>
              <a:rPr lang="zh-CN" altLang="en-US" sz="19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见致远之志</a:t>
            </a:r>
            <a:endParaRPr lang="zh-CN" altLang="en-US" sz="1900">
              <a:solidFill>
                <a:schemeClr val="bg1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sp>
        <p:nvSpPr>
          <p:cNvPr id="40" name="文本框 4"/>
          <p:cNvSpPr txBox="1"/>
          <p:nvPr/>
        </p:nvSpPr>
        <p:spPr>
          <a:xfrm>
            <a:off x="447040" y="1184275"/>
            <a:ext cx="94710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 dirty="0">
                <a:solidFill>
                  <a:schemeClr val="bg1"/>
                </a:solidFill>
                <a:sym typeface="+mn-ea"/>
              </a:rPr>
              <a:t>CGROUP</a:t>
            </a:r>
            <a:r>
              <a:rPr lang="zh-CN" altLang="en-US" sz="2000" dirty="0">
                <a:solidFill>
                  <a:schemeClr val="bg1"/>
                </a:solidFill>
                <a:sym typeface="+mn-ea"/>
              </a:rPr>
              <a:t>管理内存和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cpu</a:t>
            </a:r>
            <a:r>
              <a:rPr lang="zh-CN" altLang="en-US" sz="2000" dirty="0">
                <a:solidFill>
                  <a:schemeClr val="bg1"/>
                </a:solidFill>
                <a:sym typeface="+mn-ea"/>
              </a:rPr>
              <a:t>资源</a:t>
            </a:r>
            <a:endParaRPr lang="zh-CN" altLang="en-US" sz="2000" dirty="0">
              <a:solidFill>
                <a:schemeClr val="bg1"/>
              </a:solidFill>
              <a:sym typeface="+mn-ea"/>
            </a:endParaRPr>
          </a:p>
        </p:txBody>
      </p:sp>
      <p:pic>
        <p:nvPicPr>
          <p:cNvPr id="9" name="Picture 8"/>
          <p:cNvPicPr/>
          <p:nvPr/>
        </p:nvPicPr>
        <p:blipFill>
          <a:blip r:embed="rId3"/>
          <a:stretch>
            <a:fillRect/>
          </a:stretch>
        </p:blipFill>
        <p:spPr>
          <a:xfrm>
            <a:off x="6651625" y="3593783"/>
            <a:ext cx="4514850" cy="1914525"/>
          </a:xfrm>
          <a:prstGeom prst="rect">
            <a:avLst/>
          </a:prstGeom>
        </p:spPr>
      </p:pic>
      <p:sp>
        <p:nvSpPr>
          <p:cNvPr id="10" name="Text Box 9"/>
          <p:cNvSpPr txBox="1"/>
          <p:nvPr/>
        </p:nvSpPr>
        <p:spPr>
          <a:xfrm>
            <a:off x="670560" y="3813175"/>
            <a:ext cx="5491480" cy="2030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dirty="0" err="1">
                <a:solidFill>
                  <a:schemeClr val="bg1"/>
                </a:solidFill>
                <a:latin typeface="Open Sans"/>
                <a:sym typeface="+mn-ea"/>
              </a:rPr>
              <a:t>CGROUP</a:t>
            </a:r>
            <a:r>
              <a:rPr lang="zh-CN" altLang="en-US" dirty="0" err="1">
                <a:solidFill>
                  <a:schemeClr val="bg1"/>
                </a:solidFill>
                <a:latin typeface="Open Sans"/>
                <a:sym typeface="+mn-ea"/>
              </a:rPr>
              <a:t>对</a:t>
            </a:r>
            <a:r>
              <a:rPr lang="en-US" altLang="zh-CN" dirty="0" err="1">
                <a:solidFill>
                  <a:schemeClr val="bg1"/>
                </a:solidFill>
                <a:latin typeface="Open Sans"/>
                <a:sym typeface="+mn-ea"/>
              </a:rPr>
              <a:t>CPU</a:t>
            </a:r>
            <a:r>
              <a:rPr lang="zh-CN" altLang="en-US" dirty="0" err="1">
                <a:solidFill>
                  <a:schemeClr val="bg1"/>
                </a:solidFill>
                <a:latin typeface="Open Sans"/>
                <a:sym typeface="+mn-ea"/>
              </a:rPr>
              <a:t>和内存的管理</a:t>
            </a:r>
            <a:r>
              <a:rPr lang="en-US" altLang="zh-CN" dirty="0" err="1">
                <a:solidFill>
                  <a:schemeClr val="bg1"/>
                </a:solidFill>
                <a:latin typeface="Open Sans"/>
                <a:sym typeface="+mn-ea"/>
              </a:rPr>
              <a:t>  </a:t>
            </a:r>
            <a:endParaRPr lang="en-US" altLang="zh-CN" dirty="0" err="1">
              <a:solidFill>
                <a:schemeClr val="bg1"/>
              </a:solidFill>
              <a:latin typeface="Open Sans"/>
              <a:sym typeface="+mn-ea"/>
            </a:endParaRPr>
          </a:p>
          <a:p>
            <a:r>
              <a:rPr lang="en-US" altLang="zh-CN" dirty="0" err="1">
                <a:solidFill>
                  <a:schemeClr val="bg1"/>
                </a:solidFill>
                <a:latin typeface="Open Sans"/>
                <a:sym typeface="+mn-ea"/>
              </a:rPr>
              <a:t>  </a:t>
            </a:r>
            <a:r>
              <a:rPr lang="en-US" dirty="0" err="1">
                <a:solidFill>
                  <a:schemeClr val="bg1"/>
                </a:solidFill>
                <a:latin typeface="Open Sans"/>
                <a:sym typeface="+mn-ea"/>
              </a:rPr>
              <a:t>CGROUP</a:t>
            </a:r>
            <a:r>
              <a:rPr lang="zh-CN" altLang="en-US" dirty="0" err="1">
                <a:solidFill>
                  <a:schemeClr val="bg1"/>
                </a:solidFill>
                <a:latin typeface="Open Sans"/>
                <a:sym typeface="+mn-ea"/>
              </a:rPr>
              <a:t>可以管理和观察</a:t>
            </a:r>
            <a:r>
              <a:rPr lang="en-US" altLang="zh-CN" dirty="0" err="1">
                <a:solidFill>
                  <a:schemeClr val="bg1"/>
                </a:solidFill>
                <a:latin typeface="Open Sans"/>
                <a:sym typeface="+mn-ea"/>
              </a:rPr>
              <a:t>CPU</a:t>
            </a:r>
            <a:r>
              <a:rPr lang="zh-CN" altLang="en-US" dirty="0" err="1">
                <a:solidFill>
                  <a:schemeClr val="bg1"/>
                </a:solidFill>
                <a:latin typeface="Open Sans"/>
                <a:sym typeface="+mn-ea"/>
              </a:rPr>
              <a:t>、内存等等</a:t>
            </a:r>
            <a:endParaRPr lang="zh-CN" altLang="en-US" dirty="0" err="1">
              <a:solidFill>
                <a:schemeClr val="bg1"/>
              </a:solidFill>
              <a:latin typeface="Open Sans"/>
            </a:endParaRPr>
          </a:p>
          <a:p>
            <a:r>
              <a:rPr lang="en-US" altLang="zh-CN" dirty="0" err="1">
                <a:solidFill>
                  <a:schemeClr val="bg1"/>
                </a:solidFill>
                <a:latin typeface="Open Sans"/>
                <a:sym typeface="+mn-ea"/>
              </a:rPr>
              <a:t> - </a:t>
            </a:r>
            <a:r>
              <a:rPr lang="zh-CN" altLang="en-US" dirty="0" err="1">
                <a:solidFill>
                  <a:schemeClr val="bg1"/>
                </a:solidFill>
                <a:latin typeface="Open Sans"/>
                <a:sym typeface="+mn-ea"/>
              </a:rPr>
              <a:t>对于</a:t>
            </a:r>
            <a:r>
              <a:rPr lang="en-US" altLang="zh-CN" dirty="0" err="1">
                <a:solidFill>
                  <a:schemeClr val="bg1"/>
                </a:solidFill>
                <a:latin typeface="Open Sans"/>
                <a:sym typeface="+mn-ea"/>
              </a:rPr>
              <a:t>CPU</a:t>
            </a:r>
            <a:r>
              <a:rPr lang="zh-CN" altLang="en-US" dirty="0" err="1">
                <a:solidFill>
                  <a:schemeClr val="bg1"/>
                </a:solidFill>
                <a:latin typeface="Open Sans"/>
                <a:sym typeface="+mn-ea"/>
              </a:rPr>
              <a:t>来说，最重要的是</a:t>
            </a:r>
            <a:r>
              <a:rPr lang="en-US" altLang="zh-CN" dirty="0" err="1">
                <a:solidFill>
                  <a:schemeClr val="bg1"/>
                </a:solidFill>
                <a:latin typeface="Open Sans"/>
                <a:sym typeface="+mn-ea"/>
              </a:rPr>
              <a:t>CPU</a:t>
            </a:r>
            <a:r>
              <a:rPr lang="zh-CN" altLang="en-US" dirty="0" err="1">
                <a:solidFill>
                  <a:schemeClr val="bg1"/>
                </a:solidFill>
                <a:latin typeface="Open Sans"/>
                <a:sym typeface="+mn-ea"/>
              </a:rPr>
              <a:t>的使用率</a:t>
            </a:r>
            <a:endParaRPr lang="zh-CN" altLang="en-US" dirty="0" err="1">
              <a:solidFill>
                <a:schemeClr val="bg1"/>
              </a:solidFill>
              <a:latin typeface="Open Sans"/>
            </a:endParaRPr>
          </a:p>
          <a:p>
            <a:r>
              <a:rPr lang="en-US" altLang="zh-CN" dirty="0" err="1">
                <a:solidFill>
                  <a:schemeClr val="bg1"/>
                </a:solidFill>
                <a:latin typeface="Open Sans"/>
                <a:sym typeface="+mn-ea"/>
              </a:rPr>
              <a:t> - </a:t>
            </a:r>
            <a:r>
              <a:rPr lang="zh-CN" altLang="en-US" dirty="0" err="1">
                <a:solidFill>
                  <a:schemeClr val="bg1"/>
                </a:solidFill>
                <a:latin typeface="Open Sans"/>
                <a:sym typeface="+mn-ea"/>
              </a:rPr>
              <a:t>对于内存来说，可以管理</a:t>
            </a:r>
            <a:r>
              <a:rPr lang="en-US" altLang="zh-CN" dirty="0" err="1">
                <a:solidFill>
                  <a:schemeClr val="bg1"/>
                </a:solidFill>
                <a:latin typeface="Open Sans"/>
                <a:sym typeface="+mn-ea"/>
              </a:rPr>
              <a:t>/</a:t>
            </a:r>
            <a:r>
              <a:rPr lang="zh-CN" altLang="en-US" dirty="0">
                <a:solidFill>
                  <a:schemeClr val="bg1"/>
                </a:solidFill>
                <a:latin typeface="Open Sans"/>
                <a:sym typeface="+mn-ea"/>
              </a:rPr>
              <a:t>观察匿名页，文件页，</a:t>
            </a:r>
            <a:r>
              <a:rPr lang="en-US" dirty="0">
                <a:solidFill>
                  <a:schemeClr val="bg1"/>
                </a:solidFill>
                <a:latin typeface="Open Sans"/>
                <a:sym typeface="+mn-ea"/>
              </a:rPr>
              <a:t>swap</a:t>
            </a:r>
            <a:r>
              <a:rPr lang="zh-CN" altLang="en-US" dirty="0">
                <a:solidFill>
                  <a:schemeClr val="bg1"/>
                </a:solidFill>
                <a:latin typeface="Open Sans"/>
                <a:sym typeface="+mn-ea"/>
              </a:rPr>
              <a:t>，</a:t>
            </a:r>
            <a:r>
              <a:rPr lang="en-US" altLang="zh-CN" dirty="0">
                <a:solidFill>
                  <a:schemeClr val="bg1"/>
                </a:solidFill>
                <a:latin typeface="Open Sans"/>
                <a:sym typeface="+mn-ea"/>
              </a:rPr>
              <a:t>c</a:t>
            </a:r>
            <a:r>
              <a:rPr lang="en-US" dirty="0" err="1">
                <a:solidFill>
                  <a:schemeClr val="bg1"/>
                </a:solidFill>
                <a:latin typeface="Open Sans"/>
                <a:sym typeface="+mn-ea"/>
              </a:rPr>
              <a:t>ache，</a:t>
            </a:r>
            <a:r>
              <a:rPr lang="zh-CN" altLang="en-US" dirty="0" err="1">
                <a:solidFill>
                  <a:schemeClr val="bg1"/>
                </a:solidFill>
                <a:latin typeface="Open Sans"/>
                <a:sym typeface="+mn-ea"/>
              </a:rPr>
              <a:t>共享</a:t>
            </a:r>
            <a:r>
              <a:rPr lang="zh-CN" altLang="en-US" dirty="0" err="1">
                <a:solidFill>
                  <a:schemeClr val="bg1"/>
                </a:solidFill>
                <a:latin typeface="Open Sans"/>
                <a:sym typeface="+mn-ea"/>
              </a:rPr>
              <a:t>内存，</a:t>
            </a:r>
            <a:r>
              <a:rPr lang="en-US" dirty="0" err="1">
                <a:solidFill>
                  <a:schemeClr val="bg1"/>
                </a:solidFill>
                <a:latin typeface="Open Sans"/>
                <a:sym typeface="+mn-ea"/>
              </a:rPr>
              <a:t>kernel</a:t>
            </a:r>
            <a:r>
              <a:rPr lang="en-US" dirty="0">
                <a:solidFill>
                  <a:schemeClr val="bg1"/>
                </a:solidFill>
                <a:latin typeface="Open Sans"/>
                <a:sym typeface="+mn-ea"/>
              </a:rPr>
              <a:t> mem</a:t>
            </a:r>
            <a:r>
              <a:rPr lang="zh-CN" altLang="en-US" dirty="0">
                <a:solidFill>
                  <a:schemeClr val="bg1"/>
                </a:solidFill>
                <a:latin typeface="Open Sans"/>
                <a:sym typeface="+mn-ea"/>
              </a:rPr>
              <a:t>的使用情况。每个</a:t>
            </a:r>
            <a:r>
              <a:rPr lang="en-US" dirty="0" err="1">
                <a:solidFill>
                  <a:schemeClr val="bg1"/>
                </a:solidFill>
                <a:latin typeface="Open Sans"/>
                <a:sym typeface="+mn-ea"/>
              </a:rPr>
              <a:t>memcg</a:t>
            </a:r>
            <a:r>
              <a:rPr lang="zh-CN" altLang="en-US" dirty="0">
                <a:solidFill>
                  <a:schemeClr val="bg1"/>
                </a:solidFill>
                <a:latin typeface="Open Sans"/>
                <a:sym typeface="+mn-ea"/>
              </a:rPr>
              <a:t>都有独立的</a:t>
            </a:r>
            <a:r>
              <a:rPr lang="en-US" dirty="0">
                <a:solidFill>
                  <a:schemeClr val="bg1"/>
                </a:solidFill>
                <a:latin typeface="Open Sans"/>
                <a:sym typeface="+mn-ea"/>
              </a:rPr>
              <a:t>LRU</a:t>
            </a:r>
            <a:r>
              <a:rPr lang="zh-CN" altLang="en-US" dirty="0">
                <a:solidFill>
                  <a:schemeClr val="bg1"/>
                </a:solidFill>
                <a:latin typeface="Open Sans"/>
                <a:sym typeface="+mn-ea"/>
              </a:rPr>
              <a:t>，</a:t>
            </a:r>
            <a:r>
              <a:rPr lang="en-US" altLang="zh-CN" dirty="0">
                <a:solidFill>
                  <a:schemeClr val="bg1"/>
                </a:solidFill>
                <a:latin typeface="Open Sans"/>
                <a:sym typeface="+mn-ea"/>
              </a:rPr>
              <a:t>CG</a:t>
            </a:r>
            <a:r>
              <a:rPr lang="zh-CN" altLang="en-US" dirty="0">
                <a:solidFill>
                  <a:schemeClr val="bg1"/>
                </a:solidFill>
                <a:latin typeface="Open Sans"/>
                <a:sym typeface="+mn-ea"/>
              </a:rPr>
              <a:t>内回收内存时相互不影响</a:t>
            </a:r>
            <a:r>
              <a:rPr lang="en-US" dirty="0">
                <a:solidFill>
                  <a:schemeClr val="bg1"/>
                </a:solidFill>
                <a:latin typeface="Open Sans"/>
                <a:sym typeface="+mn-ea"/>
              </a:rPr>
              <a:t>。</a:t>
            </a:r>
            <a:endParaRPr lang="en-US" dirty="0">
              <a:solidFill>
                <a:schemeClr val="bg1"/>
              </a:solidFill>
              <a:latin typeface="Open Sans"/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670558" y="1774954"/>
            <a:ext cx="10849927" cy="2861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>
              <a:solidFill>
                <a:schemeClr val="bg1"/>
              </a:solidFill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zh-CN" altLang="en-US" dirty="0">
                <a:solidFill>
                  <a:schemeClr val="bg1"/>
                </a:solidFill>
              </a:rPr>
              <a:t>内存必须通过复用和回收来管理，一个任务的工作内存是真实占用的不可被其他任务使用的；</a:t>
            </a:r>
            <a:r>
              <a:rPr lang="en-US" dirty="0">
                <a:solidFill>
                  <a:schemeClr val="bg1"/>
                </a:solidFill>
              </a:rPr>
              <a:t>CPU</a:t>
            </a:r>
            <a:r>
              <a:rPr lang="zh-CN" altLang="en-US" dirty="0">
                <a:solidFill>
                  <a:schemeClr val="bg1"/>
                </a:solidFill>
              </a:rPr>
              <a:t>通过时间分配来管理，其他任务或</a:t>
            </a:r>
            <a:r>
              <a:rPr lang="en-US" dirty="0">
                <a:solidFill>
                  <a:schemeClr val="bg1"/>
                </a:solidFill>
              </a:rPr>
              <a:t>cg</a:t>
            </a:r>
            <a:r>
              <a:rPr lang="zh-CN" altLang="en-US" dirty="0">
                <a:solidFill>
                  <a:schemeClr val="bg1"/>
                </a:solidFill>
              </a:rPr>
              <a:t>组可以用到</a:t>
            </a:r>
            <a:endParaRPr lang="zh-CN" altLang="en-US" dirty="0">
              <a:solidFill>
                <a:schemeClr val="bg1"/>
              </a:solidFill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zh-CN" altLang="en-US" dirty="0">
                <a:solidFill>
                  <a:schemeClr val="bg1"/>
                </a:solidFill>
              </a:rPr>
              <a:t>内存需要即时可用，</a:t>
            </a:r>
            <a:r>
              <a:rPr lang="en-US" dirty="0">
                <a:solidFill>
                  <a:schemeClr val="bg1"/>
                </a:solidFill>
              </a:rPr>
              <a:t>CPU</a:t>
            </a:r>
            <a:r>
              <a:rPr lang="zh-CN" altLang="en-US" dirty="0">
                <a:solidFill>
                  <a:schemeClr val="bg1"/>
                </a:solidFill>
              </a:rPr>
              <a:t>通过时间片轮转，时间可以分散</a:t>
            </a:r>
            <a:endParaRPr lang="zh-CN" altLang="en-US" dirty="0">
              <a:solidFill>
                <a:schemeClr val="bg1"/>
              </a:solidFill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CPU control</a:t>
            </a:r>
            <a:r>
              <a:rPr lang="zh-CN" altLang="en-US" dirty="0">
                <a:solidFill>
                  <a:schemeClr val="bg1"/>
                </a:solidFill>
              </a:rPr>
              <a:t>的核心是时间分配；</a:t>
            </a:r>
            <a:r>
              <a:rPr lang="en-US" dirty="0">
                <a:solidFill>
                  <a:schemeClr val="bg1"/>
                </a:solidFill>
              </a:rPr>
              <a:t>Memory Control</a:t>
            </a:r>
            <a:r>
              <a:rPr lang="zh-CN" altLang="en-US" dirty="0">
                <a:solidFill>
                  <a:schemeClr val="bg1"/>
                </a:solidFill>
              </a:rPr>
              <a:t>的核心是</a:t>
            </a:r>
            <a:r>
              <a:rPr lang="en-US" dirty="0">
                <a:solidFill>
                  <a:schemeClr val="bg1"/>
                </a:solidFill>
              </a:rPr>
              <a:t>page</a:t>
            </a:r>
            <a:r>
              <a:rPr lang="zh-CN" altLang="en-US" dirty="0">
                <a:solidFill>
                  <a:schemeClr val="bg1"/>
                </a:solidFill>
              </a:rPr>
              <a:t>计数</a:t>
            </a:r>
            <a:endParaRPr lang="zh-CN" altLang="en-US" dirty="0">
              <a:solidFill>
                <a:schemeClr val="bg1"/>
              </a:solidFill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en-US" altLang="zh-CN" dirty="0">
                <a:solidFill>
                  <a:schemeClr val="bg1"/>
                </a:solidFill>
                <a:latin typeface="Open Sans"/>
                <a:sym typeface="+mn-ea"/>
              </a:rPr>
              <a:t>1</a:t>
            </a:r>
            <a:r>
              <a:rPr lang="zh-CN" altLang="en-US" dirty="0">
                <a:solidFill>
                  <a:schemeClr val="bg1"/>
                </a:solidFill>
                <a:latin typeface="Open Sans"/>
                <a:sym typeface="+mn-ea"/>
              </a:rPr>
              <a:t>个任务可以申请很多</a:t>
            </a:r>
            <a:r>
              <a:rPr lang="en-US" dirty="0" err="1">
                <a:solidFill>
                  <a:schemeClr val="bg1"/>
                </a:solidFill>
                <a:latin typeface="Open Sans"/>
                <a:sym typeface="+mn-ea"/>
              </a:rPr>
              <a:t>cpu</a:t>
            </a:r>
            <a:r>
              <a:rPr lang="zh-CN" altLang="en-US" dirty="0">
                <a:solidFill>
                  <a:schemeClr val="bg1"/>
                </a:solidFill>
                <a:latin typeface="Open Sans"/>
                <a:sym typeface="+mn-ea"/>
              </a:rPr>
              <a:t>工作，达到</a:t>
            </a:r>
            <a:r>
              <a:rPr lang="en-US" dirty="0">
                <a:solidFill>
                  <a:schemeClr val="bg1"/>
                </a:solidFill>
                <a:latin typeface="Open Sans"/>
                <a:sym typeface="+mn-ea"/>
              </a:rPr>
              <a:t>cg </a:t>
            </a:r>
            <a:r>
              <a:rPr lang="en-US" dirty="0" err="1">
                <a:solidFill>
                  <a:schemeClr val="bg1"/>
                </a:solidFill>
                <a:latin typeface="Open Sans"/>
                <a:sym typeface="+mn-ea"/>
              </a:rPr>
              <a:t>cpu</a:t>
            </a:r>
            <a:r>
              <a:rPr lang="zh-CN" altLang="en-US" dirty="0">
                <a:solidFill>
                  <a:schemeClr val="bg1"/>
                </a:solidFill>
                <a:latin typeface="Open Sans"/>
                <a:sym typeface="+mn-ea"/>
              </a:rPr>
              <a:t>上限可延长执行时间来处理，但是这个任务占用的内存是工作内存，一个任务使用相同的物理内存，</a:t>
            </a:r>
            <a:r>
              <a:rPr lang="zh-CN" altLang="en-US" dirty="0">
                <a:solidFill>
                  <a:schemeClr val="bg1"/>
                </a:solidFill>
                <a:latin typeface="Open Sans"/>
                <a:sym typeface="+mn-ea"/>
              </a:rPr>
              <a:t>达到上限只有</a:t>
            </a:r>
            <a:r>
              <a:rPr lang="zh-CN" altLang="en-US" dirty="0">
                <a:solidFill>
                  <a:schemeClr val="bg1"/>
                </a:solidFill>
                <a:latin typeface="Open Sans"/>
                <a:sym typeface="+mn-ea"/>
              </a:rPr>
              <a:t>回收。</a:t>
            </a:r>
            <a:endParaRPr lang="zh-CN" altLang="en-US" b="0" i="0" u="none" strike="noStrike" dirty="0">
              <a:solidFill>
                <a:schemeClr val="bg1"/>
              </a:solidFill>
              <a:effectLst/>
              <a:latin typeface="Open Sans"/>
            </a:endParaRPr>
          </a:p>
          <a:p>
            <a:pPr indent="0">
              <a:buFont typeface="Arial" panose="020B0604020202090204" pitchFamily="34" charset="0"/>
              <a:buNone/>
            </a:pPr>
            <a:endParaRPr lang="zh-CN" altLang="en-US" dirty="0">
              <a:solidFill>
                <a:schemeClr val="bg1"/>
              </a:solidFill>
            </a:endParaRPr>
          </a:p>
          <a:p>
            <a:br>
              <a:rPr lang="zh-CN" altLang="en-US" dirty="0">
                <a:solidFill>
                  <a:schemeClr val="bg1"/>
                </a:solidFill>
              </a:rPr>
            </a:b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70558" y="4827959"/>
            <a:ext cx="10849927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Open Sans"/>
              </a:rPr>
              <a:t>另外，</a:t>
            </a:r>
            <a:r>
              <a:rPr lang="en-US" dirty="0">
                <a:solidFill>
                  <a:schemeClr val="bg1"/>
                </a:solidFill>
                <a:latin typeface="Open Sans"/>
              </a:rPr>
              <a:t>Memory Control</a:t>
            </a:r>
            <a:r>
              <a:rPr lang="zh-CN" altLang="en-US" dirty="0">
                <a:solidFill>
                  <a:schemeClr val="bg1"/>
                </a:solidFill>
                <a:latin typeface="Open Sans"/>
              </a:rPr>
              <a:t>的核心是</a:t>
            </a:r>
            <a:r>
              <a:rPr lang="en-US" dirty="0">
                <a:solidFill>
                  <a:schemeClr val="bg1"/>
                </a:solidFill>
                <a:latin typeface="Open Sans"/>
              </a:rPr>
              <a:t>page</a:t>
            </a:r>
            <a:r>
              <a:rPr lang="zh-CN" altLang="en-US" dirty="0">
                <a:solidFill>
                  <a:schemeClr val="bg1"/>
                </a:solidFill>
                <a:latin typeface="Open Sans"/>
              </a:rPr>
              <a:t>计数，也就是说不是物理</a:t>
            </a:r>
            <a:r>
              <a:rPr lang="en-US" dirty="0">
                <a:solidFill>
                  <a:schemeClr val="bg1"/>
                </a:solidFill>
                <a:latin typeface="Open Sans"/>
              </a:rPr>
              <a:t>page</a:t>
            </a:r>
            <a:r>
              <a:rPr lang="zh-CN" altLang="en-US" dirty="0">
                <a:solidFill>
                  <a:schemeClr val="bg1"/>
                </a:solidFill>
                <a:latin typeface="Open Sans"/>
              </a:rPr>
              <a:t>分这些就是这些，这次申请的内存使用完后释放回</a:t>
            </a:r>
            <a:r>
              <a:rPr lang="en-US" dirty="0">
                <a:solidFill>
                  <a:schemeClr val="bg1"/>
                </a:solidFill>
                <a:latin typeface="Open Sans"/>
              </a:rPr>
              <a:t>free，</a:t>
            </a:r>
            <a:r>
              <a:rPr lang="zh-CN" altLang="en-US" dirty="0">
                <a:solidFill>
                  <a:schemeClr val="bg1"/>
                </a:solidFill>
                <a:latin typeface="Open Sans"/>
              </a:rPr>
              <a:t>下次申请基本上不会是同一个物理</a:t>
            </a:r>
            <a:r>
              <a:rPr lang="en-US" dirty="0">
                <a:solidFill>
                  <a:schemeClr val="bg1"/>
                </a:solidFill>
                <a:latin typeface="Open Sans"/>
              </a:rPr>
              <a:t>page</a:t>
            </a:r>
            <a:endParaRPr lang="en-US" dirty="0">
              <a:solidFill>
                <a:schemeClr val="bg1"/>
              </a:solidFill>
              <a:latin typeface="Open Sans"/>
            </a:endParaRPr>
          </a:p>
        </p:txBody>
      </p:sp>
      <p:pic>
        <p:nvPicPr>
          <p:cNvPr id="8" name="图片 4" descr="未标题-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287655"/>
            <a:ext cx="1737995" cy="74676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9228455" y="716915"/>
            <a:ext cx="294386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120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开源生态大会暨</a:t>
            </a:r>
            <a:r>
              <a:rPr lang="en-US" altLang="zh-CN" sz="120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PostgreSQL</a:t>
            </a:r>
            <a:r>
              <a:rPr lang="zh-CN" altLang="en-US" sz="120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高峰论坛</a:t>
            </a:r>
            <a:endParaRPr lang="zh-CN" altLang="en-US" sz="1200" b="1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9207500" y="348615"/>
            <a:ext cx="2863215" cy="3835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9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以开源之道</a:t>
            </a:r>
            <a:r>
              <a:rPr lang="en-US" altLang="zh-CN" sz="19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·</a:t>
            </a:r>
            <a:r>
              <a:rPr lang="zh-CN" altLang="en-US" sz="19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见致远之志</a:t>
            </a:r>
            <a:endParaRPr lang="zh-CN" altLang="en-US" sz="1900">
              <a:solidFill>
                <a:schemeClr val="bg1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sp>
        <p:nvSpPr>
          <p:cNvPr id="40" name="文本框 4"/>
          <p:cNvSpPr txBox="1"/>
          <p:nvPr/>
        </p:nvSpPr>
        <p:spPr>
          <a:xfrm>
            <a:off x="447040" y="1184275"/>
            <a:ext cx="94710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 dirty="0">
                <a:solidFill>
                  <a:schemeClr val="bg1"/>
                </a:solidFill>
                <a:sym typeface="+mn-ea"/>
              </a:rPr>
              <a:t>CGROUP</a:t>
            </a:r>
            <a:r>
              <a:rPr lang="zh-CN" altLang="en-US" sz="2000" dirty="0">
                <a:solidFill>
                  <a:schemeClr val="bg1"/>
                </a:solidFill>
                <a:sym typeface="+mn-ea"/>
              </a:rPr>
              <a:t>管理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cpu</a:t>
            </a:r>
            <a:r>
              <a:rPr lang="zh-CN" altLang="en-US" sz="2000" dirty="0">
                <a:solidFill>
                  <a:schemeClr val="bg1"/>
                </a:solidFill>
                <a:sym typeface="+mn-ea"/>
              </a:rPr>
              <a:t>和内存资源的</a:t>
            </a:r>
            <a:r>
              <a:rPr lang="zh-CN" altLang="en-US" sz="2000" dirty="0">
                <a:solidFill>
                  <a:schemeClr val="bg1"/>
                </a:solidFill>
                <a:sym typeface="+mn-ea"/>
              </a:rPr>
              <a:t>区别</a:t>
            </a:r>
            <a:endParaRPr lang="zh-CN" altLang="en-US" sz="2000" dirty="0">
              <a:solidFill>
                <a:schemeClr val="bg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5" name="图片 4" descr="未标题-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287655"/>
            <a:ext cx="1737995" cy="74676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9228455" y="716915"/>
            <a:ext cx="294386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120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开源生态大会暨</a:t>
            </a:r>
            <a:r>
              <a:rPr lang="en-US" altLang="zh-CN" sz="120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PostgreSQL</a:t>
            </a:r>
            <a:r>
              <a:rPr lang="zh-CN" altLang="en-US" sz="120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高峰论坛</a:t>
            </a:r>
            <a:endParaRPr lang="zh-CN" altLang="en-US" sz="1200" b="1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9207500" y="348615"/>
            <a:ext cx="2863215" cy="3835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9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以开源之道</a:t>
            </a:r>
            <a:r>
              <a:rPr lang="en-US" altLang="zh-CN" sz="19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·</a:t>
            </a:r>
            <a:r>
              <a:rPr lang="zh-CN" altLang="en-US" sz="19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见致远之志</a:t>
            </a:r>
            <a:endParaRPr lang="zh-CN" altLang="en-US" sz="1900">
              <a:solidFill>
                <a:schemeClr val="bg1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sp>
        <p:nvSpPr>
          <p:cNvPr id="8" name="文本框 4"/>
          <p:cNvSpPr txBox="1"/>
          <p:nvPr/>
        </p:nvSpPr>
        <p:spPr>
          <a:xfrm>
            <a:off x="447040" y="1184275"/>
            <a:ext cx="94710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云服务器上</a:t>
            </a:r>
            <a:r>
              <a:rPr lang="zh-CN" altLang="en-US" sz="200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的共享主机</a:t>
            </a:r>
            <a:endParaRPr lang="en-US" altLang="zh-CN" sz="2000" b="1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sp>
        <p:nvSpPr>
          <p:cNvPr id="9" name="Rectangles 8"/>
          <p:cNvSpPr/>
          <p:nvPr/>
        </p:nvSpPr>
        <p:spPr>
          <a:xfrm>
            <a:off x="987425" y="2877820"/>
            <a:ext cx="3853815" cy="370459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1" name="Rectangles 10"/>
          <p:cNvSpPr/>
          <p:nvPr/>
        </p:nvSpPr>
        <p:spPr>
          <a:xfrm>
            <a:off x="1281430" y="5156835"/>
            <a:ext cx="3268980" cy="128905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CG1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Rectangles 11"/>
          <p:cNvSpPr/>
          <p:nvPr/>
        </p:nvSpPr>
        <p:spPr>
          <a:xfrm>
            <a:off x="1282065" y="4594860"/>
            <a:ext cx="3268980" cy="56261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CG2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Rectangles 14"/>
          <p:cNvSpPr/>
          <p:nvPr/>
        </p:nvSpPr>
        <p:spPr>
          <a:xfrm>
            <a:off x="1282065" y="4032250"/>
            <a:ext cx="3268980" cy="56261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CG3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Rectangles 16"/>
          <p:cNvSpPr/>
          <p:nvPr/>
        </p:nvSpPr>
        <p:spPr>
          <a:xfrm>
            <a:off x="1282065" y="3476625"/>
            <a:ext cx="3268345" cy="27559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  <a:sym typeface="+mn-ea"/>
              </a:rPr>
              <a:t>CG5</a:t>
            </a:r>
            <a:endParaRPr lang="en-US"/>
          </a:p>
        </p:txBody>
      </p:sp>
      <p:sp>
        <p:nvSpPr>
          <p:cNvPr id="18" name="Rectangles 17"/>
          <p:cNvSpPr/>
          <p:nvPr/>
        </p:nvSpPr>
        <p:spPr>
          <a:xfrm>
            <a:off x="1282065" y="3757930"/>
            <a:ext cx="3268345" cy="27559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  <a:sym typeface="+mn-ea"/>
              </a:rPr>
              <a:t>CG4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21" name="Rectangles 20"/>
          <p:cNvSpPr/>
          <p:nvPr/>
        </p:nvSpPr>
        <p:spPr>
          <a:xfrm>
            <a:off x="6655435" y="2894965"/>
            <a:ext cx="3853815" cy="370459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2" name="Rectangles 21"/>
          <p:cNvSpPr/>
          <p:nvPr/>
        </p:nvSpPr>
        <p:spPr>
          <a:xfrm>
            <a:off x="6931025" y="5200015"/>
            <a:ext cx="3268980" cy="126301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  <a:sym typeface="+mn-ea"/>
              </a:rPr>
              <a:t>CG1</a:t>
            </a:r>
            <a:endParaRPr lang="en-US"/>
          </a:p>
        </p:txBody>
      </p:sp>
      <p:sp>
        <p:nvSpPr>
          <p:cNvPr id="23" name="Rectangles 22"/>
          <p:cNvSpPr/>
          <p:nvPr/>
        </p:nvSpPr>
        <p:spPr>
          <a:xfrm>
            <a:off x="6930390" y="4637405"/>
            <a:ext cx="3268980" cy="56261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  <a:sym typeface="+mn-ea"/>
              </a:rPr>
              <a:t>CG2</a:t>
            </a:r>
            <a:endParaRPr lang="en-US"/>
          </a:p>
        </p:txBody>
      </p:sp>
      <p:sp>
        <p:nvSpPr>
          <p:cNvPr id="24" name="Rectangles 23"/>
          <p:cNvSpPr/>
          <p:nvPr/>
        </p:nvSpPr>
        <p:spPr>
          <a:xfrm>
            <a:off x="6931025" y="4074795"/>
            <a:ext cx="3268980" cy="56261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  <a:sym typeface="+mn-ea"/>
              </a:rPr>
              <a:t>CG3</a:t>
            </a:r>
            <a:endParaRPr lang="en-US"/>
          </a:p>
        </p:txBody>
      </p:sp>
      <p:sp>
        <p:nvSpPr>
          <p:cNvPr id="26" name="Rectangles 25"/>
          <p:cNvSpPr/>
          <p:nvPr/>
        </p:nvSpPr>
        <p:spPr>
          <a:xfrm>
            <a:off x="6931025" y="3519170"/>
            <a:ext cx="3268345" cy="27559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  <a:sym typeface="+mn-ea"/>
              </a:rPr>
              <a:t>CG5</a:t>
            </a:r>
            <a:endParaRPr lang="en-US"/>
          </a:p>
        </p:txBody>
      </p:sp>
      <p:sp>
        <p:nvSpPr>
          <p:cNvPr id="27" name="Rectangles 26"/>
          <p:cNvSpPr/>
          <p:nvPr/>
        </p:nvSpPr>
        <p:spPr>
          <a:xfrm>
            <a:off x="6930390" y="3790950"/>
            <a:ext cx="3268345" cy="27559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  <a:sym typeface="+mn-ea"/>
              </a:rPr>
              <a:t>CG4</a:t>
            </a:r>
            <a:endParaRPr lang="en-US"/>
          </a:p>
        </p:txBody>
      </p:sp>
      <p:sp>
        <p:nvSpPr>
          <p:cNvPr id="28" name="Rectangles 27"/>
          <p:cNvSpPr/>
          <p:nvPr/>
        </p:nvSpPr>
        <p:spPr>
          <a:xfrm>
            <a:off x="6930390" y="2949575"/>
            <a:ext cx="3268980" cy="56261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  <a:sym typeface="+mn-ea"/>
              </a:rPr>
              <a:t>CG6</a:t>
            </a:r>
            <a:endParaRPr lang="en-US"/>
          </a:p>
        </p:txBody>
      </p:sp>
      <p:sp>
        <p:nvSpPr>
          <p:cNvPr id="29" name="Rectangles 28"/>
          <p:cNvSpPr/>
          <p:nvPr/>
        </p:nvSpPr>
        <p:spPr>
          <a:xfrm>
            <a:off x="6931025" y="2383155"/>
            <a:ext cx="3268980" cy="56261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  <a:sym typeface="+mn-ea"/>
              </a:rPr>
              <a:t>CG7</a:t>
            </a:r>
            <a:endParaRPr lang="en-US"/>
          </a:p>
        </p:txBody>
      </p:sp>
      <p:sp>
        <p:nvSpPr>
          <p:cNvPr id="30" name="文本框 4"/>
          <p:cNvSpPr txBox="1"/>
          <p:nvPr/>
        </p:nvSpPr>
        <p:spPr>
          <a:xfrm>
            <a:off x="2261870" y="2112645"/>
            <a:ext cx="28632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不超卖</a:t>
            </a:r>
            <a:endParaRPr lang="zh-CN" altLang="en-US" sz="2000" b="1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sp>
        <p:nvSpPr>
          <p:cNvPr id="31" name="文本框 4"/>
          <p:cNvSpPr txBox="1"/>
          <p:nvPr/>
        </p:nvSpPr>
        <p:spPr>
          <a:xfrm>
            <a:off x="8053070" y="1445260"/>
            <a:ext cx="28632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超卖</a:t>
            </a:r>
            <a:endParaRPr lang="zh-CN" altLang="en-US" sz="2000" b="1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sp>
        <p:nvSpPr>
          <p:cNvPr id="32" name="Rectangles 31"/>
          <p:cNvSpPr/>
          <p:nvPr/>
        </p:nvSpPr>
        <p:spPr>
          <a:xfrm>
            <a:off x="1282065" y="3195320"/>
            <a:ext cx="3268345" cy="27559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  <a:sym typeface="+mn-ea"/>
              </a:rPr>
              <a:t>CG6</a:t>
            </a:r>
            <a:endParaRPr lang="en-US"/>
          </a:p>
        </p:txBody>
      </p:sp>
    </p:spTree>
    <p:custDataLst>
      <p:tags r:id="rId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5" name="图片 4" descr="未标题-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287655"/>
            <a:ext cx="1737995" cy="74676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9228455" y="716915"/>
            <a:ext cx="294386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120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开源生态大会暨</a:t>
            </a:r>
            <a:r>
              <a:rPr lang="en-US" altLang="zh-CN" sz="120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PostgreSQL</a:t>
            </a:r>
            <a:r>
              <a:rPr lang="zh-CN" altLang="en-US" sz="120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高峰论坛</a:t>
            </a:r>
            <a:endParaRPr lang="zh-CN" altLang="en-US" sz="1200" b="1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9207500" y="348615"/>
            <a:ext cx="2863215" cy="3835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9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以开源之道</a:t>
            </a:r>
            <a:r>
              <a:rPr lang="en-US" altLang="zh-CN" sz="19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·</a:t>
            </a:r>
            <a:r>
              <a:rPr lang="zh-CN" altLang="en-US" sz="19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见致远之志</a:t>
            </a:r>
            <a:endParaRPr lang="zh-CN" altLang="en-US" sz="1900">
              <a:solidFill>
                <a:schemeClr val="bg1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sp>
        <p:nvSpPr>
          <p:cNvPr id="8" name="文本框 4"/>
          <p:cNvSpPr txBox="1"/>
          <p:nvPr/>
        </p:nvSpPr>
        <p:spPr>
          <a:xfrm>
            <a:off x="447040" y="1184275"/>
            <a:ext cx="94710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PG</a:t>
            </a:r>
            <a:r>
              <a:rPr lang="zh-CN" altLang="en-US" sz="200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在</a:t>
            </a:r>
            <a:r>
              <a:rPr lang="en-US" altLang="zh-CN" sz="200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OS</a:t>
            </a:r>
            <a:r>
              <a:rPr lang="zh-CN" altLang="en-US" sz="200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上</a:t>
            </a:r>
            <a:r>
              <a:rPr lang="zh-CN" altLang="en-US" sz="200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的内存</a:t>
            </a:r>
            <a:r>
              <a:rPr lang="zh-CN" altLang="en-US" sz="200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结构</a:t>
            </a:r>
            <a:endParaRPr lang="zh-CN" altLang="en-US" sz="2000" b="1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sp>
        <p:nvSpPr>
          <p:cNvPr id="64" name="Rectangles 63"/>
          <p:cNvSpPr/>
          <p:nvPr/>
        </p:nvSpPr>
        <p:spPr>
          <a:xfrm>
            <a:off x="4244340" y="3745865"/>
            <a:ext cx="3268345" cy="582295"/>
          </a:xfrm>
          <a:prstGeom prst="rect">
            <a:avLst/>
          </a:prstGeom>
          <a:solidFill>
            <a:schemeClr val="accent3">
              <a:lumMod val="50000"/>
            </a:schemeClr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</a:rPr>
              <a:t>私有</a:t>
            </a:r>
            <a:r>
              <a:rPr lang="zh-CN" altLang="en-US" sz="1400">
                <a:solidFill>
                  <a:schemeClr val="tx1"/>
                </a:solidFill>
              </a:rPr>
              <a:t>内存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68" name="Rectangles 67"/>
          <p:cNvSpPr/>
          <p:nvPr/>
        </p:nvSpPr>
        <p:spPr>
          <a:xfrm>
            <a:off x="4244340" y="2688590"/>
            <a:ext cx="3268345" cy="105727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pagecache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Rectangles 1"/>
          <p:cNvSpPr/>
          <p:nvPr/>
        </p:nvSpPr>
        <p:spPr>
          <a:xfrm>
            <a:off x="4244340" y="4328160"/>
            <a:ext cx="3268345" cy="1057910"/>
          </a:xfrm>
          <a:prstGeom prst="rect">
            <a:avLst/>
          </a:prstGeom>
          <a:solidFill>
            <a:schemeClr val="accent3">
              <a:lumMod val="50000"/>
            </a:schemeClr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</a:rPr>
              <a:t>共享</a:t>
            </a:r>
            <a:r>
              <a:rPr lang="zh-CN" altLang="en-US" sz="1400">
                <a:solidFill>
                  <a:schemeClr val="tx1"/>
                </a:solidFill>
              </a:rPr>
              <a:t>内存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3" name="Right Brace 2"/>
          <p:cNvSpPr/>
          <p:nvPr/>
        </p:nvSpPr>
        <p:spPr>
          <a:xfrm>
            <a:off x="7665085" y="3794760"/>
            <a:ext cx="218440" cy="1492250"/>
          </a:xfrm>
          <a:prstGeom prst="rightBrace">
            <a:avLst/>
          </a:prstGeom>
          <a:ln w="28575" cmpd="sng">
            <a:solidFill>
              <a:schemeClr val="bg1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8128000" y="4328160"/>
            <a:ext cx="19672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solidFill>
                  <a:schemeClr val="bg1"/>
                </a:solidFill>
              </a:rPr>
              <a:t>RSS</a:t>
            </a:r>
            <a:r>
              <a:rPr lang="zh-CN" altLang="en-US">
                <a:solidFill>
                  <a:schemeClr val="bg1"/>
                </a:solidFill>
              </a:rPr>
              <a:t>常驻内存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6" name="Left Brace 5"/>
          <p:cNvSpPr/>
          <p:nvPr/>
        </p:nvSpPr>
        <p:spPr>
          <a:xfrm>
            <a:off x="3522980" y="2675890"/>
            <a:ext cx="501650" cy="2559685"/>
          </a:xfrm>
          <a:prstGeom prst="leftBrace">
            <a:avLst/>
          </a:prstGeom>
          <a:ln w="28575" cmpd="sng">
            <a:solidFill>
              <a:schemeClr val="bg1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" name="Text Box 6"/>
          <p:cNvSpPr txBox="1"/>
          <p:nvPr/>
        </p:nvSpPr>
        <p:spPr>
          <a:xfrm>
            <a:off x="2417445" y="374586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solidFill>
                  <a:schemeClr val="bg1"/>
                </a:solidFill>
              </a:rPr>
              <a:t>CGROUP</a:t>
            </a:r>
            <a:endParaRPr lang="en-US">
              <a:solidFill>
                <a:schemeClr val="bg1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39" name="Rectangles 38"/>
          <p:cNvSpPr/>
          <p:nvPr/>
        </p:nvSpPr>
        <p:spPr>
          <a:xfrm>
            <a:off x="747395" y="2649220"/>
            <a:ext cx="3853815" cy="370459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pic>
        <p:nvPicPr>
          <p:cNvPr id="5" name="图片 4" descr="未标题-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287655"/>
            <a:ext cx="1737995" cy="74676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9228455" y="716915"/>
            <a:ext cx="294386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120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开源生态大会暨</a:t>
            </a:r>
            <a:r>
              <a:rPr lang="en-US" altLang="zh-CN" sz="120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PostgreSQL</a:t>
            </a:r>
            <a:r>
              <a:rPr lang="zh-CN" altLang="en-US" sz="120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高峰论坛</a:t>
            </a:r>
            <a:endParaRPr lang="zh-CN" altLang="en-US" sz="1200" b="1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9207500" y="348615"/>
            <a:ext cx="2863215" cy="3835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9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以开源之道</a:t>
            </a:r>
            <a:r>
              <a:rPr lang="en-US" altLang="zh-CN" sz="19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·</a:t>
            </a:r>
            <a:r>
              <a:rPr lang="zh-CN" altLang="en-US" sz="19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见致远之志</a:t>
            </a:r>
            <a:endParaRPr lang="zh-CN" altLang="en-US" sz="1900">
              <a:solidFill>
                <a:schemeClr val="bg1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sp>
        <p:nvSpPr>
          <p:cNvPr id="3" name="Rectangles 2"/>
          <p:cNvSpPr/>
          <p:nvPr/>
        </p:nvSpPr>
        <p:spPr>
          <a:xfrm>
            <a:off x="1041400" y="2274570"/>
            <a:ext cx="3268345" cy="14732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400">
                <a:solidFill>
                  <a:schemeClr val="tx1"/>
                </a:solidFill>
              </a:rPr>
              <a:t>RSS7</a:t>
            </a: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6" name="Rectangles 5"/>
          <p:cNvSpPr/>
          <p:nvPr/>
        </p:nvSpPr>
        <p:spPr>
          <a:xfrm>
            <a:off x="1041400" y="2435225"/>
            <a:ext cx="3268345" cy="41465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cache7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Rectangles 6"/>
          <p:cNvSpPr/>
          <p:nvPr/>
        </p:nvSpPr>
        <p:spPr>
          <a:xfrm>
            <a:off x="1041400" y="4029075"/>
            <a:ext cx="3268345" cy="14732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400">
                <a:solidFill>
                  <a:schemeClr val="tx1"/>
                </a:solidFill>
              </a:rPr>
              <a:t>RSS3</a:t>
            </a: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10" name="Rectangles 9"/>
          <p:cNvSpPr/>
          <p:nvPr/>
        </p:nvSpPr>
        <p:spPr>
          <a:xfrm>
            <a:off x="1041400" y="4189730"/>
            <a:ext cx="3268345" cy="41465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cache3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Rectangles 15"/>
          <p:cNvSpPr/>
          <p:nvPr/>
        </p:nvSpPr>
        <p:spPr>
          <a:xfrm>
            <a:off x="1042035" y="4613910"/>
            <a:ext cx="3268345" cy="14732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400">
                <a:solidFill>
                  <a:schemeClr val="tx1"/>
                </a:solidFill>
              </a:rPr>
              <a:t>RSS2</a:t>
            </a: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19" name="Rectangles 18"/>
          <p:cNvSpPr/>
          <p:nvPr/>
        </p:nvSpPr>
        <p:spPr>
          <a:xfrm>
            <a:off x="1042035" y="4757420"/>
            <a:ext cx="3268345" cy="41465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cache2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20" name="Rectangles 19"/>
          <p:cNvSpPr/>
          <p:nvPr/>
        </p:nvSpPr>
        <p:spPr>
          <a:xfrm>
            <a:off x="1042035" y="5168900"/>
            <a:ext cx="3268345" cy="227965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400">
                <a:solidFill>
                  <a:schemeClr val="tx1"/>
                </a:solidFill>
              </a:rPr>
              <a:t>RSS1</a:t>
            </a: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25" name="Rectangles 24"/>
          <p:cNvSpPr/>
          <p:nvPr/>
        </p:nvSpPr>
        <p:spPr>
          <a:xfrm>
            <a:off x="1041400" y="5377815"/>
            <a:ext cx="3268345" cy="81851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cache1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33" name="Rectangles 32"/>
          <p:cNvSpPr/>
          <p:nvPr/>
        </p:nvSpPr>
        <p:spPr>
          <a:xfrm>
            <a:off x="1041400" y="2856230"/>
            <a:ext cx="3268345" cy="14732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400">
                <a:solidFill>
                  <a:schemeClr val="tx1"/>
                </a:solidFill>
              </a:rPr>
              <a:t>RSS6</a:t>
            </a: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34" name="Rectangles 33"/>
          <p:cNvSpPr/>
          <p:nvPr/>
        </p:nvSpPr>
        <p:spPr>
          <a:xfrm>
            <a:off x="1041400" y="3004185"/>
            <a:ext cx="3268345" cy="41465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cache6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35" name="Rectangles 34"/>
          <p:cNvSpPr/>
          <p:nvPr/>
        </p:nvSpPr>
        <p:spPr>
          <a:xfrm>
            <a:off x="1041400" y="3429635"/>
            <a:ext cx="3268980" cy="114935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36" name="Rectangles 35"/>
          <p:cNvSpPr/>
          <p:nvPr/>
        </p:nvSpPr>
        <p:spPr>
          <a:xfrm>
            <a:off x="1041400" y="3550920"/>
            <a:ext cx="3267710" cy="16764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7" name="Rectangles 36"/>
          <p:cNvSpPr/>
          <p:nvPr/>
        </p:nvSpPr>
        <p:spPr>
          <a:xfrm>
            <a:off x="1041400" y="3735705"/>
            <a:ext cx="3268980" cy="114935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38" name="Rectangles 37"/>
          <p:cNvSpPr/>
          <p:nvPr/>
        </p:nvSpPr>
        <p:spPr>
          <a:xfrm>
            <a:off x="1041400" y="3856990"/>
            <a:ext cx="3267710" cy="16764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0" name="文本框 4"/>
          <p:cNvSpPr txBox="1"/>
          <p:nvPr/>
        </p:nvSpPr>
        <p:spPr>
          <a:xfrm>
            <a:off x="447040" y="1184275"/>
            <a:ext cx="94710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共享云主机上的</a:t>
            </a:r>
            <a:r>
              <a:rPr lang="en-US" altLang="zh-CN" sz="200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double buffer PG</a:t>
            </a:r>
            <a:endParaRPr lang="en-US" altLang="zh-CN" sz="2000" b="1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sp>
        <p:nvSpPr>
          <p:cNvPr id="56" name="Rectangles 55"/>
          <p:cNvSpPr/>
          <p:nvPr/>
        </p:nvSpPr>
        <p:spPr>
          <a:xfrm>
            <a:off x="6823075" y="2649220"/>
            <a:ext cx="3853815" cy="370459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7" name="Rectangles 56"/>
          <p:cNvSpPr/>
          <p:nvPr/>
        </p:nvSpPr>
        <p:spPr>
          <a:xfrm>
            <a:off x="7206615" y="2251710"/>
            <a:ext cx="3268345" cy="41465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cache7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58" name="Rectangles 57"/>
          <p:cNvSpPr/>
          <p:nvPr/>
        </p:nvSpPr>
        <p:spPr>
          <a:xfrm>
            <a:off x="7205345" y="6049010"/>
            <a:ext cx="3268345" cy="147320"/>
          </a:xfrm>
          <a:prstGeom prst="rect">
            <a:avLst/>
          </a:prstGeom>
          <a:solidFill>
            <a:schemeClr val="accent3">
              <a:lumMod val="50000"/>
            </a:schemeClr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400">
                <a:solidFill>
                  <a:schemeClr val="tx1"/>
                </a:solidFill>
              </a:rPr>
              <a:t>RSS1</a:t>
            </a: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59" name="Rectangles 58"/>
          <p:cNvSpPr/>
          <p:nvPr/>
        </p:nvSpPr>
        <p:spPr>
          <a:xfrm>
            <a:off x="7205345" y="5821045"/>
            <a:ext cx="3268345" cy="227965"/>
          </a:xfrm>
          <a:prstGeom prst="rect">
            <a:avLst/>
          </a:prstGeom>
          <a:solidFill>
            <a:schemeClr val="accent3">
              <a:lumMod val="50000"/>
            </a:schemeClr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400">
                <a:solidFill>
                  <a:schemeClr val="tx1"/>
                </a:solidFill>
              </a:rPr>
              <a:t>RSS2</a:t>
            </a: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60" name="Rectangles 59"/>
          <p:cNvSpPr/>
          <p:nvPr/>
        </p:nvSpPr>
        <p:spPr>
          <a:xfrm>
            <a:off x="7205345" y="5673725"/>
            <a:ext cx="3268345" cy="147320"/>
          </a:xfrm>
          <a:prstGeom prst="rect">
            <a:avLst/>
          </a:prstGeom>
          <a:solidFill>
            <a:schemeClr val="accent3">
              <a:lumMod val="50000"/>
            </a:schemeClr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400">
                <a:solidFill>
                  <a:schemeClr val="tx1"/>
                </a:solidFill>
              </a:rPr>
              <a:t>RSS3</a:t>
            </a: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61" name="Rectangles 60"/>
          <p:cNvSpPr/>
          <p:nvPr/>
        </p:nvSpPr>
        <p:spPr>
          <a:xfrm>
            <a:off x="7204710" y="5558790"/>
            <a:ext cx="3268980" cy="114935"/>
          </a:xfrm>
          <a:prstGeom prst="rect">
            <a:avLst/>
          </a:prstGeom>
          <a:solidFill>
            <a:schemeClr val="accent3">
              <a:lumMod val="50000"/>
            </a:schemeClr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62" name="Rectangles 61"/>
          <p:cNvSpPr/>
          <p:nvPr/>
        </p:nvSpPr>
        <p:spPr>
          <a:xfrm>
            <a:off x="7204710" y="5443855"/>
            <a:ext cx="3268980" cy="114935"/>
          </a:xfrm>
          <a:prstGeom prst="rect">
            <a:avLst/>
          </a:prstGeom>
          <a:solidFill>
            <a:schemeClr val="accent3">
              <a:lumMod val="50000"/>
            </a:schemeClr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63" name="Rectangles 62"/>
          <p:cNvSpPr/>
          <p:nvPr/>
        </p:nvSpPr>
        <p:spPr>
          <a:xfrm>
            <a:off x="7204710" y="5298440"/>
            <a:ext cx="3268345" cy="147320"/>
          </a:xfrm>
          <a:prstGeom prst="rect">
            <a:avLst/>
          </a:prstGeom>
          <a:solidFill>
            <a:schemeClr val="accent3">
              <a:lumMod val="50000"/>
            </a:schemeClr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400">
                <a:solidFill>
                  <a:schemeClr val="tx1"/>
                </a:solidFill>
              </a:rPr>
              <a:t>RSS6</a:t>
            </a: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64" name="Rectangles 63"/>
          <p:cNvSpPr/>
          <p:nvPr/>
        </p:nvSpPr>
        <p:spPr>
          <a:xfrm>
            <a:off x="7204710" y="5143500"/>
            <a:ext cx="3268345" cy="147320"/>
          </a:xfrm>
          <a:prstGeom prst="rect">
            <a:avLst/>
          </a:prstGeom>
          <a:solidFill>
            <a:schemeClr val="accent3">
              <a:lumMod val="50000"/>
            </a:schemeClr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400">
                <a:solidFill>
                  <a:schemeClr val="tx1"/>
                </a:solidFill>
              </a:rPr>
              <a:t>RSS7</a:t>
            </a: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65" name="Rectangles 64"/>
          <p:cNvSpPr/>
          <p:nvPr/>
        </p:nvSpPr>
        <p:spPr>
          <a:xfrm>
            <a:off x="7206615" y="2654300"/>
            <a:ext cx="3268345" cy="41465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cache6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66" name="Rectangles 65"/>
          <p:cNvSpPr/>
          <p:nvPr/>
        </p:nvSpPr>
        <p:spPr>
          <a:xfrm>
            <a:off x="7205980" y="3393440"/>
            <a:ext cx="3268345" cy="41465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cache3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67" name="Rectangles 66"/>
          <p:cNvSpPr/>
          <p:nvPr/>
        </p:nvSpPr>
        <p:spPr>
          <a:xfrm>
            <a:off x="7205980" y="3799840"/>
            <a:ext cx="3268345" cy="41465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cache2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68" name="Rectangles 67"/>
          <p:cNvSpPr/>
          <p:nvPr/>
        </p:nvSpPr>
        <p:spPr>
          <a:xfrm>
            <a:off x="7205345" y="4204335"/>
            <a:ext cx="3268345" cy="92646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cache1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69" name="Rectangles 68"/>
          <p:cNvSpPr/>
          <p:nvPr/>
        </p:nvSpPr>
        <p:spPr>
          <a:xfrm>
            <a:off x="7206615" y="3075305"/>
            <a:ext cx="3267710" cy="16764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0" name="Rectangles 69"/>
          <p:cNvSpPr/>
          <p:nvPr/>
        </p:nvSpPr>
        <p:spPr>
          <a:xfrm>
            <a:off x="7206615" y="3228340"/>
            <a:ext cx="3267710" cy="16764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Right Brace 1"/>
          <p:cNvSpPr/>
          <p:nvPr/>
        </p:nvSpPr>
        <p:spPr>
          <a:xfrm>
            <a:off x="4359275" y="3736340"/>
            <a:ext cx="240665" cy="245745"/>
          </a:xfrm>
          <a:prstGeom prst="rightBrace">
            <a:avLst/>
          </a:prstGeom>
          <a:ln w="12700" cmpd="sng">
            <a:solidFill>
              <a:schemeClr val="bg1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" name="Right Brace 3"/>
          <p:cNvSpPr/>
          <p:nvPr/>
        </p:nvSpPr>
        <p:spPr>
          <a:xfrm>
            <a:off x="4359275" y="4619625"/>
            <a:ext cx="308610" cy="552450"/>
          </a:xfrm>
          <a:prstGeom prst="rightBrace">
            <a:avLst/>
          </a:prstGeom>
          <a:ln w="12700" cmpd="sng">
            <a:solidFill>
              <a:schemeClr val="bg1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" name="Right Brace 7"/>
          <p:cNvSpPr/>
          <p:nvPr/>
        </p:nvSpPr>
        <p:spPr>
          <a:xfrm>
            <a:off x="4359275" y="4024630"/>
            <a:ext cx="241300" cy="552450"/>
          </a:xfrm>
          <a:prstGeom prst="rightBrace">
            <a:avLst/>
          </a:prstGeom>
          <a:ln w="12700" cmpd="sng">
            <a:solidFill>
              <a:schemeClr val="bg1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" name="Right Brace 8"/>
          <p:cNvSpPr/>
          <p:nvPr/>
        </p:nvSpPr>
        <p:spPr>
          <a:xfrm>
            <a:off x="4360545" y="5257165"/>
            <a:ext cx="308610" cy="939165"/>
          </a:xfrm>
          <a:prstGeom prst="rightBrace">
            <a:avLst/>
          </a:prstGeom>
          <a:ln w="12700" cmpd="sng">
            <a:solidFill>
              <a:schemeClr val="bg1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1" name="Right Brace 10"/>
          <p:cNvSpPr/>
          <p:nvPr/>
        </p:nvSpPr>
        <p:spPr>
          <a:xfrm>
            <a:off x="4360545" y="3489325"/>
            <a:ext cx="240665" cy="245745"/>
          </a:xfrm>
          <a:prstGeom prst="rightBrace">
            <a:avLst/>
          </a:prstGeom>
          <a:ln w="12700" cmpd="sng">
            <a:solidFill>
              <a:schemeClr val="bg1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2" name="Right Brace 11"/>
          <p:cNvSpPr/>
          <p:nvPr/>
        </p:nvSpPr>
        <p:spPr>
          <a:xfrm>
            <a:off x="4359275" y="2921000"/>
            <a:ext cx="173990" cy="534670"/>
          </a:xfrm>
          <a:prstGeom prst="rightBrace">
            <a:avLst/>
          </a:prstGeom>
          <a:ln w="12700" cmpd="sng">
            <a:solidFill>
              <a:schemeClr val="bg1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5" name="Right Brace 14"/>
          <p:cNvSpPr/>
          <p:nvPr/>
        </p:nvSpPr>
        <p:spPr>
          <a:xfrm>
            <a:off x="4359275" y="2315210"/>
            <a:ext cx="173990" cy="534670"/>
          </a:xfrm>
          <a:prstGeom prst="rightBrace">
            <a:avLst/>
          </a:prstGeom>
          <a:ln w="12700" cmpd="sng">
            <a:solidFill>
              <a:schemeClr val="bg1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7" name="Text Box 16"/>
          <p:cNvSpPr txBox="1"/>
          <p:nvPr/>
        </p:nvSpPr>
        <p:spPr>
          <a:xfrm>
            <a:off x="4669155" y="5558790"/>
            <a:ext cx="6572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solidFill>
                  <a:schemeClr val="bg1"/>
                </a:solidFill>
              </a:rPr>
              <a:t>CG1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18" name="Text Box 17"/>
          <p:cNvSpPr txBox="1"/>
          <p:nvPr/>
        </p:nvSpPr>
        <p:spPr>
          <a:xfrm>
            <a:off x="4669155" y="4757420"/>
            <a:ext cx="6572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solidFill>
                  <a:schemeClr val="bg1"/>
                </a:solidFill>
              </a:rPr>
              <a:t>CG2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21" name="Text Box 20"/>
          <p:cNvSpPr txBox="1"/>
          <p:nvPr/>
        </p:nvSpPr>
        <p:spPr>
          <a:xfrm>
            <a:off x="4667885" y="4176395"/>
            <a:ext cx="6572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solidFill>
                  <a:schemeClr val="bg1"/>
                </a:solidFill>
              </a:rPr>
              <a:t>CG3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22" name="Text Box 21"/>
          <p:cNvSpPr txBox="1"/>
          <p:nvPr/>
        </p:nvSpPr>
        <p:spPr>
          <a:xfrm>
            <a:off x="4667885" y="3718560"/>
            <a:ext cx="6572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solidFill>
                  <a:schemeClr val="bg1"/>
                </a:solidFill>
              </a:rPr>
              <a:t>CG4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23" name="Text Box 22"/>
          <p:cNvSpPr txBox="1"/>
          <p:nvPr/>
        </p:nvSpPr>
        <p:spPr>
          <a:xfrm>
            <a:off x="4669155" y="3439795"/>
            <a:ext cx="6572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solidFill>
                  <a:schemeClr val="bg1"/>
                </a:solidFill>
              </a:rPr>
              <a:t>CG5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24" name="Text Box 23"/>
          <p:cNvSpPr txBox="1"/>
          <p:nvPr/>
        </p:nvSpPr>
        <p:spPr>
          <a:xfrm>
            <a:off x="4601210" y="3050540"/>
            <a:ext cx="6572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solidFill>
                  <a:schemeClr val="bg1"/>
                </a:solidFill>
              </a:rPr>
              <a:t>CG6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26" name="Text Box 25"/>
          <p:cNvSpPr txBox="1"/>
          <p:nvPr/>
        </p:nvSpPr>
        <p:spPr>
          <a:xfrm>
            <a:off x="4599940" y="2435225"/>
            <a:ext cx="6572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solidFill>
                  <a:schemeClr val="bg1"/>
                </a:solidFill>
              </a:rPr>
              <a:t>CG7</a:t>
            </a:r>
            <a:endParaRPr lang="en-US">
              <a:solidFill>
                <a:schemeClr val="bg1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5" name="图片 4" descr="未标题-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287655"/>
            <a:ext cx="1737995" cy="74676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9228455" y="716915"/>
            <a:ext cx="294386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120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开源生态大会暨</a:t>
            </a:r>
            <a:r>
              <a:rPr lang="en-US" altLang="zh-CN" sz="120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PostgreSQL</a:t>
            </a:r>
            <a:r>
              <a:rPr lang="zh-CN" altLang="en-US" sz="120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高峰论坛</a:t>
            </a:r>
            <a:endParaRPr lang="zh-CN" altLang="en-US" sz="1200" b="1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9207500" y="348615"/>
            <a:ext cx="2863215" cy="3835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9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以开源之道</a:t>
            </a:r>
            <a:r>
              <a:rPr lang="en-US" altLang="zh-CN" sz="19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·</a:t>
            </a:r>
            <a:r>
              <a:rPr lang="zh-CN" altLang="en-US" sz="19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见致远之志</a:t>
            </a:r>
            <a:endParaRPr lang="zh-CN" altLang="en-US" sz="1900">
              <a:solidFill>
                <a:schemeClr val="bg1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sp>
        <p:nvSpPr>
          <p:cNvPr id="40" name="文本框 4"/>
          <p:cNvSpPr txBox="1"/>
          <p:nvPr/>
        </p:nvSpPr>
        <p:spPr>
          <a:xfrm>
            <a:off x="447040" y="1184275"/>
            <a:ext cx="94710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共享云主机上的</a:t>
            </a:r>
            <a:r>
              <a:rPr lang="en-US" altLang="zh-CN" sz="200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double buffer PG</a:t>
            </a:r>
            <a:endParaRPr lang="en-US" altLang="zh-CN" sz="2000" b="1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sp>
        <p:nvSpPr>
          <p:cNvPr id="56" name="Rectangles 55"/>
          <p:cNvSpPr/>
          <p:nvPr/>
        </p:nvSpPr>
        <p:spPr>
          <a:xfrm>
            <a:off x="708025" y="2640965"/>
            <a:ext cx="3853815" cy="370459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8" name="Rectangles 57"/>
          <p:cNvSpPr/>
          <p:nvPr/>
        </p:nvSpPr>
        <p:spPr>
          <a:xfrm>
            <a:off x="1090295" y="6040755"/>
            <a:ext cx="3268345" cy="147320"/>
          </a:xfrm>
          <a:prstGeom prst="rect">
            <a:avLst/>
          </a:prstGeom>
          <a:solidFill>
            <a:schemeClr val="accent3">
              <a:lumMod val="50000"/>
            </a:schemeClr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400">
                <a:solidFill>
                  <a:schemeClr val="tx1"/>
                </a:solidFill>
              </a:rPr>
              <a:t>RSS1</a:t>
            </a: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59" name="Rectangles 58"/>
          <p:cNvSpPr/>
          <p:nvPr/>
        </p:nvSpPr>
        <p:spPr>
          <a:xfrm>
            <a:off x="1090295" y="5812790"/>
            <a:ext cx="3268345" cy="227965"/>
          </a:xfrm>
          <a:prstGeom prst="rect">
            <a:avLst/>
          </a:prstGeom>
          <a:solidFill>
            <a:schemeClr val="accent3">
              <a:lumMod val="50000"/>
            </a:schemeClr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400">
                <a:solidFill>
                  <a:schemeClr val="tx1"/>
                </a:solidFill>
              </a:rPr>
              <a:t>RSS2</a:t>
            </a: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60" name="Rectangles 59"/>
          <p:cNvSpPr/>
          <p:nvPr/>
        </p:nvSpPr>
        <p:spPr>
          <a:xfrm>
            <a:off x="1090295" y="5665470"/>
            <a:ext cx="3268345" cy="147320"/>
          </a:xfrm>
          <a:prstGeom prst="rect">
            <a:avLst/>
          </a:prstGeom>
          <a:solidFill>
            <a:schemeClr val="accent3">
              <a:lumMod val="50000"/>
            </a:schemeClr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400">
                <a:solidFill>
                  <a:schemeClr val="tx1"/>
                </a:solidFill>
              </a:rPr>
              <a:t>RSS3</a:t>
            </a: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61" name="Rectangles 60"/>
          <p:cNvSpPr/>
          <p:nvPr/>
        </p:nvSpPr>
        <p:spPr>
          <a:xfrm>
            <a:off x="1089660" y="5550535"/>
            <a:ext cx="3268980" cy="114935"/>
          </a:xfrm>
          <a:prstGeom prst="rect">
            <a:avLst/>
          </a:prstGeom>
          <a:solidFill>
            <a:schemeClr val="accent3">
              <a:lumMod val="50000"/>
            </a:schemeClr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62" name="Rectangles 61"/>
          <p:cNvSpPr/>
          <p:nvPr/>
        </p:nvSpPr>
        <p:spPr>
          <a:xfrm>
            <a:off x="1089660" y="5435600"/>
            <a:ext cx="3268980" cy="114935"/>
          </a:xfrm>
          <a:prstGeom prst="rect">
            <a:avLst/>
          </a:prstGeom>
          <a:solidFill>
            <a:schemeClr val="accent3">
              <a:lumMod val="50000"/>
            </a:schemeClr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63" name="Rectangles 62"/>
          <p:cNvSpPr/>
          <p:nvPr/>
        </p:nvSpPr>
        <p:spPr>
          <a:xfrm>
            <a:off x="1089660" y="5290185"/>
            <a:ext cx="3268345" cy="147320"/>
          </a:xfrm>
          <a:prstGeom prst="rect">
            <a:avLst/>
          </a:prstGeom>
          <a:solidFill>
            <a:schemeClr val="accent3">
              <a:lumMod val="50000"/>
            </a:schemeClr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400">
                <a:solidFill>
                  <a:schemeClr val="tx1"/>
                </a:solidFill>
              </a:rPr>
              <a:t>RSS6</a:t>
            </a: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64" name="Rectangles 63"/>
          <p:cNvSpPr/>
          <p:nvPr/>
        </p:nvSpPr>
        <p:spPr>
          <a:xfrm>
            <a:off x="1089660" y="5135245"/>
            <a:ext cx="3268345" cy="147320"/>
          </a:xfrm>
          <a:prstGeom prst="rect">
            <a:avLst/>
          </a:prstGeom>
          <a:solidFill>
            <a:schemeClr val="accent3">
              <a:lumMod val="50000"/>
            </a:schemeClr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400">
                <a:solidFill>
                  <a:schemeClr val="tx1"/>
                </a:solidFill>
              </a:rPr>
              <a:t>RSS7</a:t>
            </a: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66" name="Rectangles 65"/>
          <p:cNvSpPr/>
          <p:nvPr/>
        </p:nvSpPr>
        <p:spPr>
          <a:xfrm>
            <a:off x="1090930" y="3571240"/>
            <a:ext cx="3266440" cy="2286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cache3-</a:t>
            </a:r>
            <a:r>
              <a:rPr lang="en-US">
                <a:solidFill>
                  <a:schemeClr val="tx1"/>
                </a:solidFill>
              </a:rPr>
              <a:t>used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67" name="Rectangles 66"/>
          <p:cNvSpPr/>
          <p:nvPr/>
        </p:nvSpPr>
        <p:spPr>
          <a:xfrm>
            <a:off x="1090930" y="3791585"/>
            <a:ext cx="3267710" cy="16764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cache2-</a:t>
            </a:r>
            <a:r>
              <a:rPr lang="en-US">
                <a:solidFill>
                  <a:schemeClr val="tx1"/>
                </a:solidFill>
              </a:rPr>
              <a:t>free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68" name="Rectangles 67"/>
          <p:cNvSpPr/>
          <p:nvPr/>
        </p:nvSpPr>
        <p:spPr>
          <a:xfrm>
            <a:off x="1090295" y="4598035"/>
            <a:ext cx="3268345" cy="52451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cache1-</a:t>
            </a:r>
            <a:r>
              <a:rPr lang="en-US">
                <a:solidFill>
                  <a:schemeClr val="tx1"/>
                </a:solidFill>
              </a:rPr>
              <a:t>used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69" name="Rectangles 68"/>
          <p:cNvSpPr/>
          <p:nvPr/>
        </p:nvSpPr>
        <p:spPr>
          <a:xfrm>
            <a:off x="1091565" y="3067050"/>
            <a:ext cx="3267710" cy="16764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0" name="Rectangles 69"/>
          <p:cNvSpPr/>
          <p:nvPr/>
        </p:nvSpPr>
        <p:spPr>
          <a:xfrm>
            <a:off x="1091565" y="3220085"/>
            <a:ext cx="3267710" cy="16764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Rectangles 1"/>
          <p:cNvSpPr/>
          <p:nvPr/>
        </p:nvSpPr>
        <p:spPr>
          <a:xfrm>
            <a:off x="1091565" y="4264660"/>
            <a:ext cx="3266440" cy="34671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cache1-</a:t>
            </a:r>
            <a:r>
              <a:rPr lang="en-US">
                <a:solidFill>
                  <a:schemeClr val="tx1"/>
                </a:solidFill>
              </a:rPr>
              <a:t>free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Rectangles 3"/>
          <p:cNvSpPr/>
          <p:nvPr/>
        </p:nvSpPr>
        <p:spPr>
          <a:xfrm>
            <a:off x="1092200" y="3957320"/>
            <a:ext cx="3267710" cy="30797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cache2-</a:t>
            </a:r>
            <a:r>
              <a:rPr lang="en-US">
                <a:solidFill>
                  <a:schemeClr val="tx1"/>
                </a:solidFill>
              </a:rPr>
              <a:t>used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Rectangles 7"/>
          <p:cNvSpPr/>
          <p:nvPr/>
        </p:nvSpPr>
        <p:spPr>
          <a:xfrm>
            <a:off x="1089660" y="3390265"/>
            <a:ext cx="3266440" cy="19558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cache3-</a:t>
            </a:r>
            <a:r>
              <a:rPr lang="en-US">
                <a:solidFill>
                  <a:schemeClr val="tx1"/>
                </a:solidFill>
              </a:rPr>
              <a:t>free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Rectangles 8"/>
          <p:cNvSpPr/>
          <p:nvPr/>
        </p:nvSpPr>
        <p:spPr>
          <a:xfrm>
            <a:off x="1094740" y="2429510"/>
            <a:ext cx="3266440" cy="2286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cache7-</a:t>
            </a:r>
            <a:r>
              <a:rPr lang="en-US">
                <a:solidFill>
                  <a:schemeClr val="tx1"/>
                </a:solidFill>
              </a:rPr>
              <a:t>used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Rectangles 10"/>
          <p:cNvSpPr/>
          <p:nvPr/>
        </p:nvSpPr>
        <p:spPr>
          <a:xfrm>
            <a:off x="1093470" y="2248535"/>
            <a:ext cx="3266440" cy="19558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cache7-</a:t>
            </a:r>
            <a:r>
              <a:rPr lang="en-US">
                <a:solidFill>
                  <a:schemeClr val="tx1"/>
                </a:solidFill>
              </a:rPr>
              <a:t>free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Rectangles 11"/>
          <p:cNvSpPr/>
          <p:nvPr/>
        </p:nvSpPr>
        <p:spPr>
          <a:xfrm>
            <a:off x="1089660" y="2825750"/>
            <a:ext cx="3266440" cy="2286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cache6-</a:t>
            </a:r>
            <a:r>
              <a:rPr lang="en-US">
                <a:solidFill>
                  <a:schemeClr val="tx1"/>
                </a:solidFill>
              </a:rPr>
              <a:t>used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Rectangles 14"/>
          <p:cNvSpPr/>
          <p:nvPr/>
        </p:nvSpPr>
        <p:spPr>
          <a:xfrm>
            <a:off x="1088390" y="2644775"/>
            <a:ext cx="3266440" cy="19558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cache6-</a:t>
            </a:r>
            <a:r>
              <a:rPr lang="en-US">
                <a:solidFill>
                  <a:schemeClr val="tx1"/>
                </a:solidFill>
              </a:rPr>
              <a:t>free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Rectangles 16"/>
          <p:cNvSpPr/>
          <p:nvPr/>
        </p:nvSpPr>
        <p:spPr>
          <a:xfrm>
            <a:off x="6911975" y="2610485"/>
            <a:ext cx="3853815" cy="370459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8" name="Rectangles 17"/>
          <p:cNvSpPr/>
          <p:nvPr/>
        </p:nvSpPr>
        <p:spPr>
          <a:xfrm>
            <a:off x="7294245" y="6010275"/>
            <a:ext cx="3268345" cy="147320"/>
          </a:xfrm>
          <a:prstGeom prst="rect">
            <a:avLst/>
          </a:prstGeom>
          <a:solidFill>
            <a:schemeClr val="accent3">
              <a:lumMod val="50000"/>
            </a:schemeClr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400">
                <a:solidFill>
                  <a:schemeClr val="tx1"/>
                </a:solidFill>
              </a:rPr>
              <a:t>RSS1</a:t>
            </a: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21" name="Rectangles 20"/>
          <p:cNvSpPr/>
          <p:nvPr/>
        </p:nvSpPr>
        <p:spPr>
          <a:xfrm>
            <a:off x="7294245" y="5782310"/>
            <a:ext cx="3268345" cy="227965"/>
          </a:xfrm>
          <a:prstGeom prst="rect">
            <a:avLst/>
          </a:prstGeom>
          <a:solidFill>
            <a:schemeClr val="accent3">
              <a:lumMod val="50000"/>
            </a:schemeClr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400">
                <a:solidFill>
                  <a:schemeClr val="tx1"/>
                </a:solidFill>
              </a:rPr>
              <a:t>RSS2</a:t>
            </a: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22" name="Rectangles 21"/>
          <p:cNvSpPr/>
          <p:nvPr/>
        </p:nvSpPr>
        <p:spPr>
          <a:xfrm>
            <a:off x="7294245" y="5634990"/>
            <a:ext cx="3268345" cy="147320"/>
          </a:xfrm>
          <a:prstGeom prst="rect">
            <a:avLst/>
          </a:prstGeom>
          <a:solidFill>
            <a:schemeClr val="accent3">
              <a:lumMod val="50000"/>
            </a:schemeClr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400">
                <a:solidFill>
                  <a:schemeClr val="tx1"/>
                </a:solidFill>
              </a:rPr>
              <a:t>RSS3</a:t>
            </a: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23" name="Rectangles 22"/>
          <p:cNvSpPr/>
          <p:nvPr/>
        </p:nvSpPr>
        <p:spPr>
          <a:xfrm>
            <a:off x="7293610" y="5520055"/>
            <a:ext cx="3268980" cy="114935"/>
          </a:xfrm>
          <a:prstGeom prst="rect">
            <a:avLst/>
          </a:prstGeom>
          <a:solidFill>
            <a:schemeClr val="accent3">
              <a:lumMod val="50000"/>
            </a:schemeClr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24" name="Rectangles 23"/>
          <p:cNvSpPr/>
          <p:nvPr/>
        </p:nvSpPr>
        <p:spPr>
          <a:xfrm>
            <a:off x="7293610" y="5405120"/>
            <a:ext cx="3268980" cy="114935"/>
          </a:xfrm>
          <a:prstGeom prst="rect">
            <a:avLst/>
          </a:prstGeom>
          <a:solidFill>
            <a:schemeClr val="accent3">
              <a:lumMod val="50000"/>
            </a:schemeClr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26" name="Rectangles 25"/>
          <p:cNvSpPr/>
          <p:nvPr/>
        </p:nvSpPr>
        <p:spPr>
          <a:xfrm>
            <a:off x="7293610" y="5259705"/>
            <a:ext cx="3268345" cy="147320"/>
          </a:xfrm>
          <a:prstGeom prst="rect">
            <a:avLst/>
          </a:prstGeom>
          <a:solidFill>
            <a:schemeClr val="accent3">
              <a:lumMod val="50000"/>
            </a:schemeClr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400">
                <a:solidFill>
                  <a:schemeClr val="tx1"/>
                </a:solidFill>
              </a:rPr>
              <a:t>RSS6</a:t>
            </a: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27" name="Rectangles 26"/>
          <p:cNvSpPr/>
          <p:nvPr/>
        </p:nvSpPr>
        <p:spPr>
          <a:xfrm>
            <a:off x="7293610" y="5104765"/>
            <a:ext cx="3268345" cy="147320"/>
          </a:xfrm>
          <a:prstGeom prst="rect">
            <a:avLst/>
          </a:prstGeom>
          <a:solidFill>
            <a:schemeClr val="accent3">
              <a:lumMod val="50000"/>
            </a:schemeClr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400">
                <a:solidFill>
                  <a:schemeClr val="tx1"/>
                </a:solidFill>
              </a:rPr>
              <a:t>RSS7</a:t>
            </a: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28" name="Rectangles 27"/>
          <p:cNvSpPr/>
          <p:nvPr/>
        </p:nvSpPr>
        <p:spPr>
          <a:xfrm>
            <a:off x="7294880" y="4030980"/>
            <a:ext cx="3266440" cy="2286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cache3-</a:t>
            </a:r>
            <a:r>
              <a:rPr lang="en-US">
                <a:solidFill>
                  <a:schemeClr val="tx1"/>
                </a:solidFill>
              </a:rPr>
              <a:t>used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29" name="Rectangles 28"/>
          <p:cNvSpPr/>
          <p:nvPr/>
        </p:nvSpPr>
        <p:spPr>
          <a:xfrm>
            <a:off x="7299960" y="2804795"/>
            <a:ext cx="3267710" cy="16764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cache2-</a:t>
            </a:r>
            <a:r>
              <a:rPr lang="en-US">
                <a:solidFill>
                  <a:schemeClr val="tx1"/>
                </a:solidFill>
              </a:rPr>
              <a:t>free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30" name="Rectangles 29"/>
          <p:cNvSpPr/>
          <p:nvPr/>
        </p:nvSpPr>
        <p:spPr>
          <a:xfrm>
            <a:off x="7294245" y="4567555"/>
            <a:ext cx="3268345" cy="52451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cache1-</a:t>
            </a:r>
            <a:r>
              <a:rPr lang="en-US">
                <a:solidFill>
                  <a:schemeClr val="tx1"/>
                </a:solidFill>
              </a:rPr>
              <a:t>used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31" name="Rectangles 30"/>
          <p:cNvSpPr/>
          <p:nvPr/>
        </p:nvSpPr>
        <p:spPr>
          <a:xfrm>
            <a:off x="7298690" y="3695700"/>
            <a:ext cx="3267710" cy="16764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2" name="Rectangles 31"/>
          <p:cNvSpPr/>
          <p:nvPr/>
        </p:nvSpPr>
        <p:spPr>
          <a:xfrm>
            <a:off x="7298690" y="3863340"/>
            <a:ext cx="3267710" cy="16764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1" name="Rectangles 40"/>
          <p:cNvSpPr/>
          <p:nvPr/>
        </p:nvSpPr>
        <p:spPr>
          <a:xfrm>
            <a:off x="7292340" y="2972435"/>
            <a:ext cx="3266440" cy="27559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cache1-</a:t>
            </a:r>
            <a:r>
              <a:rPr lang="en-US">
                <a:solidFill>
                  <a:schemeClr val="tx1"/>
                </a:solidFill>
              </a:rPr>
              <a:t>free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42" name="Rectangles 41"/>
          <p:cNvSpPr/>
          <p:nvPr/>
        </p:nvSpPr>
        <p:spPr>
          <a:xfrm>
            <a:off x="7292340" y="4259580"/>
            <a:ext cx="3267710" cy="30797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cache2-</a:t>
            </a:r>
            <a:r>
              <a:rPr lang="en-US">
                <a:solidFill>
                  <a:schemeClr val="tx1"/>
                </a:solidFill>
              </a:rPr>
              <a:t>used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43" name="Rectangles 42"/>
          <p:cNvSpPr/>
          <p:nvPr/>
        </p:nvSpPr>
        <p:spPr>
          <a:xfrm>
            <a:off x="7299960" y="2609215"/>
            <a:ext cx="3266440" cy="19558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cache3-</a:t>
            </a:r>
            <a:r>
              <a:rPr lang="en-US">
                <a:solidFill>
                  <a:schemeClr val="tx1"/>
                </a:solidFill>
              </a:rPr>
              <a:t>free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44" name="Rectangles 43"/>
          <p:cNvSpPr/>
          <p:nvPr/>
        </p:nvSpPr>
        <p:spPr>
          <a:xfrm>
            <a:off x="7299960" y="3234690"/>
            <a:ext cx="3266440" cy="2286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cache7-</a:t>
            </a:r>
            <a:r>
              <a:rPr lang="en-US">
                <a:solidFill>
                  <a:schemeClr val="tx1"/>
                </a:solidFill>
              </a:rPr>
              <a:t>used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45" name="Rectangles 44"/>
          <p:cNvSpPr/>
          <p:nvPr/>
        </p:nvSpPr>
        <p:spPr>
          <a:xfrm>
            <a:off x="7297420" y="2218055"/>
            <a:ext cx="3266440" cy="19558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cache7-</a:t>
            </a:r>
            <a:r>
              <a:rPr lang="en-US">
                <a:solidFill>
                  <a:schemeClr val="tx1"/>
                </a:solidFill>
              </a:rPr>
              <a:t>free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46" name="Rectangles 45"/>
          <p:cNvSpPr/>
          <p:nvPr/>
        </p:nvSpPr>
        <p:spPr>
          <a:xfrm>
            <a:off x="7299960" y="3467100"/>
            <a:ext cx="3266440" cy="2286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cache6-</a:t>
            </a:r>
            <a:r>
              <a:rPr lang="en-US">
                <a:solidFill>
                  <a:schemeClr val="tx1"/>
                </a:solidFill>
              </a:rPr>
              <a:t>used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47" name="Rectangles 46"/>
          <p:cNvSpPr/>
          <p:nvPr/>
        </p:nvSpPr>
        <p:spPr>
          <a:xfrm>
            <a:off x="7299960" y="2413635"/>
            <a:ext cx="3266440" cy="19558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cache6-</a:t>
            </a:r>
            <a:r>
              <a:rPr lang="en-US">
                <a:solidFill>
                  <a:schemeClr val="tx1"/>
                </a:solidFill>
              </a:rPr>
              <a:t>free</a:t>
            </a:r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48" name="Straight Connector 47"/>
          <p:cNvCxnSpPr/>
          <p:nvPr/>
        </p:nvCxnSpPr>
        <p:spPr>
          <a:xfrm>
            <a:off x="5742940" y="3248025"/>
            <a:ext cx="6192520" cy="0"/>
          </a:xfrm>
          <a:prstGeom prst="line">
            <a:avLst/>
          </a:prstGeom>
          <a:ln w="28575" cmpd="sng"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3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5" name="图片 4" descr="未标题-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287655"/>
            <a:ext cx="1737995" cy="74676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9228455" y="716915"/>
            <a:ext cx="294386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120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开源生态大会暨</a:t>
            </a:r>
            <a:r>
              <a:rPr lang="en-US" altLang="zh-CN" sz="120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PostgreSQL</a:t>
            </a:r>
            <a:r>
              <a:rPr lang="zh-CN" altLang="en-US" sz="120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高峰论坛</a:t>
            </a:r>
            <a:endParaRPr lang="zh-CN" altLang="en-US" sz="1200" b="1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9207500" y="348615"/>
            <a:ext cx="2863215" cy="3835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9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以开源之道</a:t>
            </a:r>
            <a:r>
              <a:rPr lang="en-US" altLang="zh-CN" sz="19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·</a:t>
            </a:r>
            <a:r>
              <a:rPr lang="zh-CN" altLang="en-US" sz="19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见致远之志</a:t>
            </a:r>
            <a:endParaRPr lang="zh-CN" altLang="en-US" sz="1900">
              <a:solidFill>
                <a:schemeClr val="bg1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sp>
        <p:nvSpPr>
          <p:cNvPr id="40" name="文本框 4"/>
          <p:cNvSpPr txBox="1"/>
          <p:nvPr/>
        </p:nvSpPr>
        <p:spPr>
          <a:xfrm>
            <a:off x="447040" y="1184275"/>
            <a:ext cx="94710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共享云主机上的</a:t>
            </a:r>
            <a:r>
              <a:rPr lang="en-US" altLang="zh-CN" sz="200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double buffer PG</a:t>
            </a:r>
            <a:endParaRPr lang="en-US" altLang="zh-CN" sz="2000" b="1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sp>
        <p:nvSpPr>
          <p:cNvPr id="17" name="Rectangles 16"/>
          <p:cNvSpPr/>
          <p:nvPr/>
        </p:nvSpPr>
        <p:spPr>
          <a:xfrm>
            <a:off x="719455" y="2597150"/>
            <a:ext cx="3853815" cy="370459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8" name="Rectangles 17"/>
          <p:cNvSpPr/>
          <p:nvPr/>
        </p:nvSpPr>
        <p:spPr>
          <a:xfrm>
            <a:off x="1101725" y="5996940"/>
            <a:ext cx="3268345" cy="147320"/>
          </a:xfrm>
          <a:prstGeom prst="rect">
            <a:avLst/>
          </a:prstGeom>
          <a:solidFill>
            <a:schemeClr val="accent3">
              <a:lumMod val="50000"/>
            </a:schemeClr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400">
                <a:solidFill>
                  <a:schemeClr val="tx1"/>
                </a:solidFill>
              </a:rPr>
              <a:t>RSS1</a:t>
            </a: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21" name="Rectangles 20"/>
          <p:cNvSpPr/>
          <p:nvPr/>
        </p:nvSpPr>
        <p:spPr>
          <a:xfrm>
            <a:off x="1101725" y="5768975"/>
            <a:ext cx="3268345" cy="227965"/>
          </a:xfrm>
          <a:prstGeom prst="rect">
            <a:avLst/>
          </a:prstGeom>
          <a:solidFill>
            <a:schemeClr val="accent3">
              <a:lumMod val="50000"/>
            </a:schemeClr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400">
                <a:solidFill>
                  <a:schemeClr val="tx1"/>
                </a:solidFill>
              </a:rPr>
              <a:t>RSS2</a:t>
            </a: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22" name="Rectangles 21"/>
          <p:cNvSpPr/>
          <p:nvPr/>
        </p:nvSpPr>
        <p:spPr>
          <a:xfrm>
            <a:off x="1101725" y="5621655"/>
            <a:ext cx="3268345" cy="147320"/>
          </a:xfrm>
          <a:prstGeom prst="rect">
            <a:avLst/>
          </a:prstGeom>
          <a:solidFill>
            <a:schemeClr val="accent3">
              <a:lumMod val="50000"/>
            </a:schemeClr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400">
                <a:solidFill>
                  <a:schemeClr val="tx1"/>
                </a:solidFill>
              </a:rPr>
              <a:t>RSS3</a:t>
            </a: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23" name="Rectangles 22"/>
          <p:cNvSpPr/>
          <p:nvPr/>
        </p:nvSpPr>
        <p:spPr>
          <a:xfrm>
            <a:off x="1101090" y="5506720"/>
            <a:ext cx="3268980" cy="114935"/>
          </a:xfrm>
          <a:prstGeom prst="rect">
            <a:avLst/>
          </a:prstGeom>
          <a:solidFill>
            <a:schemeClr val="accent3">
              <a:lumMod val="50000"/>
            </a:schemeClr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24" name="Rectangles 23"/>
          <p:cNvSpPr/>
          <p:nvPr/>
        </p:nvSpPr>
        <p:spPr>
          <a:xfrm>
            <a:off x="1101090" y="5391785"/>
            <a:ext cx="3268980" cy="114935"/>
          </a:xfrm>
          <a:prstGeom prst="rect">
            <a:avLst/>
          </a:prstGeom>
          <a:solidFill>
            <a:schemeClr val="accent3">
              <a:lumMod val="50000"/>
            </a:schemeClr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26" name="Rectangles 25"/>
          <p:cNvSpPr/>
          <p:nvPr/>
        </p:nvSpPr>
        <p:spPr>
          <a:xfrm>
            <a:off x="1101090" y="5246370"/>
            <a:ext cx="3268345" cy="147320"/>
          </a:xfrm>
          <a:prstGeom prst="rect">
            <a:avLst/>
          </a:prstGeom>
          <a:solidFill>
            <a:schemeClr val="accent3">
              <a:lumMod val="50000"/>
            </a:schemeClr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400">
                <a:solidFill>
                  <a:schemeClr val="tx1"/>
                </a:solidFill>
              </a:rPr>
              <a:t>RSS6</a:t>
            </a: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27" name="Rectangles 26"/>
          <p:cNvSpPr/>
          <p:nvPr/>
        </p:nvSpPr>
        <p:spPr>
          <a:xfrm>
            <a:off x="1101090" y="5091430"/>
            <a:ext cx="3268345" cy="147320"/>
          </a:xfrm>
          <a:prstGeom prst="rect">
            <a:avLst/>
          </a:prstGeom>
          <a:solidFill>
            <a:schemeClr val="accent3">
              <a:lumMod val="50000"/>
            </a:schemeClr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400">
                <a:solidFill>
                  <a:schemeClr val="tx1"/>
                </a:solidFill>
              </a:rPr>
              <a:t>RSS7</a:t>
            </a: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28" name="Rectangles 27"/>
          <p:cNvSpPr/>
          <p:nvPr/>
        </p:nvSpPr>
        <p:spPr>
          <a:xfrm>
            <a:off x="1102360" y="4017645"/>
            <a:ext cx="3266440" cy="2286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cache3-</a:t>
            </a:r>
            <a:r>
              <a:rPr lang="en-US">
                <a:solidFill>
                  <a:schemeClr val="tx1"/>
                </a:solidFill>
              </a:rPr>
              <a:t>used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29" name="Rectangles 28"/>
          <p:cNvSpPr/>
          <p:nvPr/>
        </p:nvSpPr>
        <p:spPr>
          <a:xfrm>
            <a:off x="1107440" y="2791460"/>
            <a:ext cx="3267710" cy="16764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cache2-</a:t>
            </a:r>
            <a:r>
              <a:rPr lang="en-US">
                <a:solidFill>
                  <a:schemeClr val="tx1"/>
                </a:solidFill>
              </a:rPr>
              <a:t>free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30" name="Rectangles 29"/>
          <p:cNvSpPr/>
          <p:nvPr/>
        </p:nvSpPr>
        <p:spPr>
          <a:xfrm>
            <a:off x="1101725" y="4554220"/>
            <a:ext cx="3268345" cy="52451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cache1-</a:t>
            </a:r>
            <a:r>
              <a:rPr lang="en-US">
                <a:solidFill>
                  <a:schemeClr val="tx1"/>
                </a:solidFill>
              </a:rPr>
              <a:t>used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31" name="Rectangles 30"/>
          <p:cNvSpPr/>
          <p:nvPr/>
        </p:nvSpPr>
        <p:spPr>
          <a:xfrm>
            <a:off x="1106170" y="3682365"/>
            <a:ext cx="3267710" cy="16764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2" name="Rectangles 31"/>
          <p:cNvSpPr/>
          <p:nvPr/>
        </p:nvSpPr>
        <p:spPr>
          <a:xfrm>
            <a:off x="1106170" y="3850005"/>
            <a:ext cx="3267710" cy="16764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1" name="Rectangles 40"/>
          <p:cNvSpPr/>
          <p:nvPr/>
        </p:nvSpPr>
        <p:spPr>
          <a:xfrm>
            <a:off x="1099820" y="2959100"/>
            <a:ext cx="3266440" cy="27559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cache1-</a:t>
            </a:r>
            <a:r>
              <a:rPr lang="en-US">
                <a:solidFill>
                  <a:schemeClr val="tx1"/>
                </a:solidFill>
              </a:rPr>
              <a:t>free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42" name="Rectangles 41"/>
          <p:cNvSpPr/>
          <p:nvPr/>
        </p:nvSpPr>
        <p:spPr>
          <a:xfrm>
            <a:off x="1099820" y="4246245"/>
            <a:ext cx="3267710" cy="30797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cache2-</a:t>
            </a:r>
            <a:r>
              <a:rPr lang="en-US">
                <a:solidFill>
                  <a:schemeClr val="tx1"/>
                </a:solidFill>
              </a:rPr>
              <a:t>used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43" name="Rectangles 42"/>
          <p:cNvSpPr/>
          <p:nvPr/>
        </p:nvSpPr>
        <p:spPr>
          <a:xfrm>
            <a:off x="1107440" y="2595880"/>
            <a:ext cx="3266440" cy="19558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cache3-</a:t>
            </a:r>
            <a:r>
              <a:rPr lang="en-US">
                <a:solidFill>
                  <a:schemeClr val="tx1"/>
                </a:solidFill>
              </a:rPr>
              <a:t>free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44" name="Rectangles 43"/>
          <p:cNvSpPr/>
          <p:nvPr/>
        </p:nvSpPr>
        <p:spPr>
          <a:xfrm>
            <a:off x="1107440" y="3221355"/>
            <a:ext cx="3266440" cy="2286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cache7-</a:t>
            </a:r>
            <a:r>
              <a:rPr lang="en-US">
                <a:solidFill>
                  <a:schemeClr val="tx1"/>
                </a:solidFill>
              </a:rPr>
              <a:t>used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45" name="Rectangles 44"/>
          <p:cNvSpPr/>
          <p:nvPr/>
        </p:nvSpPr>
        <p:spPr>
          <a:xfrm>
            <a:off x="1104900" y="2204720"/>
            <a:ext cx="3266440" cy="19558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cache7-</a:t>
            </a:r>
            <a:r>
              <a:rPr lang="en-US">
                <a:solidFill>
                  <a:schemeClr val="tx1"/>
                </a:solidFill>
              </a:rPr>
              <a:t>free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46" name="Rectangles 45"/>
          <p:cNvSpPr/>
          <p:nvPr/>
        </p:nvSpPr>
        <p:spPr>
          <a:xfrm>
            <a:off x="1107440" y="3453765"/>
            <a:ext cx="3266440" cy="2286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cache6-</a:t>
            </a:r>
            <a:r>
              <a:rPr lang="en-US">
                <a:solidFill>
                  <a:schemeClr val="tx1"/>
                </a:solidFill>
              </a:rPr>
              <a:t>used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47" name="Rectangles 46"/>
          <p:cNvSpPr/>
          <p:nvPr/>
        </p:nvSpPr>
        <p:spPr>
          <a:xfrm>
            <a:off x="1107440" y="2400300"/>
            <a:ext cx="3266440" cy="19558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cache6-</a:t>
            </a:r>
            <a:r>
              <a:rPr lang="en-US">
                <a:solidFill>
                  <a:schemeClr val="tx1"/>
                </a:solidFill>
              </a:rPr>
              <a:t>free</a:t>
            </a:r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48" name="Straight Connector 47"/>
          <p:cNvCxnSpPr/>
          <p:nvPr/>
        </p:nvCxnSpPr>
        <p:spPr>
          <a:xfrm>
            <a:off x="254635" y="3234690"/>
            <a:ext cx="4757420" cy="0"/>
          </a:xfrm>
          <a:prstGeom prst="line">
            <a:avLst/>
          </a:prstGeom>
          <a:ln w="28575" cmpd="sng"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Rectangles 5"/>
          <p:cNvSpPr/>
          <p:nvPr/>
        </p:nvSpPr>
        <p:spPr>
          <a:xfrm>
            <a:off x="5949950" y="2583815"/>
            <a:ext cx="3853815" cy="370459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" name="Rectangles 6"/>
          <p:cNvSpPr/>
          <p:nvPr/>
        </p:nvSpPr>
        <p:spPr>
          <a:xfrm>
            <a:off x="6332220" y="5983605"/>
            <a:ext cx="3268345" cy="147320"/>
          </a:xfrm>
          <a:prstGeom prst="rect">
            <a:avLst/>
          </a:prstGeom>
          <a:solidFill>
            <a:schemeClr val="accent3">
              <a:lumMod val="50000"/>
            </a:schemeClr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400">
                <a:solidFill>
                  <a:schemeClr val="tx1"/>
                </a:solidFill>
              </a:rPr>
              <a:t>RSS1</a:t>
            </a: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10" name="Rectangles 9"/>
          <p:cNvSpPr/>
          <p:nvPr/>
        </p:nvSpPr>
        <p:spPr>
          <a:xfrm>
            <a:off x="6332220" y="5755640"/>
            <a:ext cx="3268345" cy="227965"/>
          </a:xfrm>
          <a:prstGeom prst="rect">
            <a:avLst/>
          </a:prstGeom>
          <a:solidFill>
            <a:schemeClr val="accent3">
              <a:lumMod val="50000"/>
            </a:schemeClr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400">
                <a:solidFill>
                  <a:schemeClr val="tx1"/>
                </a:solidFill>
              </a:rPr>
              <a:t>RSS2</a:t>
            </a: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16" name="Rectangles 15"/>
          <p:cNvSpPr/>
          <p:nvPr/>
        </p:nvSpPr>
        <p:spPr>
          <a:xfrm>
            <a:off x="6332220" y="5608320"/>
            <a:ext cx="3268345" cy="147320"/>
          </a:xfrm>
          <a:prstGeom prst="rect">
            <a:avLst/>
          </a:prstGeom>
          <a:solidFill>
            <a:schemeClr val="accent3">
              <a:lumMod val="50000"/>
            </a:schemeClr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400">
                <a:solidFill>
                  <a:schemeClr val="tx1"/>
                </a:solidFill>
              </a:rPr>
              <a:t>RSS3</a:t>
            </a: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19" name="Rectangles 18"/>
          <p:cNvSpPr/>
          <p:nvPr/>
        </p:nvSpPr>
        <p:spPr>
          <a:xfrm>
            <a:off x="6331585" y="5493385"/>
            <a:ext cx="3268980" cy="114935"/>
          </a:xfrm>
          <a:prstGeom prst="rect">
            <a:avLst/>
          </a:prstGeom>
          <a:solidFill>
            <a:schemeClr val="accent3">
              <a:lumMod val="50000"/>
            </a:schemeClr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20" name="Rectangles 19"/>
          <p:cNvSpPr/>
          <p:nvPr/>
        </p:nvSpPr>
        <p:spPr>
          <a:xfrm>
            <a:off x="6331585" y="5378450"/>
            <a:ext cx="3268980" cy="114935"/>
          </a:xfrm>
          <a:prstGeom prst="rect">
            <a:avLst/>
          </a:prstGeom>
          <a:solidFill>
            <a:schemeClr val="accent3">
              <a:lumMod val="50000"/>
            </a:schemeClr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25" name="Rectangles 24"/>
          <p:cNvSpPr/>
          <p:nvPr/>
        </p:nvSpPr>
        <p:spPr>
          <a:xfrm>
            <a:off x="6331585" y="5233035"/>
            <a:ext cx="3268345" cy="147320"/>
          </a:xfrm>
          <a:prstGeom prst="rect">
            <a:avLst/>
          </a:prstGeom>
          <a:solidFill>
            <a:schemeClr val="accent3">
              <a:lumMod val="50000"/>
            </a:schemeClr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400">
                <a:solidFill>
                  <a:schemeClr val="tx1"/>
                </a:solidFill>
              </a:rPr>
              <a:t>RSS6</a:t>
            </a: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33" name="Rectangles 32"/>
          <p:cNvSpPr/>
          <p:nvPr/>
        </p:nvSpPr>
        <p:spPr>
          <a:xfrm>
            <a:off x="6331585" y="5078095"/>
            <a:ext cx="3268345" cy="147320"/>
          </a:xfrm>
          <a:prstGeom prst="rect">
            <a:avLst/>
          </a:prstGeom>
          <a:solidFill>
            <a:schemeClr val="accent3">
              <a:lumMod val="50000"/>
            </a:schemeClr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400">
                <a:solidFill>
                  <a:schemeClr val="tx1"/>
                </a:solidFill>
              </a:rPr>
              <a:t>RSS7</a:t>
            </a: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34" name="Rectangles 33"/>
          <p:cNvSpPr/>
          <p:nvPr/>
        </p:nvSpPr>
        <p:spPr>
          <a:xfrm>
            <a:off x="6339205" y="3221355"/>
            <a:ext cx="3274060" cy="56388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cache3-</a:t>
            </a:r>
            <a:r>
              <a:rPr lang="en-US">
                <a:solidFill>
                  <a:schemeClr val="tx1"/>
                </a:solidFill>
              </a:rPr>
              <a:t>used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36" name="Rectangles 35"/>
          <p:cNvSpPr/>
          <p:nvPr/>
        </p:nvSpPr>
        <p:spPr>
          <a:xfrm>
            <a:off x="6332220" y="4540885"/>
            <a:ext cx="3268345" cy="52451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cache1-</a:t>
            </a:r>
            <a:r>
              <a:rPr lang="en-US">
                <a:solidFill>
                  <a:schemeClr val="tx1"/>
                </a:solidFill>
              </a:rPr>
              <a:t>used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37" name="Rectangles 36"/>
          <p:cNvSpPr/>
          <p:nvPr/>
        </p:nvSpPr>
        <p:spPr>
          <a:xfrm>
            <a:off x="6339205" y="2587625"/>
            <a:ext cx="3267710" cy="16764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8" name="Rectangles 37"/>
          <p:cNvSpPr/>
          <p:nvPr/>
        </p:nvSpPr>
        <p:spPr>
          <a:xfrm>
            <a:off x="6339205" y="2419985"/>
            <a:ext cx="3267710" cy="16764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9" name="Rectangles 48"/>
          <p:cNvSpPr/>
          <p:nvPr/>
        </p:nvSpPr>
        <p:spPr>
          <a:xfrm>
            <a:off x="6330315" y="3785235"/>
            <a:ext cx="3282950" cy="75565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cache2-</a:t>
            </a:r>
            <a:r>
              <a:rPr lang="en-US">
                <a:solidFill>
                  <a:schemeClr val="tx1"/>
                </a:solidFill>
              </a:rPr>
              <a:t>used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51" name="Rectangles 50"/>
          <p:cNvSpPr/>
          <p:nvPr/>
        </p:nvSpPr>
        <p:spPr>
          <a:xfrm>
            <a:off x="6330315" y="1962785"/>
            <a:ext cx="3266440" cy="2286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cache7-</a:t>
            </a:r>
            <a:r>
              <a:rPr lang="en-US">
                <a:solidFill>
                  <a:schemeClr val="tx1"/>
                </a:solidFill>
              </a:rPr>
              <a:t>used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52" name="Rectangles 51"/>
          <p:cNvSpPr/>
          <p:nvPr/>
        </p:nvSpPr>
        <p:spPr>
          <a:xfrm>
            <a:off x="6339205" y="1569720"/>
            <a:ext cx="3266440" cy="19558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cache7-</a:t>
            </a:r>
            <a:r>
              <a:rPr lang="en-US">
                <a:solidFill>
                  <a:schemeClr val="tx1"/>
                </a:solidFill>
              </a:rPr>
              <a:t>free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53" name="Rectangles 52"/>
          <p:cNvSpPr/>
          <p:nvPr/>
        </p:nvSpPr>
        <p:spPr>
          <a:xfrm>
            <a:off x="6330315" y="2191385"/>
            <a:ext cx="3266440" cy="2286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cache6-</a:t>
            </a:r>
            <a:r>
              <a:rPr lang="en-US">
                <a:solidFill>
                  <a:schemeClr val="tx1"/>
                </a:solidFill>
              </a:rPr>
              <a:t>used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54" name="Rectangles 53"/>
          <p:cNvSpPr/>
          <p:nvPr/>
        </p:nvSpPr>
        <p:spPr>
          <a:xfrm>
            <a:off x="6330315" y="1765300"/>
            <a:ext cx="3266440" cy="19558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cache6-</a:t>
            </a:r>
            <a:r>
              <a:rPr lang="en-US">
                <a:solidFill>
                  <a:schemeClr val="tx1"/>
                </a:solidFill>
              </a:rPr>
              <a:t>free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65" name="Rectangles 64"/>
          <p:cNvSpPr/>
          <p:nvPr/>
        </p:nvSpPr>
        <p:spPr>
          <a:xfrm>
            <a:off x="6337935" y="2755265"/>
            <a:ext cx="3258820" cy="46609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3" name="Straight Connector 2"/>
          <p:cNvCxnSpPr/>
          <p:nvPr/>
        </p:nvCxnSpPr>
        <p:spPr>
          <a:xfrm>
            <a:off x="755015" y="2787015"/>
            <a:ext cx="10218420" cy="0"/>
          </a:xfrm>
          <a:prstGeom prst="line">
            <a:avLst/>
          </a:prstGeom>
          <a:ln w="28575" cmpd="sng">
            <a:solidFill>
              <a:srgbClr val="0AEFFE"/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2" name="Cloud Callout 71"/>
          <p:cNvSpPr/>
          <p:nvPr/>
        </p:nvSpPr>
        <p:spPr>
          <a:xfrm>
            <a:off x="10163810" y="1469390"/>
            <a:ext cx="1496060" cy="1125855"/>
          </a:xfrm>
          <a:prstGeom prst="cloudCallou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主机层内存</a:t>
            </a:r>
            <a:r>
              <a:rPr lang="zh-CN" altLang="en-US"/>
              <a:t>回收</a:t>
            </a:r>
            <a:endParaRPr lang="zh-CN" altLang="en-US"/>
          </a:p>
        </p:txBody>
      </p:sp>
      <p:cxnSp>
        <p:nvCxnSpPr>
          <p:cNvPr id="73" name="Straight Connector 72"/>
          <p:cNvCxnSpPr/>
          <p:nvPr/>
        </p:nvCxnSpPr>
        <p:spPr>
          <a:xfrm>
            <a:off x="5678805" y="1960880"/>
            <a:ext cx="4320540" cy="0"/>
          </a:xfrm>
          <a:prstGeom prst="line">
            <a:avLst/>
          </a:prstGeom>
          <a:ln w="28575" cmpd="sng"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3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5257800" y="2690495"/>
            <a:ext cx="303784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kumimoji="1" lang="en-US" sz="6000" b="1" dirty="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  <a:sym typeface="+mn-ea"/>
              </a:rPr>
              <a:t>PAGES</a:t>
            </a:r>
            <a:r>
              <a:rPr kumimoji="1" lang="zh-CN" altLang="en-US" sz="6000" b="1" dirty="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  <a:sym typeface="+mn-ea"/>
              </a:rPr>
              <a:t>的</a:t>
            </a:r>
            <a:r>
              <a:rPr kumimoji="1" lang="zh-CN" altLang="en-US" sz="6000" b="1" dirty="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  <a:sym typeface="+mn-ea"/>
              </a:rPr>
              <a:t>计算</a:t>
            </a:r>
            <a:endParaRPr kumimoji="1" lang="zh-CN" altLang="en-US" sz="6000" b="1" dirty="0">
              <a:solidFill>
                <a:schemeClr val="bg1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  <a:sym typeface="+mn-ea"/>
            </a:endParaRPr>
          </a:p>
        </p:txBody>
      </p:sp>
      <p:pic>
        <p:nvPicPr>
          <p:cNvPr id="5" name="图片 4" descr="未标题-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287655"/>
            <a:ext cx="1737995" cy="74676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9228455" y="716915"/>
            <a:ext cx="294386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120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开源生态大会暨</a:t>
            </a:r>
            <a:r>
              <a:rPr lang="en-US" altLang="zh-CN" sz="120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PostgreSQL</a:t>
            </a:r>
            <a:r>
              <a:rPr lang="zh-CN" altLang="en-US" sz="120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高峰论坛</a:t>
            </a:r>
            <a:endParaRPr lang="zh-CN" altLang="en-US" sz="1200" b="1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9207500" y="348615"/>
            <a:ext cx="2863215" cy="3835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9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以开源之道</a:t>
            </a:r>
            <a:r>
              <a:rPr lang="en-US" altLang="zh-CN" sz="19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·</a:t>
            </a:r>
            <a:r>
              <a:rPr lang="zh-CN" altLang="en-US" sz="19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见致远之志</a:t>
            </a:r>
            <a:endParaRPr lang="zh-CN" altLang="en-US" sz="1900">
              <a:solidFill>
                <a:schemeClr val="bg1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70559" y="2129790"/>
          <a:ext cx="10849926" cy="2598676"/>
        </p:xfrm>
        <a:graphic>
          <a:graphicData uri="http://schemas.openxmlformats.org/drawingml/2006/table">
            <a:tbl>
              <a:tblPr/>
              <a:tblGrid>
                <a:gridCol w="1463041"/>
                <a:gridCol w="3164114"/>
                <a:gridCol w="6222771"/>
              </a:tblGrid>
              <a:tr h="0"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chemeClr val="bg1"/>
                          </a:solidFill>
                          <a:effectLst/>
                        </a:rPr>
                        <a:t>只读</a:t>
                      </a:r>
                      <a:endParaRPr lang="zh-CN" altLang="en-U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memory.stat</a:t>
                      </a:r>
                      <a:endParaRPr lang="en-US" b="1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b="1" dirty="0">
                          <a:solidFill>
                            <a:srgbClr val="FFFF00"/>
                          </a:solidFill>
                          <a:effectLst/>
                        </a:rPr>
                        <a:t>重要</a:t>
                      </a:r>
                      <a:r>
                        <a:rPr lang="zh-CN" altLang="en-US" dirty="0">
                          <a:solidFill>
                            <a:schemeClr val="bg1"/>
                          </a:solidFill>
                          <a:effectLst/>
                        </a:rPr>
                        <a:t>，是主要的内存使用情况接口文件，有很多指标，后面单独分析</a:t>
                      </a:r>
                      <a:endParaRPr lang="zh-CN" altLang="en-U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zh-CN" altLang="en-US">
                          <a:solidFill>
                            <a:schemeClr val="bg1"/>
                          </a:solidFill>
                          <a:effectLst/>
                        </a:rPr>
                        <a:t>只读</a:t>
                      </a:r>
                      <a:endParaRPr lang="zh-CN" altLang="en-US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memory.usage_in_bytes</a:t>
                      </a:r>
                      <a:endParaRPr lang="en-US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bg1"/>
                          </a:solidFill>
                          <a:effectLst/>
                        </a:rPr>
                        <a:t>usage_in_bytes</a:t>
                      </a:r>
                      <a:r>
                        <a:rPr lang="en-US" dirty="0">
                          <a:solidFill>
                            <a:schemeClr val="bg1"/>
                          </a:solidFill>
                          <a:effectLst/>
                        </a:rPr>
                        <a:t> is affected by the method and doesn't show 'exact' value of memory。</a:t>
                      </a:r>
                      <a:r>
                        <a:rPr lang="zh-CN" altLang="en-US" dirty="0">
                          <a:solidFill>
                            <a:schemeClr val="bg1"/>
                          </a:solidFill>
                          <a:effectLst/>
                        </a:rPr>
                        <a:t>不建议使用该文件查看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  <a:effectLst/>
                        </a:rPr>
                        <a:t>cgroup</a:t>
                      </a:r>
                      <a:r>
                        <a:rPr lang="zh-CN" altLang="en-US" dirty="0">
                          <a:solidFill>
                            <a:schemeClr val="bg1"/>
                          </a:solidFill>
                          <a:effectLst/>
                        </a:rPr>
                        <a:t>的内存使用情况</a:t>
                      </a:r>
                      <a:endParaRPr lang="zh-CN" altLang="en-U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zh-CN" altLang="en-US">
                          <a:solidFill>
                            <a:schemeClr val="bg1"/>
                          </a:solidFill>
                          <a:effectLst/>
                        </a:rPr>
                        <a:t>只读</a:t>
                      </a:r>
                      <a:endParaRPr lang="zh-CN" altLang="en-US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memory.failcnt</a:t>
                      </a:r>
                      <a:endParaRPr lang="en-US" b="1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chemeClr val="bg1"/>
                          </a:solidFill>
                          <a:effectLst/>
                        </a:rPr>
                        <a:t>内存使用量超过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  <a:effectLst/>
                        </a:rPr>
                        <a:t>memory.limit_in_bytes</a:t>
                      </a:r>
                      <a:r>
                        <a:rPr lang="zh-CN" altLang="en-US" dirty="0">
                          <a:solidFill>
                            <a:schemeClr val="bg1"/>
                          </a:solidFill>
                          <a:effectLst/>
                        </a:rPr>
                        <a:t>的次数，累计值</a:t>
                      </a:r>
                      <a:endParaRPr lang="zh-CN" altLang="en-U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zh-CN" altLang="en-US" sz="1800" dirty="0">
                          <a:solidFill>
                            <a:schemeClr val="bg1"/>
                          </a:solidFill>
                          <a:effectLst/>
                        </a:rPr>
                        <a:t> 读写</a:t>
                      </a:r>
                      <a:endParaRPr lang="zh-CN" altLang="en-US" sz="18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66317" marR="66317" marT="30608" marB="30608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solidFill>
                            <a:schemeClr val="bg1"/>
                          </a:solidFill>
                          <a:effectLst/>
                        </a:rPr>
                        <a:t>memory.max_usage_in_bytes</a:t>
                      </a:r>
                      <a:endParaRPr lang="en-US" sz="1800" dirty="0" err="1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66317" marR="66317" marT="30608" marB="30608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solidFill>
                            <a:schemeClr val="bg1"/>
                          </a:solidFill>
                          <a:effectLst/>
                        </a:rPr>
                        <a:t>cgroup</a:t>
                      </a:r>
                      <a:r>
                        <a:rPr lang="zh-CN" altLang="en-US" sz="1800" dirty="0">
                          <a:solidFill>
                            <a:schemeClr val="bg1"/>
                          </a:solidFill>
                          <a:effectLst/>
                        </a:rPr>
                        <a:t>使用峰值，属于观察指标</a:t>
                      </a:r>
                      <a:endParaRPr lang="zh-CN" altLang="en-US" sz="18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66317" marR="66317" marT="30608" marB="30608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  <p:pic>
        <p:nvPicPr>
          <p:cNvPr id="6" name="图片 4" descr="未标题-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287655"/>
            <a:ext cx="1737995" cy="74676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9228455" y="716915"/>
            <a:ext cx="294386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120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开源生态大会暨</a:t>
            </a:r>
            <a:r>
              <a:rPr lang="en-US" altLang="zh-CN" sz="120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PostgreSQL</a:t>
            </a:r>
            <a:r>
              <a:rPr lang="zh-CN" altLang="en-US" sz="120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高峰论坛</a:t>
            </a:r>
            <a:endParaRPr lang="zh-CN" altLang="en-US" sz="1200" b="1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9207500" y="348615"/>
            <a:ext cx="2863215" cy="3835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9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以开源之道</a:t>
            </a:r>
            <a:r>
              <a:rPr lang="en-US" altLang="zh-CN" sz="19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·</a:t>
            </a:r>
            <a:r>
              <a:rPr lang="zh-CN" altLang="en-US" sz="19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见致远之志</a:t>
            </a:r>
            <a:endParaRPr lang="zh-CN" altLang="en-US" sz="1900">
              <a:solidFill>
                <a:schemeClr val="bg1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sp>
        <p:nvSpPr>
          <p:cNvPr id="40" name="文本框 4"/>
          <p:cNvSpPr txBox="1"/>
          <p:nvPr/>
        </p:nvSpPr>
        <p:spPr>
          <a:xfrm>
            <a:off x="447040" y="1184275"/>
            <a:ext cx="94710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 dirty="0">
                <a:solidFill>
                  <a:schemeClr val="bg1"/>
                </a:solidFill>
                <a:sym typeface="+mn-ea"/>
              </a:rPr>
              <a:t>CGROUP</a:t>
            </a:r>
            <a:r>
              <a:rPr lang="zh-CN" altLang="en-US" sz="2000" dirty="0">
                <a:solidFill>
                  <a:schemeClr val="bg1"/>
                </a:solidFill>
                <a:sym typeface="+mn-ea"/>
              </a:rPr>
              <a:t>内存中观测文件</a:t>
            </a:r>
            <a:endParaRPr lang="zh-CN" altLang="en-US" sz="2000" dirty="0">
              <a:solidFill>
                <a:schemeClr val="bg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71195" y="2319744"/>
          <a:ext cx="10849926" cy="2506827"/>
        </p:xfrm>
        <a:graphic>
          <a:graphicData uri="http://schemas.openxmlformats.org/drawingml/2006/table">
            <a:tbl>
              <a:tblPr/>
              <a:tblGrid>
                <a:gridCol w="795383"/>
                <a:gridCol w="4093028"/>
                <a:gridCol w="5961515"/>
              </a:tblGrid>
              <a:tr h="870859">
                <a:tc>
                  <a:txBody>
                    <a:bodyPr/>
                    <a:lstStyle/>
                    <a:p>
                      <a:r>
                        <a:rPr lang="zh-CN" altLang="en-US" sz="1800" dirty="0">
                          <a:solidFill>
                            <a:schemeClr val="bg1"/>
                          </a:solidFill>
                          <a:effectLst/>
                        </a:rPr>
                        <a:t>读写</a:t>
                      </a:r>
                      <a:endParaRPr lang="zh-CN" altLang="en-US" sz="18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66317" marR="66317" marT="30608" marB="30608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 err="1">
                          <a:solidFill>
                            <a:schemeClr val="bg1"/>
                          </a:solidFill>
                          <a:effectLst/>
                        </a:rPr>
                        <a:t>cgroup.procs</a:t>
                      </a:r>
                      <a:endParaRPr lang="en-US" sz="1800" b="1" dirty="0" err="1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66317" marR="66317" marT="30608" marB="30608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dirty="0">
                          <a:solidFill>
                            <a:schemeClr val="bg1"/>
                          </a:solidFill>
                          <a:effectLst/>
                        </a:rPr>
                        <a:t>用于管理当前 </a:t>
                      </a:r>
                      <a:r>
                        <a:rPr lang="en-US" sz="1800" dirty="0" err="1">
                          <a:solidFill>
                            <a:schemeClr val="bg1"/>
                          </a:solidFill>
                          <a:effectLst/>
                        </a:rPr>
                        <a:t>cgroup</a:t>
                      </a:r>
                      <a:r>
                        <a:rPr lang="en-US" sz="1800" dirty="0">
                          <a:solidFill>
                            <a:schemeClr val="bg1"/>
                          </a:solidFill>
                          <a:effectLst/>
                        </a:rPr>
                        <a:t> </a:t>
                      </a:r>
                      <a:r>
                        <a:rPr lang="zh-CN" altLang="en-US" sz="1800" dirty="0">
                          <a:solidFill>
                            <a:schemeClr val="bg1"/>
                          </a:solidFill>
                          <a:effectLst/>
                        </a:rPr>
                        <a:t>中的 进程组（进程 </a:t>
                      </a:r>
                      <a:r>
                        <a:rPr lang="en-US" sz="1800" dirty="0">
                          <a:solidFill>
                            <a:schemeClr val="bg1"/>
                          </a:solidFill>
                          <a:effectLst/>
                        </a:rPr>
                        <a:t>ID，PID）。</a:t>
                      </a:r>
                      <a:r>
                        <a:rPr lang="zh-CN" altLang="en-US" sz="1800" b="0" dirty="0">
                          <a:solidFill>
                            <a:schemeClr val="bg1"/>
                          </a:solidFill>
                          <a:effectLst/>
                        </a:rPr>
                        <a:t>对于多进程的</a:t>
                      </a:r>
                      <a:r>
                        <a:rPr lang="en-US" sz="1800" b="0" dirty="0" err="1">
                          <a:solidFill>
                            <a:schemeClr val="bg1"/>
                          </a:solidFill>
                          <a:effectLst/>
                        </a:rPr>
                        <a:t>pg</a:t>
                      </a:r>
                      <a:r>
                        <a:rPr lang="zh-CN" altLang="en-US" sz="1800" b="0" dirty="0">
                          <a:solidFill>
                            <a:schemeClr val="bg1"/>
                          </a:solidFill>
                          <a:effectLst/>
                        </a:rPr>
                        <a:t>来说，就是把</a:t>
                      </a:r>
                      <a:r>
                        <a:rPr lang="en-US" sz="1800" b="0" dirty="0" err="1">
                          <a:solidFill>
                            <a:schemeClr val="bg1"/>
                          </a:solidFill>
                          <a:effectLst/>
                        </a:rPr>
                        <a:t>pg</a:t>
                      </a:r>
                      <a:r>
                        <a:rPr lang="zh-CN" altLang="en-US" sz="1800" b="0" dirty="0">
                          <a:solidFill>
                            <a:schemeClr val="bg1"/>
                          </a:solidFill>
                          <a:effectLst/>
                        </a:rPr>
                        <a:t>的所有进程，包括管理进程和</a:t>
                      </a:r>
                      <a:r>
                        <a:rPr lang="en-US" sz="1800" b="0" dirty="0">
                          <a:solidFill>
                            <a:schemeClr val="bg1"/>
                          </a:solidFill>
                          <a:effectLst/>
                        </a:rPr>
                        <a:t>backend</a:t>
                      </a:r>
                      <a:r>
                        <a:rPr lang="zh-CN" altLang="en-US" sz="1800" b="0" dirty="0">
                          <a:solidFill>
                            <a:schemeClr val="bg1"/>
                          </a:solidFill>
                          <a:effectLst/>
                        </a:rPr>
                        <a:t>都写入</a:t>
                      </a:r>
                      <a:r>
                        <a:rPr lang="en-US" sz="1800" b="0" dirty="0">
                          <a:solidFill>
                            <a:schemeClr val="bg1"/>
                          </a:solidFill>
                          <a:effectLst/>
                        </a:rPr>
                        <a:t>procs</a:t>
                      </a:r>
                      <a:r>
                        <a:rPr lang="zh-CN" altLang="en-US" sz="1800" b="0" dirty="0">
                          <a:solidFill>
                            <a:schemeClr val="bg1"/>
                          </a:solidFill>
                          <a:effectLst/>
                        </a:rPr>
                        <a:t>文件</a:t>
                      </a:r>
                      <a:endParaRPr lang="zh-CN" altLang="en-US" sz="1800" b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66317" marR="66317" marT="30608" marB="30608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</a:tr>
              <a:tr h="205598">
                <a:tc>
                  <a:txBody>
                    <a:bodyPr/>
                    <a:lstStyle/>
                    <a:p>
                      <a:r>
                        <a:rPr lang="zh-CN" altLang="en-US" sz="1800">
                          <a:solidFill>
                            <a:schemeClr val="bg1"/>
                          </a:solidFill>
                          <a:effectLst/>
                        </a:rPr>
                        <a:t>读写</a:t>
                      </a:r>
                      <a:endParaRPr lang="zh-CN" altLang="en-US" sz="180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66317" marR="66317" marT="30608" marB="30608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>
                          <a:solidFill>
                            <a:schemeClr val="bg1"/>
                          </a:solidFill>
                          <a:effectLst/>
                        </a:rPr>
                        <a:t>memory.limit_in_bytes</a:t>
                      </a:r>
                      <a:endParaRPr lang="en-US" sz="1800" b="1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66317" marR="66317" marT="30608" marB="30608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 err="1">
                          <a:solidFill>
                            <a:srgbClr val="FFFF00"/>
                          </a:solidFill>
                          <a:effectLst/>
                        </a:rPr>
                        <a:t>cgroup</a:t>
                      </a:r>
                      <a:r>
                        <a:rPr lang="zh-CN" altLang="en-US" sz="1800" b="1" dirty="0">
                          <a:solidFill>
                            <a:srgbClr val="FFFF00"/>
                          </a:solidFill>
                          <a:effectLst/>
                        </a:rPr>
                        <a:t>内存上限</a:t>
                      </a:r>
                      <a:endParaRPr lang="zh-CN" altLang="en-US" sz="1800" b="1" dirty="0">
                        <a:solidFill>
                          <a:srgbClr val="FFFF00"/>
                        </a:solidFill>
                        <a:effectLst/>
                      </a:endParaRPr>
                    </a:p>
                  </a:txBody>
                  <a:tcPr marL="66317" marR="66317" marT="30608" marB="30608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</a:tr>
              <a:tr h="341723">
                <a:tc>
                  <a:txBody>
                    <a:bodyPr/>
                    <a:lstStyle/>
                    <a:p>
                      <a:r>
                        <a:rPr lang="zh-CN" altLang="en-US" sz="1800">
                          <a:solidFill>
                            <a:schemeClr val="bg1"/>
                          </a:solidFill>
                          <a:effectLst/>
                        </a:rPr>
                        <a:t>读写</a:t>
                      </a:r>
                      <a:endParaRPr lang="zh-CN" altLang="en-US" sz="180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66317" marR="66317" marT="30608" marB="30608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 err="1">
                          <a:solidFill>
                            <a:schemeClr val="bg1"/>
                          </a:solidFill>
                          <a:effectLst/>
                        </a:rPr>
                        <a:t>memory.soft_limit_in_bytes</a:t>
                      </a:r>
                      <a:endParaRPr lang="en-US" sz="1800" b="1" dirty="0" err="1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66317" marR="66317" marT="30608" marB="30608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优先回收的部分，约等价于</a:t>
                      </a:r>
                      <a:r>
                        <a:rPr lang="en-US" sz="18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v2</a:t>
                      </a:r>
                      <a:r>
                        <a:rPr lang="zh-CN" altLang="en-US" sz="18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的</a:t>
                      </a:r>
                      <a:r>
                        <a:rPr lang="en-US" sz="1800" b="0" i="0" u="none" strike="noStrike" kern="1200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memory.low</a:t>
                      </a:r>
                      <a:endParaRPr lang="en-US" altLang="en-US" sz="1800" b="0" i="0" u="none" strike="noStrike" kern="1200" dirty="0" err="1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317" marR="66317" marT="30608" marB="30608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</a:tr>
              <a:tr h="483125">
                <a:tc>
                  <a:txBody>
                    <a:bodyPr/>
                    <a:lstStyle/>
                    <a:p>
                      <a:r>
                        <a:rPr lang="zh-CN" altLang="en-US" sz="1800" dirty="0">
                          <a:solidFill>
                            <a:schemeClr val="bg1"/>
                          </a:solidFill>
                          <a:effectLst/>
                        </a:rPr>
                        <a:t>读写</a:t>
                      </a:r>
                      <a:endParaRPr lang="zh-CN" altLang="en-US" sz="18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66317" marR="66317" marT="30608" marB="30608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 err="1">
                          <a:solidFill>
                            <a:schemeClr val="bg1"/>
                          </a:solidFill>
                          <a:effectLst/>
                        </a:rPr>
                        <a:t>memory.oom_control</a:t>
                      </a:r>
                      <a:endParaRPr lang="en-US" sz="1800" b="1" dirty="0" err="1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66317" marR="66317" marT="30608" marB="30608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solidFill>
                            <a:schemeClr val="bg1"/>
                          </a:solidFill>
                          <a:effectLst/>
                        </a:rPr>
                        <a:t>oom_kill_disable</a:t>
                      </a:r>
                      <a:r>
                        <a:rPr lang="en-US" sz="1800" dirty="0">
                          <a:solidFill>
                            <a:schemeClr val="bg1"/>
                          </a:solidFill>
                          <a:effectLst/>
                        </a:rPr>
                        <a:t> </a:t>
                      </a:r>
                      <a:r>
                        <a:rPr lang="en-US" altLang="zh-CN" sz="1800" dirty="0">
                          <a:solidFill>
                            <a:schemeClr val="bg1"/>
                          </a:solidFill>
                          <a:effectLst/>
                        </a:rPr>
                        <a:t>0</a:t>
                      </a:r>
                      <a:r>
                        <a:rPr lang="zh-CN" altLang="en-US" sz="1800" dirty="0">
                          <a:solidFill>
                            <a:schemeClr val="bg1"/>
                          </a:solidFill>
                          <a:effectLst/>
                        </a:rPr>
                        <a:t>启用</a:t>
                      </a:r>
                      <a:r>
                        <a:rPr lang="en-US" altLang="zh-CN" sz="1800" dirty="0">
                          <a:solidFill>
                            <a:schemeClr val="bg1"/>
                          </a:solidFill>
                          <a:effectLst/>
                          <a:sym typeface="+mn-ea"/>
                        </a:rPr>
                        <a:t>OOM killer</a:t>
                      </a:r>
                      <a:r>
                        <a:rPr lang="zh-CN" altLang="en-US" sz="1800" dirty="0">
                          <a:solidFill>
                            <a:schemeClr val="bg1"/>
                          </a:solidFill>
                          <a:effectLst/>
                        </a:rPr>
                        <a:t>（默认），</a:t>
                      </a:r>
                      <a:r>
                        <a:rPr lang="en-US" sz="1800" dirty="0">
                          <a:solidFill>
                            <a:schemeClr val="bg1"/>
                          </a:solidFill>
                          <a:effectLst/>
                        </a:rPr>
                        <a:t>1</a:t>
                      </a:r>
                      <a:r>
                        <a:rPr lang="zh-CN" altLang="en-US" sz="1800" dirty="0">
                          <a:solidFill>
                            <a:schemeClr val="bg1"/>
                          </a:solidFill>
                          <a:effectLst/>
                        </a:rPr>
                        <a:t>禁用</a:t>
                      </a:r>
                      <a:endParaRPr lang="en-US" altLang="zh-CN" sz="1800" dirty="0">
                        <a:solidFill>
                          <a:schemeClr val="bg1"/>
                        </a:solidFill>
                        <a:effectLst/>
                      </a:endParaRPr>
                    </a:p>
                    <a:p>
                      <a:r>
                        <a:rPr lang="en-US" sz="1800" dirty="0" err="1">
                          <a:solidFill>
                            <a:schemeClr val="bg1"/>
                          </a:solidFill>
                          <a:effectLst/>
                        </a:rPr>
                        <a:t>oom</a:t>
                      </a:r>
                      <a:r>
                        <a:rPr lang="en-US" sz="1800" dirty="0">
                          <a:solidFill>
                            <a:schemeClr val="bg1"/>
                          </a:solidFill>
                          <a:effectLst/>
                          <a:latin typeface="var(--monospace)"/>
                        </a:rPr>
                        <a:t> </a:t>
                      </a:r>
                      <a:r>
                        <a:rPr lang="en-US" sz="1800" dirty="0" err="1">
                          <a:solidFill>
                            <a:schemeClr val="bg1"/>
                          </a:solidFill>
                          <a:effectLst/>
                        </a:rPr>
                        <a:t>under_oom</a:t>
                      </a:r>
                      <a:r>
                        <a:rPr lang="en-US" sz="1800" dirty="0">
                          <a:solidFill>
                            <a:schemeClr val="bg1"/>
                          </a:solidFill>
                          <a:effectLst/>
                        </a:rPr>
                        <a:t> </a:t>
                      </a:r>
                      <a:r>
                        <a:rPr lang="zh-CN" altLang="en-US" sz="1800" dirty="0">
                          <a:solidFill>
                            <a:schemeClr val="bg1"/>
                          </a:solidFill>
                          <a:effectLst/>
                        </a:rPr>
                        <a:t>是否处于</a:t>
                      </a:r>
                      <a:r>
                        <a:rPr lang="en-US" sz="1800" dirty="0">
                          <a:solidFill>
                            <a:schemeClr val="bg1"/>
                          </a:solidFill>
                          <a:effectLst/>
                        </a:rPr>
                        <a:t>OOM</a:t>
                      </a:r>
                      <a:r>
                        <a:rPr lang="zh-CN" altLang="en-US" sz="1800" dirty="0">
                          <a:solidFill>
                            <a:schemeClr val="bg1"/>
                          </a:solidFill>
                          <a:effectLst/>
                        </a:rPr>
                        <a:t>状态，</a:t>
                      </a:r>
                      <a:r>
                        <a:rPr lang="en-US" altLang="zh-CN" sz="1800" dirty="0">
                          <a:solidFill>
                            <a:schemeClr val="bg1"/>
                          </a:solidFill>
                          <a:effectLst/>
                        </a:rPr>
                        <a:t>0</a:t>
                      </a:r>
                      <a:r>
                        <a:rPr lang="zh-CN" altLang="en-US" sz="1800" dirty="0">
                          <a:solidFill>
                            <a:schemeClr val="bg1"/>
                          </a:solidFill>
                          <a:effectLst/>
                        </a:rPr>
                        <a:t>为不是</a:t>
                      </a:r>
                      <a:endParaRPr lang="zh-CN" altLang="en-US" sz="18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66317" marR="66317" marT="30608" marB="30608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</a:tr>
              <a:tr h="205598">
                <a:tc>
                  <a:txBody>
                    <a:bodyPr/>
                    <a:lstStyle/>
                    <a:p>
                      <a:r>
                        <a:rPr lang="zh-CN" altLang="en-US" sz="1800">
                          <a:solidFill>
                            <a:schemeClr val="bg1"/>
                          </a:solidFill>
                          <a:effectLst/>
                        </a:rPr>
                        <a:t>读写</a:t>
                      </a:r>
                      <a:endParaRPr lang="zh-CN" altLang="en-US" sz="180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66317" marR="66317" marT="30608" marB="30608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>
                          <a:solidFill>
                            <a:schemeClr val="bg1"/>
                          </a:solidFill>
                          <a:effectLst/>
                        </a:rPr>
                        <a:t>memory.swappiness</a:t>
                      </a:r>
                      <a:endParaRPr lang="en-US" sz="1800" b="1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66317" marR="66317" marT="30608" marB="30608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bg1"/>
                          </a:solidFill>
                          <a:effectLst/>
                        </a:rPr>
                        <a:t>cg</a:t>
                      </a:r>
                      <a:r>
                        <a:rPr lang="zh-CN" altLang="en-US" sz="1800" dirty="0">
                          <a:solidFill>
                            <a:schemeClr val="bg1"/>
                          </a:solidFill>
                          <a:effectLst/>
                        </a:rPr>
                        <a:t>级别的</a:t>
                      </a:r>
                      <a:r>
                        <a:rPr lang="en-US" sz="1800" dirty="0" err="1">
                          <a:solidFill>
                            <a:schemeClr val="bg1"/>
                          </a:solidFill>
                          <a:effectLst/>
                        </a:rPr>
                        <a:t>swappiness</a:t>
                      </a:r>
                      <a:endParaRPr lang="en-US" sz="1800" dirty="0" err="1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66317" marR="66317" marT="30608" marB="30608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  <p:pic>
        <p:nvPicPr>
          <p:cNvPr id="6" name="图片 4" descr="未标题-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287655"/>
            <a:ext cx="1737995" cy="74676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9228455" y="716915"/>
            <a:ext cx="294386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120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开源生态大会暨</a:t>
            </a:r>
            <a:r>
              <a:rPr lang="en-US" altLang="zh-CN" sz="120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PostgreSQL</a:t>
            </a:r>
            <a:r>
              <a:rPr lang="zh-CN" altLang="en-US" sz="120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高峰论坛</a:t>
            </a:r>
            <a:endParaRPr lang="zh-CN" altLang="en-US" sz="1200" b="1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9207500" y="348615"/>
            <a:ext cx="2863215" cy="3835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9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以开源之道</a:t>
            </a:r>
            <a:r>
              <a:rPr lang="en-US" altLang="zh-CN" sz="19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·</a:t>
            </a:r>
            <a:r>
              <a:rPr lang="zh-CN" altLang="en-US" sz="19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见致远之志</a:t>
            </a:r>
            <a:endParaRPr lang="zh-CN" altLang="en-US" sz="1900">
              <a:solidFill>
                <a:schemeClr val="bg1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sp>
        <p:nvSpPr>
          <p:cNvPr id="40" name="文本框 4"/>
          <p:cNvSpPr txBox="1"/>
          <p:nvPr/>
        </p:nvSpPr>
        <p:spPr>
          <a:xfrm>
            <a:off x="447040" y="1184275"/>
            <a:ext cx="94710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 dirty="0">
                <a:solidFill>
                  <a:schemeClr val="bg1"/>
                </a:solidFill>
                <a:sym typeface="+mn-ea"/>
              </a:rPr>
              <a:t>CGROUP</a:t>
            </a:r>
            <a:r>
              <a:rPr lang="zh-CN" altLang="en-US" sz="2000" dirty="0">
                <a:solidFill>
                  <a:schemeClr val="bg1"/>
                </a:solidFill>
                <a:sym typeface="+mn-ea"/>
              </a:rPr>
              <a:t>内存中</a:t>
            </a:r>
            <a:r>
              <a:rPr lang="zh-CN" altLang="en-US" sz="2000" dirty="0">
                <a:solidFill>
                  <a:schemeClr val="bg1"/>
                </a:solidFill>
                <a:sym typeface="+mn-ea"/>
              </a:rPr>
              <a:t>管理文件</a:t>
            </a:r>
            <a:endParaRPr lang="zh-CN" altLang="en-US" sz="2000" dirty="0">
              <a:solidFill>
                <a:schemeClr val="bg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533401" y="1774828"/>
            <a:ext cx="10987085" cy="47999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 err="1">
                <a:solidFill>
                  <a:schemeClr val="bg1"/>
                </a:solidFill>
                <a:sym typeface="+mn-ea"/>
              </a:rPr>
              <a:t>示例：一个</a:t>
            </a:r>
            <a:r>
              <a:rPr lang="en-US" altLang="zh-CN" dirty="0" err="1">
                <a:solidFill>
                  <a:schemeClr val="bg1"/>
                </a:solidFill>
                <a:sym typeface="+mn-ea"/>
              </a:rPr>
              <a:t>PG</a:t>
            </a:r>
            <a:r>
              <a:rPr lang="zh-CN" altLang="en-US" dirty="0" err="1">
                <a:solidFill>
                  <a:schemeClr val="bg1"/>
                </a:solidFill>
                <a:sym typeface="+mn-ea"/>
              </a:rPr>
              <a:t>库，</a:t>
            </a:r>
            <a:r>
              <a:rPr lang="en-US" dirty="0" err="1">
                <a:solidFill>
                  <a:schemeClr val="bg1"/>
                </a:solidFill>
                <a:sym typeface="+mn-ea"/>
              </a:rPr>
              <a:t>shared_memory_type</a:t>
            </a:r>
            <a:r>
              <a:rPr lang="en-US" dirty="0">
                <a:solidFill>
                  <a:schemeClr val="bg1"/>
                </a:solidFill>
                <a:sym typeface="+mn-ea"/>
              </a:rPr>
              <a:t>=</a:t>
            </a:r>
            <a:r>
              <a:rPr lang="en-US" dirty="0" err="1">
                <a:solidFill>
                  <a:schemeClr val="bg1"/>
                </a:solidFill>
                <a:sym typeface="+mn-ea"/>
              </a:rPr>
              <a:t>mmap</a:t>
            </a:r>
            <a:r>
              <a:rPr lang="zh-CN" altLang="en-US" dirty="0">
                <a:solidFill>
                  <a:schemeClr val="bg1"/>
                </a:solidFill>
                <a:sym typeface="+mn-ea"/>
              </a:rPr>
              <a:t>，</a:t>
            </a:r>
            <a:r>
              <a:rPr lang="en-US" dirty="0" err="1">
                <a:solidFill>
                  <a:schemeClr val="bg1"/>
                </a:solidFill>
                <a:sym typeface="+mn-ea"/>
              </a:rPr>
              <a:t>shared_buffers</a:t>
            </a:r>
            <a:r>
              <a:rPr lang="en-US" dirty="0">
                <a:solidFill>
                  <a:schemeClr val="bg1"/>
                </a:solidFill>
                <a:sym typeface="+mn-ea"/>
              </a:rPr>
              <a:t>=64</a:t>
            </a:r>
            <a:r>
              <a:rPr lang="zh-CN" altLang="en-US" dirty="0">
                <a:solidFill>
                  <a:schemeClr val="bg1"/>
                </a:solidFill>
                <a:sym typeface="+mn-ea"/>
              </a:rPr>
              <a:t>，</a:t>
            </a:r>
            <a:r>
              <a:rPr lang="en-US" dirty="0">
                <a:solidFill>
                  <a:schemeClr val="bg1"/>
                </a:solidFill>
                <a:sym typeface="+mn-ea"/>
              </a:rPr>
              <a:t>clients 800个左右，running</a:t>
            </a:r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stat</a:t>
            </a:r>
            <a:r>
              <a:rPr lang="zh-CN" altLang="en-US" dirty="0">
                <a:solidFill>
                  <a:schemeClr val="bg1"/>
                </a:solidFill>
              </a:rPr>
              <a:t>如下：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rgbClr val="FFFF00"/>
                </a:solidFill>
                <a:latin typeface="Arial Bold" panose="020B0604020202090204" charset="0"/>
                <a:cs typeface="Arial Bold" panose="020B0604020202090204" charset="0"/>
              </a:rPr>
              <a:t>cache </a:t>
            </a:r>
            <a:r>
              <a:rPr lang="en-US" dirty="0">
                <a:solidFill>
                  <a:schemeClr val="bg1"/>
                </a:solidFill>
              </a:rPr>
              <a:t>345587761152 	</a:t>
            </a:r>
            <a:r>
              <a:rPr lang="zh-CN" altLang="en-US" dirty="0">
                <a:solidFill>
                  <a:schemeClr val="bg1"/>
                </a:solidFill>
              </a:rPr>
              <a:t>                  </a:t>
            </a:r>
            <a:r>
              <a:rPr lang="en-US" dirty="0">
                <a:solidFill>
                  <a:schemeClr val="bg1"/>
                </a:solidFill>
              </a:rPr>
              <a:t>#page cache！！！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 err="1">
                <a:solidFill>
                  <a:schemeClr val="bg1"/>
                </a:solidFill>
              </a:rPr>
              <a:t>rss</a:t>
            </a:r>
            <a:r>
              <a:rPr lang="en-US" dirty="0">
                <a:solidFill>
                  <a:schemeClr val="bg1"/>
                </a:solidFill>
              </a:rPr>
              <a:t> 27332608                                 </a:t>
            </a:r>
            <a:r>
              <a:rPr lang="zh-CN" altLang="en-US" dirty="0">
                <a:solidFill>
                  <a:schemeClr val="bg1"/>
                </a:solidFill>
              </a:rPr>
              <a:t>     </a:t>
            </a:r>
            <a:r>
              <a:rPr lang="en-US" dirty="0">
                <a:solidFill>
                  <a:schemeClr val="bg1"/>
                </a:solidFill>
              </a:rPr>
              <a:t> #</a:t>
            </a:r>
            <a:r>
              <a:rPr lang="en-US" dirty="0" err="1">
                <a:solidFill>
                  <a:schemeClr val="bg1"/>
                </a:solidFill>
              </a:rPr>
              <a:t>匿名和swap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cache内存大小，注意，跟OS的进程rss不同，这里明显不包含PG的共享内存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 err="1">
                <a:solidFill>
                  <a:schemeClr val="bg1"/>
                </a:solidFill>
              </a:rPr>
              <a:t>rss_huge</a:t>
            </a:r>
            <a:r>
              <a:rPr lang="en-US" dirty="0">
                <a:solidFill>
                  <a:schemeClr val="bg1"/>
                </a:solidFill>
              </a:rPr>
              <a:t> 0                                   </a:t>
            </a:r>
            <a:r>
              <a:rPr lang="zh-CN" altLang="en-US" dirty="0">
                <a:solidFill>
                  <a:schemeClr val="bg1"/>
                </a:solidFill>
              </a:rPr>
              <a:t>       </a:t>
            </a:r>
            <a:r>
              <a:rPr lang="en-US" dirty="0">
                <a:solidFill>
                  <a:schemeClr val="bg1"/>
                </a:solidFill>
              </a:rPr>
              <a:t> #of bytes of anonymous transparent </a:t>
            </a:r>
            <a:r>
              <a:rPr lang="en-US" dirty="0" err="1">
                <a:solidFill>
                  <a:schemeClr val="bg1"/>
                </a:solidFill>
              </a:rPr>
              <a:t>hugepages，注意是</a:t>
            </a:r>
            <a:r>
              <a:rPr lang="zh-CN" altLang="en-US" dirty="0" err="1">
                <a:solidFill>
                  <a:schemeClr val="bg1"/>
                </a:solidFill>
              </a:rPr>
              <a:t>透明</a:t>
            </a:r>
            <a:r>
              <a:rPr lang="en-US" dirty="0" err="1">
                <a:solidFill>
                  <a:schemeClr val="bg1"/>
                </a:solidFill>
              </a:rPr>
              <a:t>大页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 err="1">
                <a:solidFill>
                  <a:schemeClr val="bg1"/>
                </a:solidFill>
              </a:rPr>
              <a:t>mapped_file</a:t>
            </a:r>
            <a:r>
              <a:rPr lang="en-US" dirty="0">
                <a:solidFill>
                  <a:schemeClr val="bg1"/>
                </a:solidFill>
              </a:rPr>
              <a:t> 61491769344                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 # </a:t>
            </a:r>
            <a:r>
              <a:rPr lang="en-US" dirty="0" err="1">
                <a:solidFill>
                  <a:schemeClr val="bg1"/>
                </a:solidFill>
              </a:rPr>
              <a:t>文件共享内存大小，这里包含pg的共享内存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swap 0                                       </a:t>
            </a:r>
            <a:r>
              <a:rPr lang="zh-CN" altLang="en-US" dirty="0">
                <a:solidFill>
                  <a:schemeClr val="bg1"/>
                </a:solidFill>
              </a:rPr>
              <a:t>          </a:t>
            </a:r>
            <a:r>
              <a:rPr lang="en-US" dirty="0">
                <a:solidFill>
                  <a:schemeClr val="bg1"/>
                </a:solidFill>
              </a:rPr>
              <a:t># </a:t>
            </a:r>
            <a:r>
              <a:rPr lang="en-US" dirty="0" err="1">
                <a:solidFill>
                  <a:schemeClr val="bg1"/>
                </a:solidFill>
              </a:rPr>
              <a:t>swap分区上的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b="1" dirty="0" err="1">
                <a:solidFill>
                  <a:srgbClr val="FFFF00"/>
                </a:solidFill>
                <a:latin typeface="Arial Bold" panose="020B0604020202090204" charset="0"/>
                <a:cs typeface="Arial Bold" panose="020B0604020202090204" charset="0"/>
              </a:rPr>
              <a:t>pgpgin</a:t>
            </a:r>
            <a:r>
              <a:rPr lang="en-US" b="1" dirty="0">
                <a:solidFill>
                  <a:srgbClr val="FFFF00"/>
                </a:solidFill>
                <a:latin typeface="Arial Bold" panose="020B0604020202090204" charset="0"/>
                <a:cs typeface="Arial Bold" panose="020B0604020202090204" charset="0"/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389395357                             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 # </a:t>
            </a:r>
            <a:r>
              <a:rPr lang="en-US" dirty="0" err="1">
                <a:solidFill>
                  <a:schemeClr val="bg1"/>
                </a:solidFill>
              </a:rPr>
              <a:t>rss+cache的charge</a:t>
            </a:r>
            <a:r>
              <a:rPr lang="en-US" dirty="0">
                <a:solidFill>
                  <a:schemeClr val="bg1"/>
                </a:solidFill>
              </a:rPr>
              <a:t> pages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 err="1">
                <a:solidFill>
                  <a:schemeClr val="bg1"/>
                </a:solidFill>
              </a:rPr>
              <a:t>pgpgout</a:t>
            </a:r>
            <a:r>
              <a:rPr lang="en-US" dirty="0">
                <a:solidFill>
                  <a:schemeClr val="bg1"/>
                </a:solidFill>
              </a:rPr>
              <a:t> 305016672                             # </a:t>
            </a:r>
            <a:r>
              <a:rPr lang="en-US" dirty="0" err="1">
                <a:solidFill>
                  <a:schemeClr val="bg1"/>
                </a:solidFill>
              </a:rPr>
              <a:t>rss+cache的uncharge</a:t>
            </a:r>
            <a:r>
              <a:rPr lang="en-US" dirty="0">
                <a:solidFill>
                  <a:schemeClr val="bg1"/>
                </a:solidFill>
              </a:rPr>
              <a:t> pages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 err="1">
                <a:solidFill>
                  <a:schemeClr val="bg1"/>
                </a:solidFill>
              </a:rPr>
              <a:t>inactive_anon</a:t>
            </a:r>
            <a:r>
              <a:rPr lang="en-US" dirty="0">
                <a:solidFill>
                  <a:schemeClr val="bg1"/>
                </a:solidFill>
              </a:rPr>
              <a:t> 165728256                    # anonymous and swap cache memory on inactive LRU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 err="1">
                <a:solidFill>
                  <a:schemeClr val="bg1"/>
                </a:solidFill>
              </a:rPr>
              <a:t>active_anon</a:t>
            </a:r>
            <a:r>
              <a:rPr lang="en-US" dirty="0">
                <a:solidFill>
                  <a:schemeClr val="bg1"/>
                </a:solidFill>
              </a:rPr>
              <a:t> 61549518848                   # anonymous and swap cache memory on active LRU list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 err="1">
                <a:solidFill>
                  <a:schemeClr val="bg1"/>
                </a:solidFill>
              </a:rPr>
              <a:t>inactive_file</a:t>
            </a:r>
            <a:r>
              <a:rPr lang="en-US" dirty="0">
                <a:solidFill>
                  <a:schemeClr val="bg1"/>
                </a:solidFill>
              </a:rPr>
              <a:t> 138240962560                  # file-backed on inactive LRU list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 err="1">
                <a:solidFill>
                  <a:schemeClr val="bg1"/>
                </a:solidFill>
              </a:rPr>
              <a:t>active_file</a:t>
            </a:r>
            <a:r>
              <a:rPr lang="en-US" dirty="0">
                <a:solidFill>
                  <a:schemeClr val="bg1"/>
                </a:solidFill>
              </a:rPr>
              <a:t> 145658613760                     # file-backed memory on active LRU list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 err="1">
                <a:solidFill>
                  <a:schemeClr val="bg1"/>
                </a:solidFill>
              </a:rPr>
              <a:t>unevictable</a:t>
            </a:r>
            <a:r>
              <a:rPr lang="en-US" dirty="0">
                <a:solidFill>
                  <a:schemeClr val="bg1"/>
                </a:solidFill>
              </a:rPr>
              <a:t> 0                                 </a:t>
            </a:r>
            <a:r>
              <a:rPr lang="zh-CN" altLang="en-US" dirty="0">
                <a:solidFill>
                  <a:schemeClr val="bg1"/>
                </a:solidFill>
              </a:rPr>
              <a:t>        </a:t>
            </a:r>
            <a:r>
              <a:rPr lang="en-US" dirty="0">
                <a:solidFill>
                  <a:schemeClr val="bg1"/>
                </a:solidFill>
              </a:rPr>
              <a:t># </a:t>
            </a:r>
            <a:r>
              <a:rPr lang="en-US" dirty="0" err="1">
                <a:solidFill>
                  <a:schemeClr val="bg1"/>
                </a:solidFill>
              </a:rPr>
              <a:t>无法回收的内存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 err="1">
                <a:solidFill>
                  <a:schemeClr val="bg1"/>
                </a:solidFill>
              </a:rPr>
              <a:t>total_xxx</a:t>
            </a:r>
            <a:r>
              <a:rPr lang="en-US" dirty="0">
                <a:solidFill>
                  <a:schemeClr val="bg1"/>
                </a:solidFill>
              </a:rPr>
              <a:t>                                   </a:t>
            </a:r>
            <a:r>
              <a:rPr lang="zh-CN" altLang="en-US" dirty="0">
                <a:solidFill>
                  <a:schemeClr val="bg1"/>
                </a:solidFill>
              </a:rPr>
              <a:t>           </a:t>
            </a:r>
            <a:r>
              <a:rPr lang="en-US" dirty="0">
                <a:solidFill>
                  <a:schemeClr val="bg1"/>
                </a:solidFill>
              </a:rPr>
              <a:t>  # hierarchical 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7" name="图片 4" descr="未标题-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287655"/>
            <a:ext cx="1737995" cy="74676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9228455" y="716915"/>
            <a:ext cx="294386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120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开源生态大会暨</a:t>
            </a:r>
            <a:r>
              <a:rPr lang="en-US" altLang="zh-CN" sz="120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PostgreSQL</a:t>
            </a:r>
            <a:r>
              <a:rPr lang="zh-CN" altLang="en-US" sz="120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高峰论坛</a:t>
            </a:r>
            <a:endParaRPr lang="zh-CN" altLang="en-US" sz="1200" b="1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9207500" y="348615"/>
            <a:ext cx="2863215" cy="3835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9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以开源之道</a:t>
            </a:r>
            <a:r>
              <a:rPr lang="en-US" altLang="zh-CN" sz="19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·</a:t>
            </a:r>
            <a:r>
              <a:rPr lang="zh-CN" altLang="en-US" sz="19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见致远之志</a:t>
            </a:r>
            <a:endParaRPr lang="zh-CN" altLang="en-US" sz="1900">
              <a:solidFill>
                <a:schemeClr val="bg1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sp>
        <p:nvSpPr>
          <p:cNvPr id="40" name="文本框 4"/>
          <p:cNvSpPr txBox="1"/>
          <p:nvPr/>
        </p:nvSpPr>
        <p:spPr>
          <a:xfrm>
            <a:off x="447040" y="1184275"/>
            <a:ext cx="94710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 dirty="0">
                <a:solidFill>
                  <a:schemeClr val="bg1"/>
                </a:solidFill>
                <a:sym typeface="+mn-ea"/>
              </a:rPr>
              <a:t>memory.stat</a:t>
            </a:r>
            <a:r>
              <a:rPr lang="zh-CN" altLang="en-US" sz="2000" dirty="0">
                <a:solidFill>
                  <a:schemeClr val="bg1"/>
                </a:solidFill>
                <a:sym typeface="+mn-ea"/>
              </a:rPr>
              <a:t>文件</a:t>
            </a:r>
            <a:endParaRPr lang="zh-CN" altLang="en-US" sz="2000" dirty="0">
              <a:solidFill>
                <a:schemeClr val="bg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670559" y="1887607"/>
            <a:ext cx="10849927" cy="42462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Open Sans"/>
              </a:rPr>
              <a:t>粗略来看（不看</a:t>
            </a:r>
            <a:r>
              <a:rPr lang="en-US" dirty="0" err="1">
                <a:solidFill>
                  <a:schemeClr val="bg1"/>
                </a:solidFill>
                <a:latin typeface="Open Sans"/>
              </a:rPr>
              <a:t>swap）</a:t>
            </a:r>
            <a:r>
              <a:rPr lang="en-US" b="1" dirty="0" err="1">
                <a:solidFill>
                  <a:schemeClr val="accent6"/>
                </a:solidFill>
                <a:latin typeface="Open Sans"/>
              </a:rPr>
              <a:t>cache+rss</a:t>
            </a:r>
            <a:r>
              <a:rPr lang="en-US" b="1" dirty="0">
                <a:solidFill>
                  <a:schemeClr val="accent6"/>
                </a:solidFill>
                <a:latin typeface="Open Sans"/>
              </a:rPr>
              <a:t>=</a:t>
            </a:r>
            <a:r>
              <a:rPr lang="en-US" b="1" dirty="0" err="1">
                <a:solidFill>
                  <a:schemeClr val="accent6"/>
                </a:solidFill>
                <a:latin typeface="Open Sans"/>
              </a:rPr>
              <a:t>inactive_anon+active_anon+inactive_file+active_file</a:t>
            </a:r>
            <a:r>
              <a:rPr lang="en-US" dirty="0">
                <a:solidFill>
                  <a:schemeClr val="bg1"/>
                </a:solidFill>
                <a:latin typeface="Open Sans"/>
              </a:rPr>
              <a:t>。</a:t>
            </a:r>
            <a:endParaRPr lang="en-US" dirty="0">
              <a:solidFill>
                <a:schemeClr val="bg1"/>
              </a:solidFill>
              <a:latin typeface="Open Sans"/>
            </a:endParaRPr>
          </a:p>
          <a:p>
            <a:r>
              <a:rPr lang="zh-CN" altLang="en-US" dirty="0">
                <a:solidFill>
                  <a:schemeClr val="bg1"/>
                </a:solidFill>
                <a:latin typeface="Open Sans"/>
              </a:rPr>
              <a:t>这上面的值还挺绕的，</a:t>
            </a:r>
            <a:r>
              <a:rPr lang="en-US" dirty="0" err="1">
                <a:solidFill>
                  <a:schemeClr val="bg1"/>
                </a:solidFill>
                <a:latin typeface="Open Sans"/>
              </a:rPr>
              <a:t>cache+rss</a:t>
            </a:r>
            <a:r>
              <a:rPr lang="zh-CN" altLang="en-US" dirty="0">
                <a:solidFill>
                  <a:schemeClr val="bg1"/>
                </a:solidFill>
                <a:latin typeface="Open Sans"/>
              </a:rPr>
              <a:t>跟</a:t>
            </a:r>
            <a:r>
              <a:rPr lang="en-US" altLang="zh-CN" dirty="0">
                <a:solidFill>
                  <a:schemeClr val="bg1"/>
                </a:solidFill>
                <a:latin typeface="Open Sans"/>
              </a:rPr>
              <a:t>[</a:t>
            </a:r>
            <a:r>
              <a:rPr lang="en-US" dirty="0">
                <a:solidFill>
                  <a:schemeClr val="bg1"/>
                </a:solidFill>
                <a:latin typeface="Open Sans"/>
              </a:rPr>
              <a:t>in]</a:t>
            </a:r>
            <a:r>
              <a:rPr lang="en-US" dirty="0" err="1">
                <a:solidFill>
                  <a:schemeClr val="bg1"/>
                </a:solidFill>
                <a:latin typeface="Open Sans"/>
              </a:rPr>
              <a:t>active_anon</a:t>
            </a:r>
            <a:r>
              <a:rPr lang="en-US" dirty="0">
                <a:solidFill>
                  <a:schemeClr val="bg1"/>
                </a:solidFill>
                <a:latin typeface="Open Sans"/>
              </a:rPr>
              <a:t>/file</a:t>
            </a:r>
            <a:r>
              <a:rPr lang="zh-CN" altLang="en-US" dirty="0">
                <a:solidFill>
                  <a:schemeClr val="bg1"/>
                </a:solidFill>
                <a:latin typeface="Open Sans"/>
              </a:rPr>
              <a:t>也难有直接对应关系，再加上</a:t>
            </a:r>
            <a:r>
              <a:rPr lang="en-US" dirty="0" err="1">
                <a:solidFill>
                  <a:schemeClr val="bg1"/>
                </a:solidFill>
                <a:latin typeface="Open Sans"/>
              </a:rPr>
              <a:t>mapped_file</a:t>
            </a:r>
            <a:r>
              <a:rPr lang="zh-CN" altLang="en-US" dirty="0">
                <a:solidFill>
                  <a:schemeClr val="bg1"/>
                </a:solidFill>
                <a:latin typeface="Open Sans"/>
              </a:rPr>
              <a:t>这个共享内存不知道该算到哪去，容易算晕。结合各种文档和测试，手搓脚本计算：</a:t>
            </a:r>
            <a:endParaRPr lang="en-US" altLang="zh-CN" dirty="0">
              <a:solidFill>
                <a:schemeClr val="bg1"/>
              </a:solidFill>
              <a:latin typeface="Open Sans"/>
            </a:endParaRPr>
          </a:p>
          <a:p>
            <a:r>
              <a:rPr lang="en-US" altLang="zh-CN" dirty="0">
                <a:solidFill>
                  <a:schemeClr val="bg1"/>
                </a:solidFill>
                <a:latin typeface="Open Sans"/>
              </a:rPr>
              <a:t>#</a:t>
            </a:r>
            <a:r>
              <a:rPr lang="en-US" altLang="zh-CN" dirty="0" err="1">
                <a:solidFill>
                  <a:schemeClr val="bg1"/>
                </a:solidFill>
                <a:latin typeface="Open Sans"/>
              </a:rPr>
              <a:t>shared_buffers</a:t>
            </a:r>
            <a:r>
              <a:rPr lang="en-US" altLang="zh-CN" dirty="0">
                <a:solidFill>
                  <a:schemeClr val="bg1"/>
                </a:solidFill>
                <a:latin typeface="Open Sans"/>
              </a:rPr>
              <a:t>=2GB</a:t>
            </a:r>
            <a:r>
              <a:rPr lang="zh-CN" altLang="en-US" dirty="0">
                <a:solidFill>
                  <a:schemeClr val="bg1"/>
                </a:solidFill>
                <a:latin typeface="Open Sans"/>
              </a:rPr>
              <a:t>的库</a:t>
            </a:r>
            <a:endParaRPr lang="zh-CN" altLang="en-US" dirty="0">
              <a:solidFill>
                <a:schemeClr val="bg1"/>
              </a:solidFill>
              <a:latin typeface="Open Sans"/>
            </a:endParaRPr>
          </a:p>
          <a:p>
            <a:r>
              <a:rPr lang="en-US" altLang="zh-CN" dirty="0" err="1">
                <a:solidFill>
                  <a:srgbClr val="FFFF00"/>
                </a:solidFill>
                <a:latin typeface="Open Sans"/>
              </a:rPr>
              <a:t>shared_mem_mapped</a:t>
            </a:r>
            <a:r>
              <a:rPr lang="en-US" altLang="zh-CN" dirty="0">
                <a:solidFill>
                  <a:srgbClr val="FFFF00"/>
                </a:solidFill>
                <a:latin typeface="Open Sans"/>
              </a:rPr>
              <a:t>   : 1.69063</a:t>
            </a:r>
            <a:endParaRPr lang="en-US" altLang="zh-CN" dirty="0">
              <a:solidFill>
                <a:srgbClr val="FFFF00"/>
              </a:solidFill>
              <a:latin typeface="Open Sans"/>
            </a:endParaRPr>
          </a:p>
          <a:p>
            <a:r>
              <a:rPr lang="en-US" altLang="zh-CN" dirty="0" err="1">
                <a:solidFill>
                  <a:srgbClr val="FFFF00"/>
                </a:solidFill>
                <a:latin typeface="Open Sans"/>
              </a:rPr>
              <a:t>shared_mem_anon</a:t>
            </a:r>
            <a:r>
              <a:rPr lang="en-US" altLang="zh-CN" dirty="0">
                <a:solidFill>
                  <a:srgbClr val="FFFF00"/>
                </a:solidFill>
                <a:latin typeface="Open Sans"/>
              </a:rPr>
              <a:t>       : 1.69828</a:t>
            </a:r>
            <a:endParaRPr lang="en-US" altLang="zh-CN" dirty="0">
              <a:solidFill>
                <a:srgbClr val="FFFF00"/>
              </a:solidFill>
              <a:latin typeface="Open Sans"/>
            </a:endParaRPr>
          </a:p>
          <a:p>
            <a:r>
              <a:rPr lang="en-US" altLang="zh-CN" dirty="0" err="1">
                <a:solidFill>
                  <a:schemeClr val="bg1"/>
                </a:solidFill>
                <a:latin typeface="Open Sans"/>
              </a:rPr>
              <a:t>pagecache_cache</a:t>
            </a:r>
            <a:r>
              <a:rPr lang="en-US" altLang="zh-CN" dirty="0">
                <a:solidFill>
                  <a:schemeClr val="bg1"/>
                </a:solidFill>
                <a:latin typeface="Open Sans"/>
              </a:rPr>
              <a:t>            : 5.94717</a:t>
            </a:r>
            <a:endParaRPr lang="en-US" altLang="zh-CN" dirty="0">
              <a:solidFill>
                <a:schemeClr val="bg1"/>
              </a:solidFill>
              <a:latin typeface="Open Sans"/>
            </a:endParaRPr>
          </a:p>
          <a:p>
            <a:r>
              <a:rPr lang="en-US" altLang="zh-CN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Open Sans"/>
              </a:rPr>
              <a:t>pagecache_cache</a:t>
            </a:r>
            <a:r>
              <a:rPr lang="en-US" altLang="zh-CN" dirty="0">
                <a:solidFill>
                  <a:schemeClr val="accent5">
                    <a:lumMod val="60000"/>
                    <a:lumOff val="40000"/>
                  </a:schemeClr>
                </a:solidFill>
                <a:latin typeface="Open Sans"/>
              </a:rPr>
              <a:t>-share : 4.25654</a:t>
            </a:r>
            <a:endParaRPr lang="en-US" altLang="zh-CN" dirty="0">
              <a:solidFill>
                <a:schemeClr val="accent5">
                  <a:lumMod val="60000"/>
                  <a:lumOff val="40000"/>
                </a:schemeClr>
              </a:solidFill>
              <a:latin typeface="Open Sans"/>
            </a:endParaRPr>
          </a:p>
          <a:p>
            <a:r>
              <a:rPr lang="en-US" altLang="zh-CN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Open Sans"/>
              </a:rPr>
              <a:t>file_cache</a:t>
            </a:r>
            <a:r>
              <a:rPr lang="en-US" altLang="zh-CN" dirty="0">
                <a:solidFill>
                  <a:schemeClr val="accent5">
                    <a:lumMod val="60000"/>
                    <a:lumOff val="40000"/>
                  </a:schemeClr>
                </a:solidFill>
                <a:latin typeface="Open Sans"/>
              </a:rPr>
              <a:t>                     : 4.24889</a:t>
            </a:r>
            <a:endParaRPr lang="en-US" altLang="zh-CN" dirty="0">
              <a:solidFill>
                <a:schemeClr val="accent5">
                  <a:lumMod val="60000"/>
                  <a:lumOff val="40000"/>
                </a:schemeClr>
              </a:solidFill>
              <a:latin typeface="Open Sans"/>
            </a:endParaRPr>
          </a:p>
          <a:p>
            <a:r>
              <a:rPr lang="en-US" altLang="zh-CN" dirty="0" err="1">
                <a:solidFill>
                  <a:schemeClr val="bg1"/>
                </a:solidFill>
                <a:latin typeface="Open Sans"/>
              </a:rPr>
              <a:t>anon_cache</a:t>
            </a:r>
            <a:r>
              <a:rPr lang="en-US" altLang="zh-CN" dirty="0">
                <a:solidFill>
                  <a:schemeClr val="bg1"/>
                </a:solidFill>
                <a:latin typeface="Open Sans"/>
              </a:rPr>
              <a:t>                  : 3.23096</a:t>
            </a:r>
            <a:endParaRPr lang="en-US" altLang="zh-CN" dirty="0">
              <a:solidFill>
                <a:schemeClr val="bg1"/>
              </a:solidFill>
              <a:latin typeface="Open Sans"/>
            </a:endParaRPr>
          </a:p>
          <a:p>
            <a:r>
              <a:rPr lang="en-US" altLang="zh-CN" dirty="0" err="1">
                <a:solidFill>
                  <a:schemeClr val="bg1"/>
                </a:solidFill>
                <a:latin typeface="Open Sans"/>
              </a:rPr>
              <a:t>total_used_rss+map</a:t>
            </a:r>
            <a:r>
              <a:rPr lang="en-US" altLang="zh-CN" dirty="0">
                <a:solidFill>
                  <a:schemeClr val="bg1"/>
                </a:solidFill>
                <a:latin typeface="Open Sans"/>
              </a:rPr>
              <a:t>     : 3.2233</a:t>
            </a:r>
            <a:endParaRPr lang="en-US" altLang="zh-CN" dirty="0">
              <a:solidFill>
                <a:schemeClr val="bg1"/>
              </a:solidFill>
              <a:latin typeface="Open Sans"/>
            </a:endParaRPr>
          </a:p>
          <a:p>
            <a:r>
              <a:rPr lang="en-US" altLang="zh-CN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Open Sans"/>
              </a:rPr>
              <a:t>total_mem_file+rss+map</a:t>
            </a:r>
            <a:r>
              <a:rPr lang="en-US" altLang="zh-CN" dirty="0">
                <a:solidFill>
                  <a:schemeClr val="accent6">
                    <a:lumMod val="60000"/>
                    <a:lumOff val="40000"/>
                  </a:schemeClr>
                </a:solidFill>
                <a:latin typeface="Open Sans"/>
              </a:rPr>
              <a:t>: 7.47219</a:t>
            </a:r>
            <a:endParaRPr lang="en-US" altLang="zh-CN" dirty="0">
              <a:solidFill>
                <a:schemeClr val="accent6">
                  <a:lumMod val="60000"/>
                  <a:lumOff val="40000"/>
                </a:schemeClr>
              </a:solidFill>
              <a:latin typeface="Open Sans"/>
            </a:endParaRPr>
          </a:p>
          <a:p>
            <a:r>
              <a:rPr lang="en-US" altLang="zh-CN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Open Sans"/>
              </a:rPr>
              <a:t>total_mem_rss+cache</a:t>
            </a:r>
            <a:r>
              <a:rPr lang="en-US" altLang="zh-CN" dirty="0">
                <a:solidFill>
                  <a:schemeClr val="accent6">
                    <a:lumMod val="60000"/>
                    <a:lumOff val="40000"/>
                  </a:schemeClr>
                </a:solidFill>
                <a:latin typeface="Open Sans"/>
              </a:rPr>
              <a:t>   : 7.47984</a:t>
            </a:r>
            <a:endParaRPr lang="en-US" altLang="zh-CN" dirty="0">
              <a:solidFill>
                <a:schemeClr val="accent6">
                  <a:lumMod val="60000"/>
                  <a:lumOff val="40000"/>
                </a:schemeClr>
              </a:solidFill>
              <a:latin typeface="Open Sans"/>
            </a:endParaRPr>
          </a:p>
          <a:p>
            <a:r>
              <a:rPr lang="en-US" altLang="zh-CN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Open Sans"/>
              </a:rPr>
              <a:t>total_mem_anon+file</a:t>
            </a:r>
            <a:r>
              <a:rPr lang="en-US" altLang="zh-CN" dirty="0">
                <a:solidFill>
                  <a:schemeClr val="accent6">
                    <a:lumMod val="60000"/>
                    <a:lumOff val="40000"/>
                  </a:schemeClr>
                </a:solidFill>
                <a:latin typeface="Open Sans"/>
              </a:rPr>
              <a:t>    : 7.47984</a:t>
            </a:r>
            <a:endParaRPr lang="en-US" altLang="zh-CN" dirty="0">
              <a:solidFill>
                <a:schemeClr val="accent6">
                  <a:lumMod val="60000"/>
                  <a:lumOff val="40000"/>
                </a:schemeClr>
              </a:solidFill>
              <a:latin typeface="Open Sans"/>
            </a:endParaRPr>
          </a:p>
          <a:p>
            <a:r>
              <a:rPr lang="en-US" altLang="zh-CN" dirty="0" err="1">
                <a:solidFill>
                  <a:schemeClr val="bg1"/>
                </a:solidFill>
                <a:latin typeface="Open Sans"/>
              </a:rPr>
              <a:t>hard_limit</a:t>
            </a:r>
            <a:r>
              <a:rPr lang="en-US" altLang="zh-CN" dirty="0">
                <a:solidFill>
                  <a:schemeClr val="bg1"/>
                </a:solidFill>
                <a:latin typeface="Open Sans"/>
              </a:rPr>
              <a:t>                      : 8</a:t>
            </a:r>
            <a:endParaRPr lang="en-US" altLang="zh-CN" b="0" i="0" u="none" strike="noStrike" dirty="0">
              <a:solidFill>
                <a:schemeClr val="bg1"/>
              </a:solidFill>
              <a:effectLst/>
              <a:latin typeface="Open San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313740" y="3186304"/>
            <a:ext cx="5936240" cy="23083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shared_mem_mapped</a:t>
            </a:r>
            <a:r>
              <a:rPr lang="en-US" altLang="zh-CN" dirty="0">
                <a:solidFill>
                  <a:schemeClr val="bg1"/>
                </a:solidFill>
              </a:rPr>
              <a:t>=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altLang="zh-CN" dirty="0" err="1">
                <a:solidFill>
                  <a:schemeClr val="bg1"/>
                </a:solidFill>
              </a:rPr>
              <a:t>inactive_anon+active_anon-rss</a:t>
            </a:r>
            <a:endParaRPr lang="en-US" altLang="zh-CN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cache-</a:t>
            </a:r>
            <a:r>
              <a:rPr lang="en-US" dirty="0" err="1">
                <a:solidFill>
                  <a:schemeClr val="bg1"/>
                </a:solidFill>
              </a:rPr>
              <a:t>shared_mem_mapped</a:t>
            </a:r>
            <a:r>
              <a:rPr lang="en-US" dirty="0">
                <a:solidFill>
                  <a:schemeClr val="bg1"/>
                </a:solidFill>
              </a:rPr>
              <a:t>=</a:t>
            </a:r>
            <a:r>
              <a:rPr lang="en-US" dirty="0" err="1">
                <a:solidFill>
                  <a:schemeClr val="bg1"/>
                </a:solidFill>
              </a:rPr>
              <a:t>inactive_file+active_file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 err="1">
                <a:solidFill>
                  <a:schemeClr val="bg1"/>
                </a:solidFill>
              </a:rPr>
              <a:t>rss+mapped_file</a:t>
            </a:r>
            <a:r>
              <a:rPr lang="en-US" dirty="0">
                <a:solidFill>
                  <a:schemeClr val="bg1"/>
                </a:solidFill>
              </a:rPr>
              <a:t>=</a:t>
            </a:r>
            <a:r>
              <a:rPr lang="en-US" dirty="0" err="1">
                <a:solidFill>
                  <a:schemeClr val="bg1"/>
                </a:solidFill>
              </a:rPr>
              <a:t>inactive_anon+active_anon</a:t>
            </a:r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 err="1">
                <a:solidFill>
                  <a:schemeClr val="bg1"/>
                </a:solidFill>
              </a:rPr>
              <a:t>inactive_file+active_file+rss+mapped_file</a:t>
            </a:r>
            <a:r>
              <a:rPr lang="en-US" dirty="0">
                <a:solidFill>
                  <a:schemeClr val="bg1"/>
                </a:solidFill>
              </a:rPr>
              <a:t>=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 err="1">
                <a:solidFill>
                  <a:schemeClr val="bg1"/>
                </a:solidFill>
              </a:rPr>
              <a:t>inactive_file+active_file_inactive_anon+active_anon</a:t>
            </a:r>
            <a:r>
              <a:rPr lang="en-US" dirty="0">
                <a:solidFill>
                  <a:schemeClr val="bg1"/>
                </a:solidFill>
              </a:rPr>
              <a:t>=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 err="1">
                <a:solidFill>
                  <a:schemeClr val="bg1"/>
                </a:solidFill>
              </a:rPr>
              <a:t>rss+cache</a:t>
            </a:r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6" name="图片 4" descr="未标题-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287655"/>
            <a:ext cx="1737995" cy="74676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9228455" y="716915"/>
            <a:ext cx="294386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120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开源生态大会暨</a:t>
            </a:r>
            <a:r>
              <a:rPr lang="en-US" altLang="zh-CN" sz="120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PostgreSQL</a:t>
            </a:r>
            <a:r>
              <a:rPr lang="zh-CN" altLang="en-US" sz="120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高峰论坛</a:t>
            </a:r>
            <a:endParaRPr lang="zh-CN" altLang="en-US" sz="1200" b="1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9207500" y="348615"/>
            <a:ext cx="2863215" cy="3835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9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以开源之道</a:t>
            </a:r>
            <a:r>
              <a:rPr lang="en-US" altLang="zh-CN" sz="19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·</a:t>
            </a:r>
            <a:r>
              <a:rPr lang="zh-CN" altLang="en-US" sz="19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见致远之志</a:t>
            </a:r>
            <a:endParaRPr lang="zh-CN" altLang="en-US" sz="1900">
              <a:solidFill>
                <a:schemeClr val="bg1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sp>
        <p:nvSpPr>
          <p:cNvPr id="40" name="文本框 4"/>
          <p:cNvSpPr txBox="1"/>
          <p:nvPr/>
        </p:nvSpPr>
        <p:spPr>
          <a:xfrm>
            <a:off x="447040" y="1184275"/>
            <a:ext cx="94710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 dirty="0">
                <a:solidFill>
                  <a:schemeClr val="bg1"/>
                </a:solidFill>
                <a:sym typeface="+mn-ea"/>
              </a:rPr>
              <a:t>pages</a:t>
            </a:r>
            <a:r>
              <a:rPr lang="zh-CN" altLang="en-US" sz="2000" dirty="0">
                <a:solidFill>
                  <a:schemeClr val="bg1"/>
                </a:solidFill>
                <a:sym typeface="+mn-ea"/>
              </a:rPr>
              <a:t>的</a:t>
            </a:r>
            <a:r>
              <a:rPr lang="zh-CN" altLang="en-US" sz="2000" dirty="0">
                <a:solidFill>
                  <a:schemeClr val="bg1"/>
                </a:solidFill>
                <a:sym typeface="+mn-ea"/>
              </a:rPr>
              <a:t>计算</a:t>
            </a:r>
            <a:endParaRPr lang="zh-CN" altLang="en-US" sz="2000" dirty="0">
              <a:solidFill>
                <a:schemeClr val="bg1"/>
              </a:solidFill>
              <a:sym typeface="+mn-ea"/>
            </a:endParaRPr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4650740" y="3216910"/>
            <a:ext cx="688340" cy="127000"/>
          </a:xfrm>
          <a:prstGeom prst="straightConnector1">
            <a:avLst/>
          </a:prstGeom>
          <a:ln w="28575" cmpd="sng">
            <a:solidFill>
              <a:schemeClr val="accent6">
                <a:lumMod val="40000"/>
                <a:lumOff val="60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V="1">
            <a:off x="4674870" y="3694430"/>
            <a:ext cx="688975" cy="434975"/>
          </a:xfrm>
          <a:prstGeom prst="straightConnector1">
            <a:avLst/>
          </a:prstGeom>
          <a:ln w="28575" cmpd="sng">
            <a:solidFill>
              <a:schemeClr val="accent6">
                <a:lumMod val="40000"/>
                <a:lumOff val="60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V="1">
            <a:off x="4747260" y="4757420"/>
            <a:ext cx="567690" cy="603885"/>
          </a:xfrm>
          <a:prstGeom prst="straightConnector1">
            <a:avLst/>
          </a:prstGeom>
          <a:ln w="28575" cmpd="sng">
            <a:solidFill>
              <a:schemeClr val="accent6">
                <a:lumMod val="40000"/>
                <a:lumOff val="60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71036" y="1583091"/>
            <a:ext cx="10849927" cy="25844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#</a:t>
            </a:r>
            <a:r>
              <a:rPr lang="zh-CN" altLang="en-US" dirty="0">
                <a:solidFill>
                  <a:schemeClr val="bg1"/>
                </a:solidFill>
              </a:rPr>
              <a:t>示例一个</a:t>
            </a:r>
            <a:r>
              <a:rPr lang="en-US" altLang="zh-CN" dirty="0">
                <a:solidFill>
                  <a:schemeClr val="bg1"/>
                </a:solidFill>
              </a:rPr>
              <a:t>PG</a:t>
            </a:r>
            <a:r>
              <a:rPr lang="zh-CN" altLang="en-US" dirty="0">
                <a:solidFill>
                  <a:schemeClr val="bg1"/>
                </a:solidFill>
              </a:rPr>
              <a:t>，</a:t>
            </a:r>
            <a:r>
              <a:rPr lang="en-US" dirty="0" err="1">
                <a:solidFill>
                  <a:schemeClr val="bg1"/>
                </a:solidFill>
              </a:rPr>
              <a:t>shared_buffers</a:t>
            </a:r>
            <a:r>
              <a:rPr lang="en-US" dirty="0">
                <a:solidFill>
                  <a:schemeClr val="bg1"/>
                </a:solidFill>
              </a:rPr>
              <a:t>= 64GB,所有pg进程的rss排序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 err="1">
                <a:solidFill>
                  <a:schemeClr val="bg1"/>
                </a:solidFill>
              </a:rPr>
              <a:t>ps</a:t>
            </a:r>
            <a:r>
              <a:rPr lang="en-US" dirty="0">
                <a:solidFill>
                  <a:schemeClr val="bg1"/>
                </a:solidFill>
              </a:rPr>
              <a:t> -</a:t>
            </a:r>
            <a:r>
              <a:rPr lang="en-US" dirty="0" err="1">
                <a:solidFill>
                  <a:schemeClr val="bg1"/>
                </a:solidFill>
              </a:rPr>
              <a:t>eo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pid,ppid,</a:t>
            </a:r>
            <a:r>
              <a:rPr lang="en-US" dirty="0" err="1">
                <a:solidFill>
                  <a:srgbClr val="FFFF00"/>
                </a:solidFill>
              </a:rPr>
              <a:t>rss</a:t>
            </a:r>
            <a:r>
              <a:rPr lang="en-US" dirty="0" err="1">
                <a:solidFill>
                  <a:schemeClr val="bg1"/>
                </a:solidFill>
              </a:rPr>
              <a:t>,args</a:t>
            </a:r>
            <a:r>
              <a:rPr lang="en-US" dirty="0">
                <a:solidFill>
                  <a:schemeClr val="bg1"/>
                </a:solidFill>
              </a:rPr>
              <a:t> |grep `cat $PGDATA/</a:t>
            </a:r>
            <a:r>
              <a:rPr lang="en-US" dirty="0" err="1">
                <a:solidFill>
                  <a:schemeClr val="bg1"/>
                </a:solidFill>
              </a:rPr>
              <a:t>postmaster.pid|head</a:t>
            </a:r>
            <a:r>
              <a:rPr lang="en-US" dirty="0">
                <a:solidFill>
                  <a:schemeClr val="bg1"/>
                </a:solidFill>
              </a:rPr>
              <a:t> -1`|sort -k3 -</a:t>
            </a:r>
            <a:r>
              <a:rPr lang="en-US" dirty="0" err="1">
                <a:solidFill>
                  <a:schemeClr val="bg1"/>
                </a:solidFill>
              </a:rPr>
              <a:t>rn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 97632  97627 </a:t>
            </a:r>
            <a:r>
              <a:rPr lang="en-US" b="1" dirty="0">
                <a:solidFill>
                  <a:srgbClr val="FFFF00"/>
                </a:solidFill>
              </a:rPr>
              <a:t>61103720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postgres</a:t>
            </a:r>
            <a:r>
              <a:rPr lang="en-US" dirty="0">
                <a:solidFill>
                  <a:schemeClr val="bg1"/>
                </a:solidFill>
              </a:rPr>
              <a:t>: </a:t>
            </a:r>
            <a:r>
              <a:rPr lang="en-US" dirty="0" err="1">
                <a:solidFill>
                  <a:schemeClr val="bg1"/>
                </a:solidFill>
              </a:rPr>
              <a:t>lzlinst</a:t>
            </a:r>
            <a:r>
              <a:rPr lang="en-US" dirty="0">
                <a:solidFill>
                  <a:schemeClr val="bg1"/>
                </a:solidFill>
              </a:rPr>
              <a:t>: </a:t>
            </a:r>
            <a:r>
              <a:rPr lang="en-US" dirty="0" err="1">
                <a:solidFill>
                  <a:schemeClr val="bg1"/>
                </a:solidFill>
              </a:rPr>
              <a:t>checkpointer</a:t>
            </a:r>
            <a:r>
              <a:rPr lang="en-US" dirty="0">
                <a:solidFill>
                  <a:schemeClr val="bg1"/>
                </a:solidFill>
              </a:rPr>
              <a:t>   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 97633  97627 </a:t>
            </a:r>
            <a:r>
              <a:rPr lang="en-US" b="1" dirty="0">
                <a:solidFill>
                  <a:srgbClr val="FFFF00"/>
                </a:solidFill>
              </a:rPr>
              <a:t>59045152</a:t>
            </a:r>
            <a:r>
              <a:rPr lang="en-US" dirty="0">
                <a:solidFill>
                  <a:srgbClr val="FFFF00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postgres</a:t>
            </a:r>
            <a:r>
              <a:rPr lang="en-US" dirty="0">
                <a:solidFill>
                  <a:schemeClr val="bg1"/>
                </a:solidFill>
              </a:rPr>
              <a:t>: </a:t>
            </a:r>
            <a:r>
              <a:rPr lang="en-US" dirty="0" err="1">
                <a:solidFill>
                  <a:schemeClr val="bg1"/>
                </a:solidFill>
              </a:rPr>
              <a:t>lzlinst</a:t>
            </a:r>
            <a:r>
              <a:rPr lang="en-US" dirty="0">
                <a:solidFill>
                  <a:schemeClr val="bg1"/>
                </a:solidFill>
              </a:rPr>
              <a:t>: background writer   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 97627      1     </a:t>
            </a:r>
            <a:r>
              <a:rPr lang="en-US" b="1" dirty="0">
                <a:solidFill>
                  <a:srgbClr val="FFFF00"/>
                </a:solidFill>
              </a:rPr>
              <a:t>2322820</a:t>
            </a:r>
            <a:r>
              <a:rPr lang="en-US" dirty="0">
                <a:solidFill>
                  <a:srgbClr val="FFFF00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/</a:t>
            </a:r>
            <a:r>
              <a:rPr lang="en-US" dirty="0" err="1">
                <a:solidFill>
                  <a:schemeClr val="bg1"/>
                </a:solidFill>
              </a:rPr>
              <a:t>paic</a:t>
            </a:r>
            <a:r>
              <a:rPr lang="en-US" dirty="0">
                <a:solidFill>
                  <a:schemeClr val="bg1"/>
                </a:solidFill>
              </a:rPr>
              <a:t>/</a:t>
            </a:r>
            <a:r>
              <a:rPr lang="en-US" dirty="0" err="1">
                <a:solidFill>
                  <a:schemeClr val="bg1"/>
                </a:solidFill>
              </a:rPr>
              <a:t>postgres</a:t>
            </a:r>
            <a:r>
              <a:rPr lang="en-US" dirty="0">
                <a:solidFill>
                  <a:schemeClr val="bg1"/>
                </a:solidFill>
              </a:rPr>
              <a:t>/base/11.3/bin/</a:t>
            </a:r>
            <a:r>
              <a:rPr lang="en-US" dirty="0" err="1">
                <a:solidFill>
                  <a:schemeClr val="bg1"/>
                </a:solidFill>
              </a:rPr>
              <a:t>postgres</a:t>
            </a:r>
            <a:r>
              <a:rPr lang="en-US" dirty="0">
                <a:solidFill>
                  <a:schemeClr val="bg1"/>
                </a:solidFill>
              </a:rPr>
              <a:t> -D /</a:t>
            </a:r>
            <a:r>
              <a:rPr lang="en-US" dirty="0" err="1">
                <a:solidFill>
                  <a:schemeClr val="bg1"/>
                </a:solidFill>
              </a:rPr>
              <a:t>paic</a:t>
            </a:r>
            <a:r>
              <a:rPr lang="en-US" dirty="0">
                <a:solidFill>
                  <a:schemeClr val="bg1"/>
                </a:solidFill>
              </a:rPr>
              <a:t>/pg6888/data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 97634  97627 17932 </a:t>
            </a:r>
            <a:r>
              <a:rPr lang="en-US" dirty="0" err="1">
                <a:solidFill>
                  <a:schemeClr val="bg1"/>
                </a:solidFill>
              </a:rPr>
              <a:t>postgres</a:t>
            </a:r>
            <a:r>
              <a:rPr lang="en-US" dirty="0">
                <a:solidFill>
                  <a:schemeClr val="bg1"/>
                </a:solidFill>
              </a:rPr>
              <a:t>: </a:t>
            </a:r>
            <a:r>
              <a:rPr lang="en-US" dirty="0" err="1">
                <a:solidFill>
                  <a:schemeClr val="bg1"/>
                </a:solidFill>
              </a:rPr>
              <a:t>lzlinst</a:t>
            </a:r>
            <a:r>
              <a:rPr lang="en-US" dirty="0">
                <a:solidFill>
                  <a:schemeClr val="bg1"/>
                </a:solidFill>
              </a:rPr>
              <a:t>: </a:t>
            </a:r>
            <a:r>
              <a:rPr lang="en-US" dirty="0" err="1">
                <a:solidFill>
                  <a:schemeClr val="bg1"/>
                </a:solidFill>
              </a:rPr>
              <a:t>walwriter</a:t>
            </a:r>
            <a:r>
              <a:rPr lang="en-US" dirty="0">
                <a:solidFill>
                  <a:schemeClr val="bg1"/>
                </a:solidFill>
              </a:rPr>
              <a:t>   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 97635  97627  2980 </a:t>
            </a:r>
            <a:r>
              <a:rPr lang="en-US" dirty="0" err="1">
                <a:solidFill>
                  <a:schemeClr val="bg1"/>
                </a:solidFill>
              </a:rPr>
              <a:t>postgres</a:t>
            </a:r>
            <a:r>
              <a:rPr lang="en-US" dirty="0">
                <a:solidFill>
                  <a:schemeClr val="bg1"/>
                </a:solidFill>
              </a:rPr>
              <a:t>: </a:t>
            </a:r>
            <a:r>
              <a:rPr lang="en-US" dirty="0" err="1">
                <a:solidFill>
                  <a:schemeClr val="bg1"/>
                </a:solidFill>
              </a:rPr>
              <a:t>lzlinst</a:t>
            </a:r>
            <a:r>
              <a:rPr lang="en-US" dirty="0">
                <a:solidFill>
                  <a:schemeClr val="bg1"/>
                </a:solidFill>
              </a:rPr>
              <a:t>: </a:t>
            </a:r>
            <a:r>
              <a:rPr lang="en-US" dirty="0" err="1">
                <a:solidFill>
                  <a:schemeClr val="bg1"/>
                </a:solidFill>
              </a:rPr>
              <a:t>autovacuum</a:t>
            </a:r>
            <a:r>
              <a:rPr lang="en-US" dirty="0">
                <a:solidFill>
                  <a:schemeClr val="bg1"/>
                </a:solidFill>
              </a:rPr>
              <a:t> launcher   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 97638  97627  2376 </a:t>
            </a:r>
            <a:r>
              <a:rPr lang="en-US" dirty="0" err="1">
                <a:solidFill>
                  <a:schemeClr val="bg1"/>
                </a:solidFill>
              </a:rPr>
              <a:t>postgres</a:t>
            </a:r>
            <a:r>
              <a:rPr lang="en-US" dirty="0">
                <a:solidFill>
                  <a:schemeClr val="bg1"/>
                </a:solidFill>
              </a:rPr>
              <a:t>: </a:t>
            </a:r>
            <a:r>
              <a:rPr lang="en-US" dirty="0" err="1">
                <a:solidFill>
                  <a:schemeClr val="bg1"/>
                </a:solidFill>
              </a:rPr>
              <a:t>lzlinst</a:t>
            </a:r>
            <a:r>
              <a:rPr lang="en-US" dirty="0">
                <a:solidFill>
                  <a:schemeClr val="bg1"/>
                </a:solidFill>
              </a:rPr>
              <a:t>: logical replication launcher   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 97630  97627  1592 </a:t>
            </a:r>
            <a:r>
              <a:rPr lang="en-US" dirty="0" err="1">
                <a:solidFill>
                  <a:schemeClr val="bg1"/>
                </a:solidFill>
              </a:rPr>
              <a:t>postgres</a:t>
            </a:r>
            <a:r>
              <a:rPr lang="en-US" dirty="0">
                <a:solidFill>
                  <a:schemeClr val="bg1"/>
                </a:solidFill>
              </a:rPr>
              <a:t>: </a:t>
            </a:r>
            <a:r>
              <a:rPr lang="en-US" dirty="0" err="1">
                <a:solidFill>
                  <a:schemeClr val="bg1"/>
                </a:solidFill>
              </a:rPr>
              <a:t>lzlinst</a:t>
            </a:r>
            <a:r>
              <a:rPr lang="en-US" dirty="0">
                <a:solidFill>
                  <a:schemeClr val="bg1"/>
                </a:solidFill>
              </a:rPr>
              <a:t>: logger   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70560" y="4604393"/>
            <a:ext cx="10849927" cy="17532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Open Sans"/>
              </a:rPr>
              <a:t>一般来说，</a:t>
            </a:r>
            <a:r>
              <a:rPr lang="en-US" dirty="0" err="1">
                <a:solidFill>
                  <a:schemeClr val="bg1"/>
                </a:solidFill>
                <a:latin typeface="Open Sans"/>
              </a:rPr>
              <a:t>pg</a:t>
            </a:r>
            <a:r>
              <a:rPr lang="en-US" dirty="0">
                <a:solidFill>
                  <a:schemeClr val="bg1"/>
                </a:solidFill>
                <a:latin typeface="Open Sans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Open Sans"/>
              </a:rPr>
              <a:t>rss</a:t>
            </a:r>
            <a:r>
              <a:rPr lang="zh-CN" altLang="en-US" dirty="0">
                <a:solidFill>
                  <a:schemeClr val="bg1"/>
                </a:solidFill>
                <a:latin typeface="Open Sans"/>
              </a:rPr>
              <a:t>值最多的是</a:t>
            </a:r>
            <a:r>
              <a:rPr lang="en-US" dirty="0" err="1">
                <a:solidFill>
                  <a:schemeClr val="bg1"/>
                </a:solidFill>
                <a:latin typeface="Open Sans"/>
              </a:rPr>
              <a:t>checkpointer</a:t>
            </a:r>
            <a:r>
              <a:rPr lang="zh-CN" altLang="en-US" dirty="0">
                <a:solidFill>
                  <a:schemeClr val="bg1"/>
                </a:solidFill>
                <a:latin typeface="Open Sans"/>
              </a:rPr>
              <a:t>和</a:t>
            </a:r>
            <a:r>
              <a:rPr lang="en-US" dirty="0" err="1">
                <a:solidFill>
                  <a:schemeClr val="bg1"/>
                </a:solidFill>
                <a:latin typeface="Open Sans"/>
              </a:rPr>
              <a:t>bgwriter</a:t>
            </a:r>
            <a:r>
              <a:rPr lang="zh-CN" altLang="en-US" dirty="0">
                <a:solidFill>
                  <a:schemeClr val="bg1"/>
                </a:solidFill>
                <a:latin typeface="Open Sans"/>
              </a:rPr>
              <a:t>进程，因为</a:t>
            </a:r>
            <a:r>
              <a:rPr lang="en-US" dirty="0" err="1">
                <a:solidFill>
                  <a:schemeClr val="bg1"/>
                </a:solidFill>
                <a:latin typeface="Open Sans"/>
              </a:rPr>
              <a:t>rss</a:t>
            </a:r>
            <a:r>
              <a:rPr lang="zh-CN" altLang="en-US" dirty="0">
                <a:solidFill>
                  <a:schemeClr val="bg1"/>
                </a:solidFill>
                <a:latin typeface="Open Sans"/>
              </a:rPr>
              <a:t>代表的真实使用的内存，含共享内存部分，这</a:t>
            </a:r>
            <a:r>
              <a:rPr lang="en-US" altLang="zh-CN" dirty="0">
                <a:solidFill>
                  <a:schemeClr val="bg1"/>
                </a:solidFill>
                <a:latin typeface="Open Sans"/>
              </a:rPr>
              <a:t>2</a:t>
            </a:r>
            <a:r>
              <a:rPr lang="zh-CN" altLang="en-US" dirty="0">
                <a:solidFill>
                  <a:schemeClr val="bg1"/>
                </a:solidFill>
                <a:latin typeface="Open Sans"/>
              </a:rPr>
              <a:t>个要刷</a:t>
            </a:r>
            <a:r>
              <a:rPr lang="en-US" dirty="0">
                <a:solidFill>
                  <a:schemeClr val="bg1"/>
                </a:solidFill>
                <a:latin typeface="Open Sans"/>
              </a:rPr>
              <a:t>shared buffer</a:t>
            </a:r>
            <a:r>
              <a:rPr lang="zh-CN" altLang="en-US" dirty="0">
                <a:solidFill>
                  <a:schemeClr val="bg1"/>
                </a:solidFill>
                <a:latin typeface="Open Sans"/>
              </a:rPr>
              <a:t>脏页的进程占用最多。也有查数据过多的</a:t>
            </a:r>
            <a:r>
              <a:rPr lang="en-US" dirty="0">
                <a:solidFill>
                  <a:schemeClr val="bg1"/>
                </a:solidFill>
                <a:latin typeface="Open Sans"/>
              </a:rPr>
              <a:t>backend</a:t>
            </a:r>
            <a:r>
              <a:rPr lang="zh-CN" altLang="en-US" dirty="0">
                <a:solidFill>
                  <a:schemeClr val="bg1"/>
                </a:solidFill>
                <a:latin typeface="Open Sans"/>
              </a:rPr>
              <a:t>也可能</a:t>
            </a:r>
            <a:r>
              <a:rPr lang="en-US" dirty="0" err="1">
                <a:solidFill>
                  <a:schemeClr val="bg1"/>
                </a:solidFill>
                <a:latin typeface="Open Sans"/>
              </a:rPr>
              <a:t>rss</a:t>
            </a:r>
            <a:r>
              <a:rPr lang="zh-CN" altLang="en-US" dirty="0">
                <a:solidFill>
                  <a:schemeClr val="bg1"/>
                </a:solidFill>
                <a:latin typeface="Open Sans"/>
              </a:rPr>
              <a:t>值较高，不过一般是抽数或者全表扫的慢</a:t>
            </a:r>
            <a:r>
              <a:rPr lang="en-US" dirty="0" err="1">
                <a:solidFill>
                  <a:schemeClr val="bg1"/>
                </a:solidFill>
                <a:latin typeface="Open Sans"/>
              </a:rPr>
              <a:t>sql</a:t>
            </a:r>
            <a:r>
              <a:rPr lang="zh-CN" altLang="en-US" dirty="0">
                <a:solidFill>
                  <a:schemeClr val="bg1"/>
                </a:solidFill>
                <a:latin typeface="Open Sans"/>
              </a:rPr>
              <a:t>导致。</a:t>
            </a:r>
            <a:endParaRPr lang="zh-CN" altLang="en-US" dirty="0">
              <a:solidFill>
                <a:schemeClr val="bg1"/>
              </a:solidFill>
              <a:latin typeface="Open Sans"/>
            </a:endParaRPr>
          </a:p>
          <a:p>
            <a:r>
              <a:rPr lang="en-US" dirty="0">
                <a:solidFill>
                  <a:schemeClr val="bg1"/>
                </a:solidFill>
                <a:latin typeface="Open Sans"/>
              </a:rPr>
              <a:t>postmaster</a:t>
            </a:r>
            <a:r>
              <a:rPr lang="zh-CN" altLang="en-US" dirty="0">
                <a:solidFill>
                  <a:schemeClr val="bg1"/>
                </a:solidFill>
                <a:latin typeface="Open Sans"/>
              </a:rPr>
              <a:t>为什么很少？</a:t>
            </a:r>
            <a:endParaRPr lang="zh-CN" altLang="en-US" dirty="0">
              <a:solidFill>
                <a:schemeClr val="bg1"/>
              </a:solidFill>
              <a:latin typeface="Open Sans"/>
            </a:endParaRPr>
          </a:p>
          <a:p>
            <a:r>
              <a:rPr lang="zh-CN" altLang="en-US" dirty="0">
                <a:solidFill>
                  <a:schemeClr val="bg1"/>
                </a:solidFill>
                <a:latin typeface="Open Sans"/>
              </a:rPr>
              <a:t>因为</a:t>
            </a:r>
            <a:r>
              <a:rPr lang="en-US" dirty="0">
                <a:solidFill>
                  <a:schemeClr val="bg1"/>
                </a:solidFill>
                <a:latin typeface="Open Sans"/>
              </a:rPr>
              <a:t>postmaster</a:t>
            </a:r>
            <a:r>
              <a:rPr lang="zh-CN" altLang="en-US" dirty="0">
                <a:solidFill>
                  <a:schemeClr val="bg1"/>
                </a:solidFill>
                <a:latin typeface="Open Sans"/>
              </a:rPr>
              <a:t>本身不需要做太多</a:t>
            </a:r>
            <a:r>
              <a:rPr lang="en-US" dirty="0" err="1">
                <a:solidFill>
                  <a:schemeClr val="bg1"/>
                </a:solidFill>
                <a:latin typeface="Open Sans"/>
              </a:rPr>
              <a:t>shared_buffer</a:t>
            </a:r>
            <a:r>
              <a:rPr lang="zh-CN" altLang="en-US" dirty="0">
                <a:solidFill>
                  <a:schemeClr val="bg1"/>
                </a:solidFill>
                <a:latin typeface="Open Sans"/>
              </a:rPr>
              <a:t>的操作，它只需要把共享内存的虚拟地址开辟下来，</a:t>
            </a:r>
            <a:r>
              <a:rPr lang="en-US" dirty="0">
                <a:solidFill>
                  <a:schemeClr val="bg1"/>
                </a:solidFill>
                <a:latin typeface="Open Sans"/>
              </a:rPr>
              <a:t>fork</a:t>
            </a:r>
            <a:r>
              <a:rPr lang="zh-CN" altLang="en-US" dirty="0">
                <a:solidFill>
                  <a:schemeClr val="bg1"/>
                </a:solidFill>
                <a:latin typeface="Open Sans"/>
              </a:rPr>
              <a:t>给其他进程用即可。</a:t>
            </a:r>
            <a:endParaRPr lang="zh-CN" altLang="en-US" b="0" i="0" u="none" strike="noStrike" dirty="0">
              <a:solidFill>
                <a:schemeClr val="bg1"/>
              </a:solidFill>
              <a:effectLst/>
              <a:latin typeface="Open Sans"/>
            </a:endParaRPr>
          </a:p>
        </p:txBody>
      </p:sp>
      <p:pic>
        <p:nvPicPr>
          <p:cNvPr id="7" name="图片 4" descr="未标题-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287655"/>
            <a:ext cx="1737995" cy="74676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9228455" y="716915"/>
            <a:ext cx="294386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120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开源生态大会暨</a:t>
            </a:r>
            <a:r>
              <a:rPr lang="en-US" altLang="zh-CN" sz="120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PostgreSQL</a:t>
            </a:r>
            <a:r>
              <a:rPr lang="zh-CN" altLang="en-US" sz="120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高峰论坛</a:t>
            </a:r>
            <a:endParaRPr lang="zh-CN" altLang="en-US" sz="1200" b="1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9207500" y="348615"/>
            <a:ext cx="2863215" cy="3835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9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以开源之道</a:t>
            </a:r>
            <a:r>
              <a:rPr lang="en-US" altLang="zh-CN" sz="19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·</a:t>
            </a:r>
            <a:r>
              <a:rPr lang="zh-CN" altLang="en-US" sz="19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见致远之志</a:t>
            </a:r>
            <a:endParaRPr lang="zh-CN" altLang="en-US" sz="1900">
              <a:solidFill>
                <a:schemeClr val="bg1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sp>
        <p:nvSpPr>
          <p:cNvPr id="40" name="文本框 4"/>
          <p:cNvSpPr txBox="1"/>
          <p:nvPr/>
        </p:nvSpPr>
        <p:spPr>
          <a:xfrm>
            <a:off x="447040" y="1184275"/>
            <a:ext cx="94710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dirty="0" err="1">
                <a:solidFill>
                  <a:schemeClr val="bg1"/>
                </a:solidFill>
                <a:sym typeface="+mn-ea"/>
              </a:rPr>
              <a:t>cgmem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-cg </a:t>
            </a:r>
            <a:r>
              <a:rPr lang="en-US" altLang="zh-CN" sz="2000" dirty="0" err="1">
                <a:solidFill>
                  <a:schemeClr val="bg1"/>
                </a:solidFill>
                <a:sym typeface="+mn-ea"/>
              </a:rPr>
              <a:t>rss</a:t>
            </a:r>
            <a:r>
              <a:rPr lang="zh-CN" altLang="en-US" sz="2000" dirty="0">
                <a:solidFill>
                  <a:schemeClr val="bg1"/>
                </a:solidFill>
                <a:sym typeface="+mn-ea"/>
              </a:rPr>
              <a:t>和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process</a:t>
            </a:r>
            <a:r>
              <a:rPr lang="zh-CN" altLang="en-US" sz="2000" dirty="0">
                <a:solidFill>
                  <a:schemeClr val="bg1"/>
                </a:solidFill>
                <a:sym typeface="+mn-ea"/>
              </a:rPr>
              <a:t> </a:t>
            </a:r>
            <a:r>
              <a:rPr lang="en-US" altLang="zh-CN" sz="2000" dirty="0" err="1">
                <a:solidFill>
                  <a:schemeClr val="bg1"/>
                </a:solidFill>
                <a:sym typeface="+mn-ea"/>
              </a:rPr>
              <a:t>rss</a:t>
            </a:r>
            <a:r>
              <a:rPr lang="zh-CN" altLang="en-US" sz="2000" dirty="0">
                <a:solidFill>
                  <a:schemeClr val="bg1"/>
                </a:solidFill>
                <a:sym typeface="+mn-ea"/>
              </a:rPr>
              <a:t>的差异</a:t>
            </a:r>
            <a:endParaRPr lang="zh-CN" altLang="en-US" sz="2000" dirty="0">
              <a:solidFill>
                <a:schemeClr val="bg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533401" y="1588235"/>
            <a:ext cx="10987085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$ cat /proc/97632/</a:t>
            </a:r>
            <a:r>
              <a:rPr lang="en-US" dirty="0" err="1">
                <a:solidFill>
                  <a:schemeClr val="bg1"/>
                </a:solidFill>
              </a:rPr>
              <a:t>smaps</a:t>
            </a:r>
            <a:r>
              <a:rPr lang="en-US" dirty="0">
                <a:solidFill>
                  <a:schemeClr val="bg1"/>
                </a:solidFill>
              </a:rPr>
              <a:t> |grep -A 3 "zero" #</a:t>
            </a:r>
            <a:r>
              <a:rPr lang="en-US" dirty="0" err="1">
                <a:solidFill>
                  <a:schemeClr val="bg1"/>
                </a:solidFill>
              </a:rPr>
              <a:t>checkpointer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2b4fd87cf000-2b60a2143000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rw</a:t>
            </a:r>
            <a:r>
              <a:rPr lang="en-US" dirty="0">
                <a:solidFill>
                  <a:schemeClr val="bg1"/>
                </a:solidFill>
              </a:rPr>
              <a:t>-s 00000000 00:04 15925397                   /dev/zero (deleted)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Size:           70411728 kB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 err="1">
                <a:solidFill>
                  <a:srgbClr val="FFFF00"/>
                </a:solidFill>
              </a:rPr>
              <a:t>Rss</a:t>
            </a:r>
            <a:r>
              <a:rPr lang="en-US" dirty="0">
                <a:solidFill>
                  <a:srgbClr val="FFFF00"/>
                </a:solidFill>
              </a:rPr>
              <a:t>:            61087812 kB</a:t>
            </a:r>
            <a:endParaRPr lang="en-US" dirty="0">
              <a:solidFill>
                <a:srgbClr val="FFFF00"/>
              </a:solidFill>
            </a:endParaRPr>
          </a:p>
          <a:p>
            <a:r>
              <a:rPr lang="en-US" dirty="0" err="1">
                <a:solidFill>
                  <a:schemeClr val="bg1"/>
                </a:solidFill>
              </a:rPr>
              <a:t>Pss</a:t>
            </a:r>
            <a:r>
              <a:rPr lang="en-US" dirty="0">
                <a:solidFill>
                  <a:schemeClr val="bg1"/>
                </a:solidFill>
              </a:rPr>
              <a:t>:            31429895 kB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$ cat /proc/97633/</a:t>
            </a:r>
            <a:r>
              <a:rPr lang="en-US" dirty="0" err="1">
                <a:solidFill>
                  <a:schemeClr val="bg1"/>
                </a:solidFill>
              </a:rPr>
              <a:t>smaps</a:t>
            </a:r>
            <a:r>
              <a:rPr lang="en-US" dirty="0">
                <a:solidFill>
                  <a:schemeClr val="bg1"/>
                </a:solidFill>
              </a:rPr>
              <a:t> |grep -A 3 "zero" #</a:t>
            </a:r>
            <a:r>
              <a:rPr lang="en-US" dirty="0" err="1">
                <a:solidFill>
                  <a:schemeClr val="bg1"/>
                </a:solidFill>
              </a:rPr>
              <a:t>bgwriter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2b4fd87cf000-2b60a2143000 </a:t>
            </a:r>
            <a:r>
              <a:rPr lang="en-US" dirty="0" err="1">
                <a:solidFill>
                  <a:schemeClr val="bg1"/>
                </a:solidFill>
              </a:rPr>
              <a:t>rw</a:t>
            </a:r>
            <a:r>
              <a:rPr lang="en-US" dirty="0">
                <a:solidFill>
                  <a:schemeClr val="bg1"/>
                </a:solidFill>
              </a:rPr>
              <a:t>-s 00000000 00:04 15925397                   /dev/zero (deleted)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Size:           70411728 kB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 err="1">
                <a:solidFill>
                  <a:srgbClr val="FFFF00"/>
                </a:solidFill>
              </a:rPr>
              <a:t>Rss</a:t>
            </a:r>
            <a:r>
              <a:rPr lang="en-US" dirty="0">
                <a:solidFill>
                  <a:srgbClr val="FFFF00"/>
                </a:solidFill>
              </a:rPr>
              <a:t>:            59043388 kB</a:t>
            </a:r>
            <a:endParaRPr lang="en-US" dirty="0">
              <a:solidFill>
                <a:srgbClr val="FFFF00"/>
              </a:solidFill>
            </a:endParaRPr>
          </a:p>
          <a:p>
            <a:r>
              <a:rPr lang="en-US" dirty="0" err="1">
                <a:solidFill>
                  <a:schemeClr val="bg1"/>
                </a:solidFill>
              </a:rPr>
              <a:t>Pss</a:t>
            </a:r>
            <a:r>
              <a:rPr lang="en-US" dirty="0">
                <a:solidFill>
                  <a:schemeClr val="bg1"/>
                </a:solidFill>
              </a:rPr>
              <a:t>:            29394787 kB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$ cat /proc/97627/</a:t>
            </a:r>
            <a:r>
              <a:rPr lang="en-US" dirty="0" err="1">
                <a:solidFill>
                  <a:schemeClr val="bg1"/>
                </a:solidFill>
              </a:rPr>
              <a:t>smaps</a:t>
            </a:r>
            <a:r>
              <a:rPr lang="en-US" dirty="0">
                <a:solidFill>
                  <a:schemeClr val="bg1"/>
                </a:solidFill>
              </a:rPr>
              <a:t> |grep -A 3 "zero" #postmaster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2b4fd87cf000-2b60a2143000 </a:t>
            </a:r>
            <a:r>
              <a:rPr lang="en-US" dirty="0" err="1">
                <a:solidFill>
                  <a:schemeClr val="bg1"/>
                </a:solidFill>
              </a:rPr>
              <a:t>rw</a:t>
            </a:r>
            <a:r>
              <a:rPr lang="en-US" dirty="0">
                <a:solidFill>
                  <a:schemeClr val="bg1"/>
                </a:solidFill>
              </a:rPr>
              <a:t>-s 00000000 00:04 15925397                   /dev/zero (deleted)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Size:           70411728 kB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 err="1">
                <a:solidFill>
                  <a:srgbClr val="FFFF00"/>
                </a:solidFill>
              </a:rPr>
              <a:t>Rss</a:t>
            </a:r>
            <a:r>
              <a:rPr lang="en-US" dirty="0">
                <a:solidFill>
                  <a:srgbClr val="FFFF00"/>
                </a:solidFill>
              </a:rPr>
              <a:t>:             2318408 kB</a:t>
            </a:r>
            <a:endParaRPr lang="en-US" dirty="0">
              <a:solidFill>
                <a:srgbClr val="FFFF00"/>
              </a:solidFill>
            </a:endParaRPr>
          </a:p>
          <a:p>
            <a:r>
              <a:rPr lang="en-US" dirty="0" err="1">
                <a:solidFill>
                  <a:schemeClr val="bg1"/>
                </a:solidFill>
              </a:rPr>
              <a:t>Pss</a:t>
            </a:r>
            <a:r>
              <a:rPr lang="en-US" dirty="0">
                <a:solidFill>
                  <a:schemeClr val="bg1"/>
                </a:solidFill>
              </a:rPr>
              <a:t>:             1741764 kB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33401" y="6012817"/>
            <a:ext cx="8809355" cy="6451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Open Sans"/>
              </a:rPr>
              <a:t>pm</a:t>
            </a:r>
            <a:r>
              <a:rPr lang="zh-CN" altLang="en-US" dirty="0">
                <a:solidFill>
                  <a:schemeClr val="bg1"/>
                </a:solidFill>
                <a:latin typeface="Open Sans"/>
              </a:rPr>
              <a:t>的子进程的共享内存地址是相同的，</a:t>
            </a:r>
            <a:r>
              <a:rPr lang="en-US" dirty="0" err="1">
                <a:solidFill>
                  <a:schemeClr val="bg1"/>
                </a:solidFill>
                <a:latin typeface="Open Sans"/>
              </a:rPr>
              <a:t>rss</a:t>
            </a:r>
            <a:r>
              <a:rPr lang="zh-CN" altLang="en-US" dirty="0">
                <a:solidFill>
                  <a:schemeClr val="bg1"/>
                </a:solidFill>
                <a:latin typeface="Open Sans"/>
              </a:rPr>
              <a:t>就不一定了。</a:t>
            </a:r>
            <a:endParaRPr lang="zh-CN" altLang="en-US" dirty="0">
              <a:solidFill>
                <a:schemeClr val="bg1"/>
              </a:solidFill>
              <a:latin typeface="Open Sans"/>
            </a:endParaRPr>
          </a:p>
          <a:p>
            <a:r>
              <a:rPr lang="zh-CN" altLang="en-US" dirty="0">
                <a:solidFill>
                  <a:schemeClr val="bg1"/>
                </a:solidFill>
                <a:latin typeface="Open Sans"/>
              </a:rPr>
              <a:t>因为虚拟内存地址都是</a:t>
            </a:r>
            <a:r>
              <a:rPr lang="en-US" altLang="zh-CN" dirty="0">
                <a:solidFill>
                  <a:schemeClr val="bg1"/>
                </a:solidFill>
                <a:latin typeface="Open Sans"/>
              </a:rPr>
              <a:t>fork</a:t>
            </a:r>
            <a:r>
              <a:rPr lang="zh-CN" altLang="en-US" dirty="0">
                <a:solidFill>
                  <a:schemeClr val="bg1"/>
                </a:solidFill>
                <a:latin typeface="Open Sans"/>
              </a:rPr>
              <a:t>出来跟父进程是一致的，但</a:t>
            </a:r>
            <a:r>
              <a:rPr lang="en-US" altLang="zh-CN" dirty="0">
                <a:solidFill>
                  <a:schemeClr val="bg1"/>
                </a:solidFill>
                <a:latin typeface="Open Sans"/>
              </a:rPr>
              <a:t>RSS</a:t>
            </a:r>
            <a:r>
              <a:rPr lang="zh-CN" altLang="en-US" dirty="0">
                <a:solidFill>
                  <a:schemeClr val="bg1"/>
                </a:solidFill>
                <a:latin typeface="Open Sans"/>
              </a:rPr>
              <a:t>是实际使用的物理内存</a:t>
            </a:r>
            <a:r>
              <a:rPr lang="zh-CN" altLang="en-US" dirty="0">
                <a:solidFill>
                  <a:schemeClr val="bg1"/>
                </a:solidFill>
                <a:latin typeface="Open Sans"/>
              </a:rPr>
              <a:t>大小</a:t>
            </a:r>
            <a:endParaRPr lang="zh-CN" altLang="en-US" dirty="0">
              <a:solidFill>
                <a:schemeClr val="bg1"/>
              </a:solidFill>
              <a:latin typeface="Open Sans"/>
            </a:endParaRPr>
          </a:p>
        </p:txBody>
      </p:sp>
      <p:pic>
        <p:nvPicPr>
          <p:cNvPr id="6" name="图片 4" descr="未标题-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287655"/>
            <a:ext cx="1737995" cy="74676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9228455" y="716915"/>
            <a:ext cx="294386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120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开源生态大会暨</a:t>
            </a:r>
            <a:r>
              <a:rPr lang="en-US" altLang="zh-CN" sz="120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PostgreSQL</a:t>
            </a:r>
            <a:r>
              <a:rPr lang="zh-CN" altLang="en-US" sz="120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高峰论坛</a:t>
            </a:r>
            <a:endParaRPr lang="zh-CN" altLang="en-US" sz="1200" b="1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9207500" y="348615"/>
            <a:ext cx="2863215" cy="3835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9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以开源之道</a:t>
            </a:r>
            <a:r>
              <a:rPr lang="en-US" altLang="zh-CN" sz="19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·</a:t>
            </a:r>
            <a:r>
              <a:rPr lang="zh-CN" altLang="en-US" sz="19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见致远之志</a:t>
            </a:r>
            <a:endParaRPr lang="zh-CN" altLang="en-US" sz="1900">
              <a:solidFill>
                <a:schemeClr val="bg1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sp>
        <p:nvSpPr>
          <p:cNvPr id="40" name="文本框 4"/>
          <p:cNvSpPr txBox="1"/>
          <p:nvPr/>
        </p:nvSpPr>
        <p:spPr>
          <a:xfrm>
            <a:off x="447040" y="1184275"/>
            <a:ext cx="94710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dirty="0" err="1">
                <a:solidFill>
                  <a:schemeClr val="bg1"/>
                </a:solidFill>
                <a:sym typeface="+mn-ea"/>
              </a:rPr>
              <a:t>cgmem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-cg </a:t>
            </a:r>
            <a:r>
              <a:rPr lang="en-US" altLang="zh-CN" sz="2000" dirty="0" err="1">
                <a:solidFill>
                  <a:schemeClr val="bg1"/>
                </a:solidFill>
                <a:sym typeface="+mn-ea"/>
              </a:rPr>
              <a:t>rss</a:t>
            </a:r>
            <a:r>
              <a:rPr lang="zh-CN" altLang="en-US" sz="2000" dirty="0">
                <a:solidFill>
                  <a:schemeClr val="bg1"/>
                </a:solidFill>
                <a:sym typeface="+mn-ea"/>
              </a:rPr>
              <a:t>和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process</a:t>
            </a:r>
            <a:r>
              <a:rPr lang="zh-CN" altLang="en-US" sz="2000" dirty="0">
                <a:solidFill>
                  <a:schemeClr val="bg1"/>
                </a:solidFill>
                <a:sym typeface="+mn-ea"/>
              </a:rPr>
              <a:t> </a:t>
            </a:r>
            <a:r>
              <a:rPr lang="en-US" altLang="zh-CN" sz="2000" dirty="0" err="1">
                <a:solidFill>
                  <a:schemeClr val="bg1"/>
                </a:solidFill>
                <a:sym typeface="+mn-ea"/>
              </a:rPr>
              <a:t>rss</a:t>
            </a:r>
            <a:r>
              <a:rPr lang="zh-CN" altLang="en-US" sz="2000" dirty="0">
                <a:solidFill>
                  <a:schemeClr val="bg1"/>
                </a:solidFill>
                <a:sym typeface="+mn-ea"/>
              </a:rPr>
              <a:t>的差异</a:t>
            </a:r>
            <a:endParaRPr lang="zh-CN" altLang="en-US" sz="2000" dirty="0">
              <a:solidFill>
                <a:schemeClr val="bg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645597" y="1700460"/>
            <a:ext cx="10874890" cy="39693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Open Sans"/>
                <a:sym typeface="+mn-ea"/>
              </a:rPr>
              <a:t>前面看到，</a:t>
            </a:r>
            <a:r>
              <a:rPr lang="en-US" altLang="zh-CN" dirty="0" err="1">
                <a:solidFill>
                  <a:schemeClr val="bg1"/>
                </a:solidFill>
                <a:latin typeface="Open Sans"/>
                <a:sym typeface="+mn-ea"/>
              </a:rPr>
              <a:t>ckpt</a:t>
            </a:r>
            <a:r>
              <a:rPr lang="zh-CN" altLang="en-US" dirty="0">
                <a:solidFill>
                  <a:schemeClr val="bg1"/>
                </a:solidFill>
                <a:latin typeface="Open Sans"/>
                <a:sym typeface="+mn-ea"/>
              </a:rPr>
              <a:t>和</a:t>
            </a:r>
            <a:r>
              <a:rPr lang="en-US" altLang="zh-CN" dirty="0" err="1">
                <a:solidFill>
                  <a:schemeClr val="bg1"/>
                </a:solidFill>
                <a:latin typeface="Open Sans"/>
                <a:sym typeface="+mn-ea"/>
              </a:rPr>
              <a:t>bgwrite</a:t>
            </a:r>
            <a:r>
              <a:rPr lang="zh-CN" altLang="en-US" dirty="0">
                <a:solidFill>
                  <a:schemeClr val="bg1"/>
                </a:solidFill>
                <a:latin typeface="Open Sans"/>
                <a:sym typeface="+mn-ea"/>
              </a:rPr>
              <a:t>的</a:t>
            </a:r>
            <a:r>
              <a:rPr lang="en-US" altLang="zh-CN" dirty="0" err="1">
                <a:solidFill>
                  <a:schemeClr val="bg1"/>
                </a:solidFill>
                <a:latin typeface="Open Sans"/>
                <a:sym typeface="+mn-ea"/>
              </a:rPr>
              <a:t>rss</a:t>
            </a:r>
            <a:r>
              <a:rPr lang="zh-CN" altLang="en-US" dirty="0">
                <a:solidFill>
                  <a:schemeClr val="bg1"/>
                </a:solidFill>
                <a:latin typeface="Open Sans"/>
                <a:sym typeface="+mn-ea"/>
              </a:rPr>
              <a:t>都有</a:t>
            </a:r>
            <a:r>
              <a:rPr lang="en-US" altLang="zh-CN" dirty="0">
                <a:solidFill>
                  <a:schemeClr val="bg1"/>
                </a:solidFill>
                <a:latin typeface="Open Sans"/>
                <a:sym typeface="+mn-ea"/>
              </a:rPr>
              <a:t>60GB</a:t>
            </a:r>
            <a:r>
              <a:rPr lang="zh-CN" altLang="en-US" dirty="0">
                <a:solidFill>
                  <a:schemeClr val="bg1"/>
                </a:solidFill>
                <a:latin typeface="Open Sans"/>
                <a:sym typeface="+mn-ea"/>
              </a:rPr>
              <a:t>了，但是，</a:t>
            </a:r>
            <a:r>
              <a:rPr lang="en-US" dirty="0" err="1">
                <a:solidFill>
                  <a:schemeClr val="bg1"/>
                </a:solidFill>
                <a:latin typeface="Open Sans"/>
                <a:sym typeface="+mn-ea"/>
              </a:rPr>
              <a:t>cgroup</a:t>
            </a:r>
            <a:r>
              <a:rPr lang="zh-CN" altLang="en-US" dirty="0">
                <a:solidFill>
                  <a:schemeClr val="bg1"/>
                </a:solidFill>
                <a:latin typeface="Open Sans"/>
                <a:sym typeface="+mn-ea"/>
              </a:rPr>
              <a:t>中的</a:t>
            </a:r>
            <a:r>
              <a:rPr lang="en-US" dirty="0" err="1">
                <a:solidFill>
                  <a:schemeClr val="bg1"/>
                </a:solidFill>
                <a:latin typeface="Open Sans"/>
                <a:sym typeface="+mn-ea"/>
              </a:rPr>
              <a:t>rss</a:t>
            </a:r>
            <a:r>
              <a:rPr lang="zh-CN" altLang="en-US" dirty="0">
                <a:solidFill>
                  <a:schemeClr val="bg1"/>
                </a:solidFill>
                <a:latin typeface="Open Sans"/>
                <a:sym typeface="+mn-ea"/>
              </a:rPr>
              <a:t>只有几十</a:t>
            </a:r>
            <a:r>
              <a:rPr lang="en-US" dirty="0">
                <a:solidFill>
                  <a:schemeClr val="bg1"/>
                </a:solidFill>
                <a:latin typeface="Open Sans"/>
                <a:sym typeface="+mn-ea"/>
              </a:rPr>
              <a:t>MB，</a:t>
            </a:r>
            <a:r>
              <a:rPr lang="zh-CN" altLang="en-US" dirty="0">
                <a:solidFill>
                  <a:schemeClr val="bg1"/>
                </a:solidFill>
                <a:latin typeface="Open Sans"/>
                <a:sym typeface="+mn-ea"/>
              </a:rPr>
              <a:t>远小于进程的</a:t>
            </a:r>
            <a:r>
              <a:rPr lang="en-US" dirty="0" err="1">
                <a:solidFill>
                  <a:schemeClr val="bg1"/>
                </a:solidFill>
                <a:latin typeface="Open Sans"/>
                <a:sym typeface="+mn-ea"/>
              </a:rPr>
              <a:t>rss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cat /sys/fs/</a:t>
            </a:r>
            <a:r>
              <a:rPr lang="en-US" dirty="0" err="1">
                <a:solidFill>
                  <a:schemeClr val="bg1"/>
                </a:solidFill>
              </a:rPr>
              <a:t>cgroup</a:t>
            </a:r>
            <a:r>
              <a:rPr lang="en-US" dirty="0">
                <a:solidFill>
                  <a:schemeClr val="bg1"/>
                </a:solidFill>
              </a:rPr>
              <a:t>/memory/</a:t>
            </a:r>
            <a:r>
              <a:rPr lang="en-US" dirty="0" err="1">
                <a:solidFill>
                  <a:schemeClr val="bg1"/>
                </a:solidFill>
              </a:rPr>
              <a:t>lzlinst</a:t>
            </a:r>
            <a:r>
              <a:rPr lang="en-US" dirty="0">
                <a:solidFill>
                  <a:schemeClr val="bg1"/>
                </a:solidFill>
              </a:rPr>
              <a:t>/</a:t>
            </a:r>
            <a:r>
              <a:rPr lang="en-US" dirty="0" err="1">
                <a:solidFill>
                  <a:schemeClr val="bg1"/>
                </a:solidFill>
              </a:rPr>
              <a:t>memory.stat</a:t>
            </a:r>
            <a:r>
              <a:rPr lang="en-US" dirty="0">
                <a:solidFill>
                  <a:schemeClr val="bg1"/>
                </a:solidFill>
              </a:rPr>
              <a:t> |</a:t>
            </a:r>
            <a:r>
              <a:rPr lang="en-US" dirty="0" err="1">
                <a:solidFill>
                  <a:schemeClr val="bg1"/>
                </a:solidFill>
              </a:rPr>
              <a:t>egrep</a:t>
            </a:r>
            <a:r>
              <a:rPr lang="en-US" dirty="0">
                <a:solidFill>
                  <a:schemeClr val="bg1"/>
                </a:solidFill>
              </a:rPr>
              <a:t> -w "</a:t>
            </a:r>
            <a:r>
              <a:rPr lang="en-US" dirty="0" err="1">
                <a:solidFill>
                  <a:schemeClr val="bg1"/>
                </a:solidFill>
              </a:rPr>
              <a:t>rss|mapped_file</a:t>
            </a:r>
            <a:r>
              <a:rPr lang="en-US" dirty="0">
                <a:solidFill>
                  <a:schemeClr val="bg1"/>
                </a:solidFill>
              </a:rPr>
              <a:t>"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 err="1">
                <a:solidFill>
                  <a:srgbClr val="FFFF00"/>
                </a:solidFill>
              </a:rPr>
              <a:t>rss</a:t>
            </a:r>
            <a:r>
              <a:rPr lang="en-US" dirty="0">
                <a:solidFill>
                  <a:srgbClr val="FFFF00"/>
                </a:solidFill>
              </a:rPr>
              <a:t> </a:t>
            </a:r>
            <a:r>
              <a:rPr lang="en-US" b="1" dirty="0">
                <a:solidFill>
                  <a:srgbClr val="FFFF00"/>
                </a:solidFill>
                <a:latin typeface="Arial Bold" panose="020B0604020202090204" charset="0"/>
                <a:cs typeface="Arial Bold" panose="020B0604020202090204" charset="0"/>
              </a:rPr>
              <a:t>88997888  --80MB</a:t>
            </a:r>
            <a:endParaRPr lang="en-US" dirty="0">
              <a:solidFill>
                <a:srgbClr val="FFFF00"/>
              </a:solidFill>
            </a:endParaRPr>
          </a:p>
          <a:p>
            <a:r>
              <a:rPr lang="en-US" dirty="0" err="1">
                <a:solidFill>
                  <a:schemeClr val="bg1"/>
                </a:solidFill>
              </a:rPr>
              <a:t>mapped_file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b="1" dirty="0">
                <a:solidFill>
                  <a:schemeClr val="bg1"/>
                </a:solidFill>
                <a:latin typeface="Arial Bold" panose="020B0604020202090204" charset="0"/>
                <a:cs typeface="Arial Bold" panose="020B0604020202090204" charset="0"/>
              </a:rPr>
              <a:t>52963262464  --50GB  </a:t>
            </a:r>
            <a:endParaRPr lang="en-US" b="1" dirty="0">
              <a:solidFill>
                <a:schemeClr val="bg1"/>
              </a:solidFill>
              <a:latin typeface="Arial Bold" panose="020B0604020202090204" charset="0"/>
              <a:cs typeface="Arial Bold" panose="020B0604020202090204" charset="0"/>
            </a:endParaRPr>
          </a:p>
          <a:p>
            <a:r>
              <a:rPr lang="en-US" b="1" dirty="0" err="1">
                <a:solidFill>
                  <a:srgbClr val="FFFF00"/>
                </a:solidFill>
                <a:latin typeface="Open Sans"/>
                <a:sym typeface="+mn-ea"/>
              </a:rPr>
              <a:t>pg</a:t>
            </a:r>
            <a:r>
              <a:rPr lang="zh-CN" altLang="en-US" b="1" dirty="0">
                <a:solidFill>
                  <a:srgbClr val="FFFF00"/>
                </a:solidFill>
                <a:latin typeface="Open Sans"/>
                <a:sym typeface="+mn-ea"/>
              </a:rPr>
              <a:t>共享内存没有在</a:t>
            </a:r>
            <a:r>
              <a:rPr lang="en-US" b="1" dirty="0" err="1">
                <a:solidFill>
                  <a:srgbClr val="FFFF00"/>
                </a:solidFill>
                <a:latin typeface="Open Sans"/>
                <a:sym typeface="+mn-ea"/>
              </a:rPr>
              <a:t>cgroup</a:t>
            </a:r>
            <a:r>
              <a:rPr lang="en-US" b="1" dirty="0">
                <a:solidFill>
                  <a:srgbClr val="FFFF00"/>
                </a:solidFill>
                <a:latin typeface="Open Sans"/>
                <a:sym typeface="+mn-ea"/>
              </a:rPr>
              <a:t> stat </a:t>
            </a:r>
            <a:r>
              <a:rPr lang="en-US" b="1" dirty="0" err="1">
                <a:solidFill>
                  <a:srgbClr val="FFFF00"/>
                </a:solidFill>
                <a:latin typeface="Open Sans"/>
                <a:sym typeface="+mn-ea"/>
              </a:rPr>
              <a:t>rss</a:t>
            </a:r>
            <a:r>
              <a:rPr lang="zh-CN" altLang="en-US" b="1" dirty="0">
                <a:solidFill>
                  <a:srgbClr val="FFFF00"/>
                </a:solidFill>
                <a:latin typeface="Open Sans"/>
                <a:sym typeface="+mn-ea"/>
              </a:rPr>
              <a:t>的统计中，</a:t>
            </a:r>
            <a:r>
              <a:rPr lang="en-US" b="1" dirty="0" err="1">
                <a:solidFill>
                  <a:srgbClr val="FFFF00"/>
                </a:solidFill>
                <a:latin typeface="Open Sans"/>
                <a:sym typeface="+mn-ea"/>
              </a:rPr>
              <a:t>cgroup</a:t>
            </a:r>
            <a:r>
              <a:rPr lang="zh-CN" altLang="en-US" b="1" dirty="0">
                <a:solidFill>
                  <a:srgbClr val="FFFF00"/>
                </a:solidFill>
                <a:latin typeface="Open Sans"/>
                <a:sym typeface="+mn-ea"/>
              </a:rPr>
              <a:t>的</a:t>
            </a:r>
            <a:r>
              <a:rPr lang="en-US" b="1" dirty="0" err="1">
                <a:solidFill>
                  <a:srgbClr val="FFFF00"/>
                </a:solidFill>
                <a:latin typeface="Open Sans"/>
                <a:sym typeface="+mn-ea"/>
              </a:rPr>
              <a:t>rss</a:t>
            </a:r>
            <a:r>
              <a:rPr lang="zh-CN" altLang="en-US" b="1" dirty="0">
                <a:solidFill>
                  <a:srgbClr val="FFFF00"/>
                </a:solidFill>
                <a:latin typeface="Open Sans"/>
                <a:sym typeface="+mn-ea"/>
              </a:rPr>
              <a:t>没有计算</a:t>
            </a:r>
            <a:r>
              <a:rPr lang="en-US" b="1" dirty="0">
                <a:solidFill>
                  <a:srgbClr val="FFFF00"/>
                </a:solidFill>
                <a:latin typeface="Open Sans"/>
                <a:sym typeface="+mn-ea"/>
              </a:rPr>
              <a:t>file page</a:t>
            </a:r>
            <a:r>
              <a:rPr lang="zh-CN" altLang="en-US" b="1" dirty="0">
                <a:solidFill>
                  <a:srgbClr val="FFFF00"/>
                </a:solidFill>
                <a:latin typeface="Open Sans"/>
                <a:sym typeface="+mn-ea"/>
              </a:rPr>
              <a:t>以及</a:t>
            </a:r>
            <a:r>
              <a:rPr lang="en-US" b="1" dirty="0">
                <a:solidFill>
                  <a:srgbClr val="FFFF00"/>
                </a:solidFill>
                <a:latin typeface="Open Sans"/>
                <a:sym typeface="+mn-ea"/>
              </a:rPr>
              <a:t>shared file </a:t>
            </a:r>
            <a:r>
              <a:rPr lang="en-US" b="1" dirty="0" err="1">
                <a:solidFill>
                  <a:srgbClr val="FFFF00"/>
                </a:solidFill>
                <a:latin typeface="Open Sans"/>
                <a:sym typeface="+mn-ea"/>
              </a:rPr>
              <a:t>page。cg</a:t>
            </a:r>
            <a:r>
              <a:rPr lang="zh-CN" altLang="en-US" b="1" dirty="0">
                <a:solidFill>
                  <a:srgbClr val="FFFF00"/>
                </a:solidFill>
                <a:latin typeface="Open Sans"/>
                <a:sym typeface="+mn-ea"/>
              </a:rPr>
              <a:t>把</a:t>
            </a:r>
            <a:r>
              <a:rPr lang="en-US" b="1" dirty="0" err="1">
                <a:solidFill>
                  <a:srgbClr val="FFFF00"/>
                </a:solidFill>
                <a:latin typeface="Open Sans"/>
                <a:sym typeface="+mn-ea"/>
              </a:rPr>
              <a:t>pg</a:t>
            </a:r>
            <a:r>
              <a:rPr lang="en-US" b="1" dirty="0">
                <a:solidFill>
                  <a:srgbClr val="FFFF00"/>
                </a:solidFill>
                <a:latin typeface="Open Sans"/>
                <a:sym typeface="+mn-ea"/>
              </a:rPr>
              <a:t> </a:t>
            </a:r>
            <a:r>
              <a:rPr lang="en-US" b="1" dirty="0" err="1">
                <a:solidFill>
                  <a:srgbClr val="FFFF00"/>
                </a:solidFill>
                <a:latin typeface="Open Sans"/>
                <a:sym typeface="+mn-ea"/>
              </a:rPr>
              <a:t>mmap</a:t>
            </a:r>
            <a:r>
              <a:rPr lang="zh-CN" altLang="en-US" b="1" dirty="0">
                <a:solidFill>
                  <a:srgbClr val="FFFF00"/>
                </a:solidFill>
                <a:latin typeface="Open Sans"/>
                <a:sym typeface="+mn-ea"/>
              </a:rPr>
              <a:t>的内存算成</a:t>
            </a:r>
            <a:r>
              <a:rPr lang="en-US" b="1" dirty="0" err="1">
                <a:solidFill>
                  <a:srgbClr val="FFFF00"/>
                </a:solidFill>
                <a:latin typeface="Open Sans"/>
                <a:sym typeface="+mn-ea"/>
              </a:rPr>
              <a:t>mapped_file</a:t>
            </a:r>
            <a:r>
              <a:rPr lang="en-US" b="1" dirty="0">
                <a:solidFill>
                  <a:srgbClr val="FFFF00"/>
                </a:solidFill>
                <a:latin typeface="Open Sans"/>
                <a:sym typeface="+mn-ea"/>
              </a:rPr>
              <a:t>。</a:t>
            </a:r>
            <a:endParaRPr lang="en-US" b="1" dirty="0">
              <a:solidFill>
                <a:srgbClr val="FFFF00"/>
              </a:solidFill>
              <a:latin typeface="Open Sans"/>
            </a:endParaRPr>
          </a:p>
          <a:p>
            <a:endParaRPr lang="en-US" dirty="0">
              <a:solidFill>
                <a:schemeClr val="bg1"/>
              </a:solidFill>
              <a:latin typeface="Open Sans"/>
            </a:endParaRPr>
          </a:p>
          <a:p>
            <a:r>
              <a:rPr lang="zh-CN" altLang="en-US" dirty="0">
                <a:solidFill>
                  <a:schemeClr val="bg1"/>
                </a:solidFill>
                <a:latin typeface="Open Sans"/>
                <a:sym typeface="+mn-ea"/>
              </a:rPr>
              <a:t>观察</a:t>
            </a:r>
            <a:r>
              <a:rPr lang="en-US" dirty="0" err="1">
                <a:solidFill>
                  <a:schemeClr val="bg1"/>
                </a:solidFill>
                <a:latin typeface="Open Sans"/>
                <a:sym typeface="+mn-ea"/>
              </a:rPr>
              <a:t>sysv</a:t>
            </a:r>
            <a:r>
              <a:rPr lang="zh-CN" altLang="en-US" dirty="0">
                <a:solidFill>
                  <a:schemeClr val="bg1"/>
                </a:solidFill>
                <a:latin typeface="Open Sans"/>
                <a:sym typeface="+mn-ea"/>
              </a:rPr>
              <a:t>和大页的情况，</a:t>
            </a:r>
            <a:r>
              <a:rPr lang="en-US" dirty="0" err="1">
                <a:solidFill>
                  <a:schemeClr val="bg1"/>
                </a:solidFill>
                <a:latin typeface="Open Sans"/>
                <a:sym typeface="+mn-ea"/>
              </a:rPr>
              <a:t>pg</a:t>
            </a:r>
            <a:r>
              <a:rPr lang="zh-CN" altLang="en-US" dirty="0">
                <a:solidFill>
                  <a:schemeClr val="bg1"/>
                </a:solidFill>
                <a:latin typeface="Open Sans"/>
                <a:sym typeface="+mn-ea"/>
              </a:rPr>
              <a:t>的</a:t>
            </a:r>
            <a:r>
              <a:rPr lang="en-US" dirty="0" err="1">
                <a:solidFill>
                  <a:schemeClr val="bg1"/>
                </a:solidFill>
                <a:latin typeface="Open Sans"/>
                <a:sym typeface="+mn-ea"/>
              </a:rPr>
              <a:t>memory.stat</a:t>
            </a:r>
            <a:r>
              <a:rPr lang="zh-CN" altLang="en-US" dirty="0">
                <a:solidFill>
                  <a:schemeClr val="bg1"/>
                </a:solidFill>
                <a:latin typeface="Open Sans"/>
                <a:sym typeface="+mn-ea"/>
              </a:rPr>
              <a:t>相关指标总结：</a:t>
            </a:r>
            <a:endParaRPr lang="zh-CN" altLang="en-US" dirty="0">
              <a:solidFill>
                <a:schemeClr val="bg1"/>
              </a:solidFill>
              <a:latin typeface="Open Sans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Open Sans"/>
                <a:sym typeface="+mn-ea"/>
              </a:rPr>
              <a:t>stat</a:t>
            </a:r>
            <a:r>
              <a:rPr lang="zh-CN" altLang="en-US" dirty="0">
                <a:solidFill>
                  <a:schemeClr val="bg1"/>
                </a:solidFill>
                <a:latin typeface="Open Sans"/>
                <a:sym typeface="+mn-ea"/>
              </a:rPr>
              <a:t>中的</a:t>
            </a:r>
            <a:r>
              <a:rPr lang="en-US" dirty="0" err="1">
                <a:solidFill>
                  <a:schemeClr val="bg1"/>
                </a:solidFill>
                <a:latin typeface="Open Sans"/>
                <a:sym typeface="+mn-ea"/>
              </a:rPr>
              <a:t>rss</a:t>
            </a:r>
            <a:r>
              <a:rPr lang="zh-CN" altLang="en-US" dirty="0">
                <a:solidFill>
                  <a:schemeClr val="bg1"/>
                </a:solidFill>
                <a:latin typeface="Open Sans"/>
                <a:sym typeface="+mn-ea"/>
              </a:rPr>
              <a:t>不包含</a:t>
            </a:r>
            <a:r>
              <a:rPr lang="en-US" dirty="0">
                <a:solidFill>
                  <a:schemeClr val="bg1"/>
                </a:solidFill>
                <a:latin typeface="Open Sans"/>
                <a:sym typeface="+mn-ea"/>
              </a:rPr>
              <a:t>file map</a:t>
            </a:r>
            <a:r>
              <a:rPr lang="zh-CN" altLang="en-US" dirty="0">
                <a:solidFill>
                  <a:schemeClr val="bg1"/>
                </a:solidFill>
                <a:latin typeface="Open Sans"/>
                <a:sym typeface="+mn-ea"/>
              </a:rPr>
              <a:t>共享内存。观察来看，无论是</a:t>
            </a:r>
            <a:r>
              <a:rPr lang="en-US" dirty="0" err="1">
                <a:solidFill>
                  <a:schemeClr val="bg1"/>
                </a:solidFill>
                <a:latin typeface="Open Sans"/>
                <a:sym typeface="+mn-ea"/>
              </a:rPr>
              <a:t>mmap</a:t>
            </a:r>
            <a:r>
              <a:rPr lang="zh-CN" altLang="en-US" dirty="0">
                <a:solidFill>
                  <a:schemeClr val="bg1"/>
                </a:solidFill>
                <a:latin typeface="Open Sans"/>
                <a:sym typeface="+mn-ea"/>
              </a:rPr>
              <a:t>还是</a:t>
            </a:r>
            <a:r>
              <a:rPr lang="en-US" dirty="0" err="1">
                <a:solidFill>
                  <a:schemeClr val="bg1"/>
                </a:solidFill>
                <a:latin typeface="Open Sans"/>
                <a:sym typeface="+mn-ea"/>
              </a:rPr>
              <a:t>sysv，rss</a:t>
            </a:r>
            <a:r>
              <a:rPr lang="zh-CN" altLang="en-US" dirty="0">
                <a:solidFill>
                  <a:schemeClr val="bg1"/>
                </a:solidFill>
                <a:latin typeface="Open Sans"/>
                <a:sym typeface="+mn-ea"/>
              </a:rPr>
              <a:t>都不含</a:t>
            </a:r>
            <a:r>
              <a:rPr lang="en-US" dirty="0" err="1">
                <a:solidFill>
                  <a:schemeClr val="bg1"/>
                </a:solidFill>
                <a:latin typeface="Open Sans"/>
                <a:sym typeface="+mn-ea"/>
              </a:rPr>
              <a:t>pg</a:t>
            </a:r>
            <a:r>
              <a:rPr lang="zh-CN" altLang="en-US" dirty="0">
                <a:solidFill>
                  <a:schemeClr val="bg1"/>
                </a:solidFill>
                <a:latin typeface="Open Sans"/>
                <a:sym typeface="+mn-ea"/>
              </a:rPr>
              <a:t>的共享内存</a:t>
            </a:r>
            <a:endParaRPr lang="zh-CN" altLang="en-US" dirty="0">
              <a:solidFill>
                <a:schemeClr val="bg1"/>
              </a:solidFill>
              <a:latin typeface="Open Sans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zh-CN" altLang="en-US" dirty="0">
                <a:solidFill>
                  <a:schemeClr val="bg1"/>
                </a:solidFill>
                <a:latin typeface="Open Sans"/>
                <a:sym typeface="+mn-ea"/>
              </a:rPr>
              <a:t>同理，</a:t>
            </a:r>
            <a:r>
              <a:rPr lang="en-US" dirty="0" err="1">
                <a:solidFill>
                  <a:schemeClr val="bg1"/>
                </a:solidFill>
                <a:latin typeface="Open Sans"/>
                <a:sym typeface="+mn-ea"/>
              </a:rPr>
              <a:t>rss_huge</a:t>
            </a:r>
            <a:r>
              <a:rPr lang="zh-CN" altLang="en-US" dirty="0">
                <a:solidFill>
                  <a:schemeClr val="bg1"/>
                </a:solidFill>
                <a:latin typeface="Open Sans"/>
                <a:sym typeface="+mn-ea"/>
              </a:rPr>
              <a:t>也不含</a:t>
            </a:r>
            <a:r>
              <a:rPr lang="en-US" dirty="0">
                <a:solidFill>
                  <a:schemeClr val="bg1"/>
                </a:solidFill>
                <a:latin typeface="Open Sans"/>
                <a:sym typeface="+mn-ea"/>
              </a:rPr>
              <a:t>file map</a:t>
            </a:r>
            <a:r>
              <a:rPr lang="zh-CN" altLang="en-US" dirty="0">
                <a:solidFill>
                  <a:schemeClr val="bg1"/>
                </a:solidFill>
                <a:latin typeface="Open Sans"/>
                <a:sym typeface="+mn-ea"/>
              </a:rPr>
              <a:t>共享大页内存。实际</a:t>
            </a:r>
            <a:r>
              <a:rPr lang="zh-CN" altLang="en-US" dirty="0">
                <a:solidFill>
                  <a:schemeClr val="bg1"/>
                </a:solidFill>
                <a:latin typeface="Open Sans"/>
                <a:sym typeface="+mn-ea"/>
              </a:rPr>
              <a:t>上，即便开启大页，</a:t>
            </a:r>
            <a:r>
              <a:rPr lang="en-US" dirty="0">
                <a:solidFill>
                  <a:schemeClr val="bg1"/>
                </a:solidFill>
                <a:latin typeface="Open Sans"/>
                <a:sym typeface="+mn-ea"/>
              </a:rPr>
              <a:t>stat</a:t>
            </a:r>
            <a:r>
              <a:rPr lang="zh-CN" altLang="en-US" dirty="0">
                <a:solidFill>
                  <a:schemeClr val="bg1"/>
                </a:solidFill>
                <a:latin typeface="Open Sans"/>
                <a:sym typeface="+mn-ea"/>
              </a:rPr>
              <a:t>也不含</a:t>
            </a:r>
            <a:r>
              <a:rPr lang="en-US" dirty="0" err="1">
                <a:solidFill>
                  <a:schemeClr val="bg1"/>
                </a:solidFill>
                <a:latin typeface="Open Sans"/>
                <a:sym typeface="+mn-ea"/>
              </a:rPr>
              <a:t>pg</a:t>
            </a:r>
            <a:r>
              <a:rPr lang="zh-CN" altLang="en-US" dirty="0">
                <a:solidFill>
                  <a:schemeClr val="bg1"/>
                </a:solidFill>
                <a:latin typeface="Open Sans"/>
                <a:sym typeface="+mn-ea"/>
              </a:rPr>
              <a:t>的共享内存</a:t>
            </a:r>
            <a:endParaRPr lang="zh-CN" altLang="en-US" dirty="0">
              <a:solidFill>
                <a:schemeClr val="bg1"/>
              </a:solidFill>
              <a:latin typeface="Open Sans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zh-CN" altLang="en-US" dirty="0">
                <a:solidFill>
                  <a:schemeClr val="bg1"/>
                </a:solidFill>
                <a:latin typeface="Open Sans"/>
                <a:sym typeface="+mn-ea"/>
              </a:rPr>
              <a:t>无大页时，</a:t>
            </a:r>
            <a:r>
              <a:rPr lang="en-US" dirty="0" err="1">
                <a:solidFill>
                  <a:schemeClr val="bg1"/>
                </a:solidFill>
                <a:latin typeface="Open Sans"/>
                <a:sym typeface="+mn-ea"/>
              </a:rPr>
              <a:t>pg</a:t>
            </a:r>
            <a:r>
              <a:rPr lang="zh-CN" altLang="en-US" dirty="0">
                <a:solidFill>
                  <a:schemeClr val="bg1"/>
                </a:solidFill>
                <a:latin typeface="Open Sans"/>
                <a:sym typeface="+mn-ea"/>
              </a:rPr>
              <a:t>的共享内存（</a:t>
            </a:r>
            <a:r>
              <a:rPr lang="en-US" dirty="0" err="1">
                <a:solidFill>
                  <a:schemeClr val="bg1"/>
                </a:solidFill>
                <a:latin typeface="Open Sans"/>
                <a:sym typeface="+mn-ea"/>
              </a:rPr>
              <a:t>mmap</a:t>
            </a:r>
            <a:r>
              <a:rPr lang="en-US" dirty="0">
                <a:solidFill>
                  <a:schemeClr val="bg1"/>
                </a:solidFill>
                <a:latin typeface="Open Sans"/>
                <a:sym typeface="+mn-ea"/>
              </a:rPr>
              <a:t> or </a:t>
            </a:r>
            <a:r>
              <a:rPr lang="en-US" dirty="0" err="1">
                <a:solidFill>
                  <a:schemeClr val="bg1"/>
                </a:solidFill>
                <a:latin typeface="Open Sans"/>
                <a:sym typeface="+mn-ea"/>
              </a:rPr>
              <a:t>sysv</a:t>
            </a:r>
            <a:r>
              <a:rPr lang="en-US" dirty="0">
                <a:solidFill>
                  <a:schemeClr val="bg1"/>
                </a:solidFill>
                <a:latin typeface="Open Sans"/>
                <a:sym typeface="+mn-ea"/>
              </a:rPr>
              <a:t>）</a:t>
            </a:r>
            <a:r>
              <a:rPr lang="zh-CN" altLang="en-US" dirty="0">
                <a:solidFill>
                  <a:schemeClr val="bg1"/>
                </a:solidFill>
                <a:latin typeface="Open Sans"/>
                <a:sym typeface="+mn-ea"/>
              </a:rPr>
              <a:t>均统计在</a:t>
            </a:r>
            <a:r>
              <a:rPr lang="en-US" dirty="0" err="1">
                <a:solidFill>
                  <a:schemeClr val="bg1"/>
                </a:solidFill>
                <a:latin typeface="Open Sans"/>
                <a:sym typeface="+mn-ea"/>
              </a:rPr>
              <a:t>memory.stat</a:t>
            </a:r>
            <a:r>
              <a:rPr lang="en-US" dirty="0">
                <a:solidFill>
                  <a:schemeClr val="bg1"/>
                </a:solidFill>
                <a:latin typeface="Open Sans"/>
                <a:sym typeface="+mn-ea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Open Sans"/>
                <a:sym typeface="+mn-ea"/>
              </a:rPr>
              <a:t>mapped_file</a:t>
            </a:r>
            <a:r>
              <a:rPr lang="zh-CN" altLang="en-US" dirty="0">
                <a:solidFill>
                  <a:schemeClr val="bg1"/>
                </a:solidFill>
                <a:latin typeface="Open Sans"/>
                <a:sym typeface="+mn-ea"/>
              </a:rPr>
              <a:t>下；有大页时，不在</a:t>
            </a:r>
            <a:r>
              <a:rPr lang="en-US" dirty="0">
                <a:solidFill>
                  <a:schemeClr val="bg1"/>
                </a:solidFill>
                <a:latin typeface="Open Sans"/>
                <a:sym typeface="+mn-ea"/>
              </a:rPr>
              <a:t>stat</a:t>
            </a:r>
            <a:r>
              <a:rPr lang="zh-CN" altLang="en-US" dirty="0">
                <a:solidFill>
                  <a:schemeClr val="bg1"/>
                </a:solidFill>
                <a:latin typeface="Open Sans"/>
                <a:sym typeface="+mn-ea"/>
              </a:rPr>
              <a:t>中的任何指标中，包括</a:t>
            </a:r>
            <a:r>
              <a:rPr lang="en-US" dirty="0" err="1">
                <a:solidFill>
                  <a:schemeClr val="bg1"/>
                </a:solidFill>
                <a:latin typeface="Open Sans"/>
                <a:sym typeface="+mn-ea"/>
              </a:rPr>
              <a:t>rss_huge</a:t>
            </a:r>
            <a:endParaRPr lang="en-US" b="0" i="0" u="none" strike="noStrike" dirty="0" err="1">
              <a:solidFill>
                <a:schemeClr val="bg1"/>
              </a:solidFill>
              <a:effectLst/>
              <a:latin typeface="Open Sans"/>
            </a:endParaRPr>
          </a:p>
          <a:p>
            <a:endParaRPr lang="en-US" dirty="0">
              <a:solidFill>
                <a:schemeClr val="bg1"/>
              </a:solidFill>
              <a:latin typeface="Open Sans"/>
            </a:endParaRPr>
          </a:p>
          <a:p>
            <a:endParaRPr lang="en-US" b="1" dirty="0">
              <a:solidFill>
                <a:schemeClr val="bg1"/>
              </a:solidFill>
              <a:latin typeface="Arial Bold" panose="020B0604020202090204" charset="0"/>
              <a:cs typeface="Arial Bold" panose="020B0604020202090204" charset="0"/>
            </a:endParaRPr>
          </a:p>
        </p:txBody>
      </p:sp>
      <p:pic>
        <p:nvPicPr>
          <p:cNvPr id="7" name="图片 4" descr="未标题-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287655"/>
            <a:ext cx="1737995" cy="74676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9228455" y="716915"/>
            <a:ext cx="294386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120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开源生态大会暨</a:t>
            </a:r>
            <a:r>
              <a:rPr lang="en-US" altLang="zh-CN" sz="120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PostgreSQL</a:t>
            </a:r>
            <a:r>
              <a:rPr lang="zh-CN" altLang="en-US" sz="120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高峰论坛</a:t>
            </a:r>
            <a:endParaRPr lang="zh-CN" altLang="en-US" sz="1200" b="1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9207500" y="348615"/>
            <a:ext cx="2863215" cy="3835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9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以开源之道</a:t>
            </a:r>
            <a:r>
              <a:rPr lang="en-US" altLang="zh-CN" sz="19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·</a:t>
            </a:r>
            <a:r>
              <a:rPr lang="zh-CN" altLang="en-US" sz="19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见致远之志</a:t>
            </a:r>
            <a:endParaRPr lang="zh-CN" altLang="en-US" sz="1900">
              <a:solidFill>
                <a:schemeClr val="bg1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sp>
        <p:nvSpPr>
          <p:cNvPr id="40" name="文本框 4"/>
          <p:cNvSpPr txBox="1"/>
          <p:nvPr/>
        </p:nvSpPr>
        <p:spPr>
          <a:xfrm>
            <a:off x="447040" y="1184275"/>
            <a:ext cx="94710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dirty="0" err="1">
                <a:solidFill>
                  <a:schemeClr val="bg1"/>
                </a:solidFill>
                <a:sym typeface="+mn-ea"/>
              </a:rPr>
              <a:t>cgmem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-cg </a:t>
            </a:r>
            <a:r>
              <a:rPr lang="en-US" altLang="zh-CN" sz="2000" dirty="0" err="1">
                <a:solidFill>
                  <a:schemeClr val="bg1"/>
                </a:solidFill>
                <a:sym typeface="+mn-ea"/>
              </a:rPr>
              <a:t>rss</a:t>
            </a:r>
            <a:r>
              <a:rPr lang="zh-CN" altLang="en-US" sz="2000" dirty="0">
                <a:solidFill>
                  <a:schemeClr val="bg1"/>
                </a:solidFill>
                <a:sym typeface="+mn-ea"/>
              </a:rPr>
              <a:t>和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process</a:t>
            </a:r>
            <a:r>
              <a:rPr lang="zh-CN" altLang="en-US" sz="2000" dirty="0">
                <a:solidFill>
                  <a:schemeClr val="bg1"/>
                </a:solidFill>
                <a:sym typeface="+mn-ea"/>
              </a:rPr>
              <a:t> </a:t>
            </a:r>
            <a:r>
              <a:rPr lang="en-US" altLang="zh-CN" sz="2000" dirty="0" err="1">
                <a:solidFill>
                  <a:schemeClr val="bg1"/>
                </a:solidFill>
                <a:sym typeface="+mn-ea"/>
              </a:rPr>
              <a:t>rss</a:t>
            </a:r>
            <a:r>
              <a:rPr lang="zh-CN" altLang="en-US" sz="2000" dirty="0">
                <a:solidFill>
                  <a:schemeClr val="bg1"/>
                </a:solidFill>
                <a:sym typeface="+mn-ea"/>
              </a:rPr>
              <a:t>的差异</a:t>
            </a:r>
            <a:endParaRPr lang="zh-CN" altLang="en-US" sz="2000" dirty="0">
              <a:solidFill>
                <a:schemeClr val="bg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523875" y="1774825"/>
            <a:ext cx="10361930" cy="25844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Open Sans"/>
                <a:sym typeface="+mn-ea"/>
              </a:rPr>
              <a:t>怎么</a:t>
            </a:r>
            <a:r>
              <a:rPr lang="zh-CN" altLang="en-US" dirty="0">
                <a:solidFill>
                  <a:schemeClr val="bg1"/>
                </a:solidFill>
                <a:latin typeface="Open Sans"/>
                <a:sym typeface="+mn-ea"/>
              </a:rPr>
              <a:t>正确模拟</a:t>
            </a:r>
            <a:r>
              <a:rPr lang="en-US" altLang="zh-CN" dirty="0">
                <a:solidFill>
                  <a:schemeClr val="bg1"/>
                </a:solidFill>
                <a:latin typeface="Open Sans"/>
                <a:sym typeface="+mn-ea"/>
              </a:rPr>
              <a:t>oom</a:t>
            </a:r>
            <a:r>
              <a:rPr lang="zh-CN" altLang="en-US" dirty="0">
                <a:solidFill>
                  <a:schemeClr val="bg1"/>
                </a:solidFill>
                <a:latin typeface="Open Sans"/>
                <a:sym typeface="+mn-ea"/>
              </a:rPr>
              <a:t>？</a:t>
            </a:r>
            <a:endParaRPr lang="zh-CN" altLang="en-US" dirty="0">
              <a:solidFill>
                <a:schemeClr val="bg1"/>
              </a:solidFill>
              <a:latin typeface="Open Sans"/>
              <a:sym typeface="+mn-ea"/>
            </a:endParaRPr>
          </a:p>
          <a:p>
            <a:endParaRPr lang="zh-CN" altLang="en-US" dirty="0">
              <a:solidFill>
                <a:schemeClr val="bg1"/>
              </a:solidFill>
              <a:latin typeface="Open Sans"/>
              <a:sym typeface="+mn-ea"/>
            </a:endParaRPr>
          </a:p>
          <a:p>
            <a:r>
              <a:rPr lang="zh-CN" altLang="en-US" dirty="0">
                <a:solidFill>
                  <a:schemeClr val="bg1"/>
                </a:solidFill>
                <a:latin typeface="Open Sans"/>
                <a:sym typeface="+mn-ea"/>
              </a:rPr>
              <a:t>一般来说，</a:t>
            </a:r>
            <a:r>
              <a:rPr lang="en-US" dirty="0" err="1">
                <a:solidFill>
                  <a:schemeClr val="bg1"/>
                </a:solidFill>
                <a:latin typeface="Open Sans"/>
                <a:sym typeface="+mn-ea"/>
              </a:rPr>
              <a:t>sharedbuffer</a:t>
            </a:r>
            <a:r>
              <a:rPr lang="en-US" dirty="0">
                <a:solidFill>
                  <a:schemeClr val="bg1"/>
                </a:solidFill>
                <a:latin typeface="Open Sans"/>
                <a:sym typeface="+mn-ea"/>
              </a:rPr>
              <a:t>=1/4</a:t>
            </a:r>
            <a:r>
              <a:rPr lang="zh-CN" altLang="en-US" dirty="0">
                <a:solidFill>
                  <a:schemeClr val="bg1"/>
                </a:solidFill>
                <a:latin typeface="Open Sans"/>
                <a:sym typeface="+mn-ea"/>
              </a:rPr>
              <a:t>的</a:t>
            </a:r>
            <a:r>
              <a:rPr lang="en-US" dirty="0">
                <a:solidFill>
                  <a:schemeClr val="bg1"/>
                </a:solidFill>
                <a:latin typeface="Open Sans"/>
                <a:sym typeface="+mn-ea"/>
              </a:rPr>
              <a:t>cg mem，</a:t>
            </a:r>
            <a:r>
              <a:rPr lang="zh-CN" altLang="en-US" dirty="0">
                <a:solidFill>
                  <a:schemeClr val="bg1"/>
                </a:solidFill>
                <a:latin typeface="Open Sans"/>
                <a:sym typeface="+mn-ea"/>
              </a:rPr>
              <a:t>那么在不计算私有内存的情况下，</a:t>
            </a:r>
            <a:r>
              <a:rPr lang="en-US" dirty="0" err="1">
                <a:solidFill>
                  <a:schemeClr val="bg1"/>
                </a:solidFill>
                <a:latin typeface="Open Sans"/>
                <a:sym typeface="+mn-ea"/>
              </a:rPr>
              <a:t>pagecache</a:t>
            </a:r>
            <a:r>
              <a:rPr lang="zh-CN" altLang="en-US" dirty="0">
                <a:solidFill>
                  <a:schemeClr val="bg1"/>
                </a:solidFill>
                <a:latin typeface="Open Sans"/>
                <a:sym typeface="+mn-ea"/>
              </a:rPr>
              <a:t>最大可以到</a:t>
            </a:r>
            <a:r>
              <a:rPr lang="en-US" altLang="zh-CN" dirty="0">
                <a:solidFill>
                  <a:schemeClr val="bg1"/>
                </a:solidFill>
                <a:latin typeface="Open Sans"/>
                <a:sym typeface="+mn-ea"/>
              </a:rPr>
              <a:t>3/4</a:t>
            </a:r>
            <a:r>
              <a:rPr lang="zh-CN" altLang="en-US" dirty="0">
                <a:solidFill>
                  <a:schemeClr val="bg1"/>
                </a:solidFill>
                <a:latin typeface="Open Sans"/>
                <a:sym typeface="+mn-ea"/>
              </a:rPr>
              <a:t>的</a:t>
            </a:r>
            <a:r>
              <a:rPr lang="en-US" dirty="0">
                <a:solidFill>
                  <a:schemeClr val="bg1"/>
                </a:solidFill>
                <a:latin typeface="Open Sans"/>
                <a:sym typeface="+mn-ea"/>
              </a:rPr>
              <a:t>cg mem。</a:t>
            </a:r>
            <a:endParaRPr lang="en-US" dirty="0">
              <a:solidFill>
                <a:schemeClr val="bg1"/>
              </a:solidFill>
              <a:latin typeface="Open Sans"/>
              <a:sym typeface="+mn-ea"/>
            </a:endParaRPr>
          </a:p>
          <a:p>
            <a:r>
              <a:rPr lang="zh-CN" altLang="en-US" dirty="0">
                <a:solidFill>
                  <a:schemeClr val="bg1"/>
                </a:solidFill>
                <a:latin typeface="Open Sans"/>
                <a:sym typeface="+mn-ea"/>
              </a:rPr>
              <a:t>一般来说，正常的业务私有内存占用不会很多，如果</a:t>
            </a:r>
            <a:r>
              <a:rPr lang="en-US" dirty="0">
                <a:solidFill>
                  <a:schemeClr val="bg1"/>
                </a:solidFill>
                <a:latin typeface="Open Sans"/>
                <a:sym typeface="+mn-ea"/>
              </a:rPr>
              <a:t>cg mem</a:t>
            </a:r>
            <a:r>
              <a:rPr lang="zh-CN" altLang="en-US" dirty="0">
                <a:solidFill>
                  <a:schemeClr val="bg1"/>
                </a:solidFill>
                <a:latin typeface="Open Sans"/>
                <a:sym typeface="+mn-ea"/>
              </a:rPr>
              <a:t>打满是可以从</a:t>
            </a:r>
            <a:r>
              <a:rPr lang="en-US" dirty="0">
                <a:solidFill>
                  <a:schemeClr val="bg1"/>
                </a:solidFill>
                <a:latin typeface="Open Sans"/>
                <a:sym typeface="+mn-ea"/>
              </a:rPr>
              <a:t>cg </a:t>
            </a:r>
            <a:r>
              <a:rPr lang="en-US" dirty="0" err="1">
                <a:solidFill>
                  <a:schemeClr val="bg1"/>
                </a:solidFill>
                <a:latin typeface="Open Sans"/>
                <a:sym typeface="+mn-ea"/>
              </a:rPr>
              <a:t>pagecache</a:t>
            </a:r>
            <a:r>
              <a:rPr lang="zh-CN" altLang="en-US" dirty="0">
                <a:solidFill>
                  <a:schemeClr val="bg1"/>
                </a:solidFill>
                <a:latin typeface="Open Sans"/>
                <a:sym typeface="+mn-ea"/>
              </a:rPr>
              <a:t>中回收内存的。</a:t>
            </a:r>
            <a:endParaRPr lang="zh-CN" altLang="en-US" dirty="0">
              <a:solidFill>
                <a:schemeClr val="bg1"/>
              </a:solidFill>
              <a:latin typeface="Open Sans"/>
              <a:sym typeface="+mn-ea"/>
            </a:endParaRPr>
          </a:p>
          <a:p>
            <a:r>
              <a:rPr lang="zh-CN" altLang="en-US" dirty="0">
                <a:solidFill>
                  <a:schemeClr val="bg1"/>
                </a:solidFill>
                <a:latin typeface="Open Sans"/>
                <a:sym typeface="+mn-ea"/>
              </a:rPr>
              <a:t>所以想要实现</a:t>
            </a:r>
            <a:r>
              <a:rPr lang="en-US" dirty="0">
                <a:solidFill>
                  <a:schemeClr val="bg1"/>
                </a:solidFill>
                <a:latin typeface="Open Sans"/>
                <a:sym typeface="+mn-ea"/>
              </a:rPr>
              <a:t>cg </a:t>
            </a:r>
            <a:r>
              <a:rPr lang="en-US" dirty="0" err="1">
                <a:solidFill>
                  <a:schemeClr val="bg1"/>
                </a:solidFill>
                <a:latin typeface="Open Sans"/>
                <a:sym typeface="+mn-ea"/>
              </a:rPr>
              <a:t>oom</a:t>
            </a:r>
            <a:r>
              <a:rPr lang="zh-CN" altLang="en-US" dirty="0">
                <a:solidFill>
                  <a:schemeClr val="bg1"/>
                </a:solidFill>
                <a:latin typeface="Open Sans"/>
                <a:sym typeface="+mn-ea"/>
              </a:rPr>
              <a:t>最好的办法是创建占用很多私有内存的会话；而不是加压读写数据，将</a:t>
            </a:r>
            <a:r>
              <a:rPr lang="en-US" altLang="zh-CN" dirty="0">
                <a:solidFill>
                  <a:schemeClr val="bg1"/>
                </a:solidFill>
                <a:latin typeface="Open Sans"/>
                <a:sym typeface="+mn-ea"/>
              </a:rPr>
              <a:t>cache</a:t>
            </a:r>
            <a:r>
              <a:rPr lang="zh-CN" altLang="en-US" dirty="0">
                <a:solidFill>
                  <a:schemeClr val="bg1"/>
                </a:solidFill>
                <a:latin typeface="Open Sans"/>
                <a:sym typeface="+mn-ea"/>
              </a:rPr>
              <a:t>填满打到</a:t>
            </a:r>
            <a:r>
              <a:rPr lang="en-US" altLang="zh-CN" dirty="0">
                <a:solidFill>
                  <a:schemeClr val="bg1"/>
                </a:solidFill>
                <a:latin typeface="Open Sans"/>
                <a:sym typeface="+mn-ea"/>
              </a:rPr>
              <a:t>cgroup </a:t>
            </a:r>
            <a:r>
              <a:rPr lang="en-US" altLang="en-US" dirty="0">
                <a:solidFill>
                  <a:schemeClr val="bg1"/>
                </a:solidFill>
                <a:latin typeface="Open Sans"/>
                <a:sym typeface="+mn-ea"/>
              </a:rPr>
              <a:t>memory.limit_in_bytes</a:t>
            </a:r>
            <a:r>
              <a:rPr lang="zh-CN" altLang="en-US" dirty="0">
                <a:solidFill>
                  <a:schemeClr val="bg1"/>
                </a:solidFill>
                <a:latin typeface="Open Sans"/>
                <a:sym typeface="+mn-ea"/>
              </a:rPr>
              <a:t>。</a:t>
            </a:r>
            <a:endParaRPr lang="zh-CN" altLang="en-US" dirty="0">
              <a:solidFill>
                <a:schemeClr val="bg1"/>
              </a:solidFill>
              <a:latin typeface="Open Sans"/>
            </a:endParaRPr>
          </a:p>
          <a:p>
            <a:endParaRPr lang="en-US" dirty="0" err="1">
              <a:solidFill>
                <a:schemeClr val="bg1"/>
              </a:solidFill>
            </a:endParaRPr>
          </a:p>
        </p:txBody>
      </p:sp>
      <p:pic>
        <p:nvPicPr>
          <p:cNvPr id="6" name="图片 4" descr="未标题-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287655"/>
            <a:ext cx="1737995" cy="74676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9228455" y="716915"/>
            <a:ext cx="294386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120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开源生态大会暨</a:t>
            </a:r>
            <a:r>
              <a:rPr lang="en-US" altLang="zh-CN" sz="120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PostgreSQL</a:t>
            </a:r>
            <a:r>
              <a:rPr lang="zh-CN" altLang="en-US" sz="120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高峰论坛</a:t>
            </a:r>
            <a:endParaRPr lang="zh-CN" altLang="en-US" sz="1200" b="1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9207500" y="348615"/>
            <a:ext cx="2863215" cy="3835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9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以开源之道</a:t>
            </a:r>
            <a:r>
              <a:rPr lang="en-US" altLang="zh-CN" sz="19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·</a:t>
            </a:r>
            <a:r>
              <a:rPr lang="zh-CN" altLang="en-US" sz="19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见致远之志</a:t>
            </a:r>
            <a:endParaRPr lang="zh-CN" altLang="en-US" sz="1900">
              <a:solidFill>
                <a:schemeClr val="bg1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sp>
        <p:nvSpPr>
          <p:cNvPr id="40" name="文本框 4"/>
          <p:cNvSpPr txBox="1"/>
          <p:nvPr/>
        </p:nvSpPr>
        <p:spPr>
          <a:xfrm>
            <a:off x="447040" y="1184275"/>
            <a:ext cx="94710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dirty="0" err="1">
                <a:solidFill>
                  <a:schemeClr val="bg1"/>
                </a:solidFill>
                <a:sym typeface="+mn-ea"/>
              </a:rPr>
              <a:t>cgmem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-cg </a:t>
            </a:r>
            <a:r>
              <a:rPr lang="en-US" altLang="zh-CN" sz="2000" dirty="0" err="1">
                <a:solidFill>
                  <a:schemeClr val="bg1"/>
                </a:solidFill>
                <a:sym typeface="+mn-ea"/>
              </a:rPr>
              <a:t>oom</a:t>
            </a:r>
            <a:endParaRPr lang="zh-CN" altLang="en-US" sz="2000" dirty="0">
              <a:solidFill>
                <a:schemeClr val="bg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670558" y="1815671"/>
            <a:ext cx="10949356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$ </a:t>
            </a:r>
            <a:r>
              <a:rPr lang="en-US" dirty="0" err="1">
                <a:solidFill>
                  <a:schemeClr val="bg1"/>
                </a:solidFill>
              </a:rPr>
              <a:t>ps</a:t>
            </a:r>
            <a:r>
              <a:rPr lang="en-US" dirty="0">
                <a:solidFill>
                  <a:schemeClr val="bg1"/>
                </a:solidFill>
              </a:rPr>
              <a:t> -</a:t>
            </a:r>
            <a:r>
              <a:rPr lang="en-US" dirty="0" err="1">
                <a:solidFill>
                  <a:schemeClr val="bg1"/>
                </a:solidFill>
              </a:rPr>
              <a:t>eo</a:t>
            </a:r>
            <a:r>
              <a:rPr lang="en-US" dirty="0">
                <a:solidFill>
                  <a:schemeClr val="bg1"/>
                </a:solidFill>
              </a:rPr>
              <a:t> user,ppid,pid,state,%cpu,%mem,stime,wchan:14,args,rss,vsz |grep `head -1 $PGDATA/</a:t>
            </a:r>
            <a:r>
              <a:rPr lang="en-US" dirty="0" err="1">
                <a:solidFill>
                  <a:schemeClr val="bg1"/>
                </a:solidFill>
              </a:rPr>
              <a:t>postmaster.pid</a:t>
            </a:r>
            <a:r>
              <a:rPr lang="en-US" dirty="0">
                <a:solidFill>
                  <a:schemeClr val="bg1"/>
                </a:solidFill>
              </a:rPr>
              <a:t>` |grep -v grep 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 err="1">
                <a:solidFill>
                  <a:schemeClr val="bg1"/>
                </a:solidFill>
              </a:rPr>
              <a:t>postgres</a:t>
            </a:r>
            <a:r>
              <a:rPr lang="en-US" dirty="0">
                <a:solidFill>
                  <a:schemeClr val="bg1"/>
                </a:solidFill>
              </a:rPr>
              <a:t>  19005    870 D  0.0  0.0 10:54 </a:t>
            </a:r>
            <a:r>
              <a:rPr lang="en-US" dirty="0" err="1">
                <a:solidFill>
                  <a:srgbClr val="FF0000"/>
                </a:solidFill>
              </a:rPr>
              <a:t>mem_cgroup_oom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postgres</a:t>
            </a:r>
            <a:r>
              <a:rPr lang="en-US" dirty="0">
                <a:solidFill>
                  <a:schemeClr val="bg1"/>
                </a:solidFill>
              </a:rPr>
              <a:t>: pg3ymhp2: </a:t>
            </a:r>
            <a:r>
              <a:rPr lang="en-US" dirty="0" err="1">
                <a:solidFill>
                  <a:schemeClr val="bg1"/>
                </a:solidFill>
              </a:rPr>
              <a:t>lzluser</a:t>
            </a:r>
            <a:r>
              <a:rPr lang="en-US" dirty="0">
                <a:solidFill>
                  <a:schemeClr val="bg1"/>
                </a:solidFill>
              </a:rPr>
              <a:t>  7216 2807460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 err="1">
                <a:solidFill>
                  <a:schemeClr val="bg1"/>
                </a:solidFill>
              </a:rPr>
              <a:t>postgres</a:t>
            </a:r>
            <a:r>
              <a:rPr lang="en-US" dirty="0">
                <a:solidFill>
                  <a:schemeClr val="bg1"/>
                </a:solidFill>
              </a:rPr>
              <a:t>  19005   3417 S  0.0  0.0 10:55 </a:t>
            </a:r>
            <a:r>
              <a:rPr lang="en-US" dirty="0" err="1">
                <a:solidFill>
                  <a:schemeClr val="bg1"/>
                </a:solidFill>
              </a:rPr>
              <a:t>pipe_wait</a:t>
            </a:r>
            <a:r>
              <a:rPr lang="en-US" dirty="0">
                <a:solidFill>
                  <a:schemeClr val="bg1"/>
                </a:solidFill>
              </a:rPr>
              <a:t>      </a:t>
            </a:r>
            <a:r>
              <a:rPr lang="en-US" dirty="0" err="1">
                <a:solidFill>
                  <a:schemeClr val="bg1"/>
                </a:solidFill>
              </a:rPr>
              <a:t>postgres</a:t>
            </a:r>
            <a:r>
              <a:rPr lang="en-US" dirty="0">
                <a:solidFill>
                  <a:schemeClr val="bg1"/>
                </a:solidFill>
              </a:rPr>
              <a:t>: pg3ymhp2: </a:t>
            </a:r>
            <a:r>
              <a:rPr lang="en-US" dirty="0" err="1">
                <a:solidFill>
                  <a:schemeClr val="bg1"/>
                </a:solidFill>
              </a:rPr>
              <a:t>lzluser</a:t>
            </a:r>
            <a:r>
              <a:rPr lang="en-US" dirty="0">
                <a:solidFill>
                  <a:schemeClr val="bg1"/>
                </a:solidFill>
              </a:rPr>
              <a:t> 22944 2808540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 err="1">
                <a:solidFill>
                  <a:schemeClr val="bg1"/>
                </a:solidFill>
              </a:rPr>
              <a:t>postgres</a:t>
            </a:r>
            <a:r>
              <a:rPr lang="en-US" dirty="0">
                <a:solidFill>
                  <a:schemeClr val="bg1"/>
                </a:solidFill>
              </a:rPr>
              <a:t>  19005  13069 D  0.0  0.0 11:10 </a:t>
            </a:r>
            <a:r>
              <a:rPr lang="en-US" dirty="0" err="1">
                <a:solidFill>
                  <a:srgbClr val="FF0000"/>
                </a:solidFill>
              </a:rPr>
              <a:t>mem_cgroup_oom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postgres</a:t>
            </a:r>
            <a:r>
              <a:rPr lang="en-US" dirty="0">
                <a:solidFill>
                  <a:schemeClr val="bg1"/>
                </a:solidFill>
              </a:rPr>
              <a:t>: pg3ymhp2: </a:t>
            </a:r>
            <a:r>
              <a:rPr lang="en-US" dirty="0" err="1">
                <a:solidFill>
                  <a:schemeClr val="bg1"/>
                </a:solidFill>
              </a:rPr>
              <a:t>lzluser</a:t>
            </a:r>
            <a:r>
              <a:rPr lang="en-US" dirty="0">
                <a:solidFill>
                  <a:schemeClr val="bg1"/>
                </a:solidFill>
              </a:rPr>
              <a:t> 11944 2808348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 err="1">
                <a:solidFill>
                  <a:schemeClr val="bg1"/>
                </a:solidFill>
              </a:rPr>
              <a:t>postgres</a:t>
            </a:r>
            <a:r>
              <a:rPr lang="en-US" dirty="0">
                <a:solidFill>
                  <a:schemeClr val="bg1"/>
                </a:solidFill>
              </a:rPr>
              <a:t>  19005  13104 D  0.0  0.0 11:10 </a:t>
            </a:r>
            <a:r>
              <a:rPr lang="en-US" dirty="0" err="1">
                <a:solidFill>
                  <a:srgbClr val="FF0000"/>
                </a:solidFill>
              </a:rPr>
              <a:t>mem_cgroup_oom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postgres</a:t>
            </a:r>
            <a:r>
              <a:rPr lang="en-US" dirty="0">
                <a:solidFill>
                  <a:schemeClr val="bg1"/>
                </a:solidFill>
              </a:rPr>
              <a:t>: pg3ymhp2: </a:t>
            </a:r>
            <a:r>
              <a:rPr lang="en-US" dirty="0" err="1">
                <a:solidFill>
                  <a:schemeClr val="bg1"/>
                </a:solidFill>
              </a:rPr>
              <a:t>lzluser</a:t>
            </a:r>
            <a:r>
              <a:rPr lang="en-US" dirty="0">
                <a:solidFill>
                  <a:schemeClr val="bg1"/>
                </a:solidFill>
              </a:rPr>
              <a:t> 12224 2808348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 err="1">
                <a:solidFill>
                  <a:schemeClr val="bg1"/>
                </a:solidFill>
              </a:rPr>
              <a:t>postgres</a:t>
            </a:r>
            <a:r>
              <a:rPr lang="en-US" dirty="0">
                <a:solidFill>
                  <a:schemeClr val="bg1"/>
                </a:solidFill>
              </a:rPr>
              <a:t>  19005  14352 D  0.0  0.0 11:10 </a:t>
            </a:r>
            <a:r>
              <a:rPr lang="en-US" dirty="0" err="1">
                <a:solidFill>
                  <a:srgbClr val="FF0000"/>
                </a:solidFill>
              </a:rPr>
              <a:t>mem_cgroup_oom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postgres</a:t>
            </a:r>
            <a:r>
              <a:rPr lang="en-US" dirty="0">
                <a:solidFill>
                  <a:schemeClr val="bg1"/>
                </a:solidFill>
              </a:rPr>
              <a:t>: pg3ymhp2: </a:t>
            </a:r>
            <a:r>
              <a:rPr lang="en-US" dirty="0" err="1">
                <a:solidFill>
                  <a:schemeClr val="bg1"/>
                </a:solidFill>
              </a:rPr>
              <a:t>lzluser</a:t>
            </a:r>
            <a:r>
              <a:rPr lang="en-US" dirty="0">
                <a:solidFill>
                  <a:schemeClr val="bg1"/>
                </a:solidFill>
              </a:rPr>
              <a:t> 11680 2808348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70558" y="3846902"/>
            <a:ext cx="6096000" cy="230695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cg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memory.oom_control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Arial Bold" panose="020B0604020202090204" charset="0"/>
                <a:cs typeface="Arial Bold" panose="020B0604020202090204" charset="0"/>
              </a:rPr>
              <a:t>under_oom</a:t>
            </a:r>
            <a:r>
              <a:rPr lang="en-US" b="1" dirty="0">
                <a:solidFill>
                  <a:schemeClr val="bg1"/>
                </a:solidFill>
                <a:latin typeface="Arial Bold" panose="020B0604020202090204" charset="0"/>
                <a:cs typeface="Arial Bold" panose="020B0604020202090204" charset="0"/>
              </a:rPr>
              <a:t> 1  --</a:t>
            </a:r>
            <a:r>
              <a:rPr lang="en-US" b="1" dirty="0" err="1">
                <a:solidFill>
                  <a:schemeClr val="bg1"/>
                </a:solidFill>
                <a:latin typeface="Arial Bold" panose="020B0604020202090204" charset="0"/>
                <a:cs typeface="Arial Bold" panose="020B0604020202090204" charset="0"/>
                <a:sym typeface="+mn-ea"/>
              </a:rPr>
              <a:t>oom killer</a:t>
            </a:r>
            <a:r>
              <a:rPr lang="zh-CN" altLang="en-US" b="1" dirty="0">
                <a:solidFill>
                  <a:schemeClr val="bg1"/>
                </a:solidFill>
                <a:latin typeface="Arial Bold" panose="020B0604020202090204" charset="0"/>
                <a:cs typeface="Arial Bold" panose="020B0604020202090204" charset="0"/>
                <a:sym typeface="+mn-ea"/>
              </a:rPr>
              <a:t> </a:t>
            </a:r>
            <a:r>
              <a:rPr lang="en-US" altLang="zh-CN" b="1" dirty="0">
                <a:solidFill>
                  <a:schemeClr val="bg1"/>
                </a:solidFill>
                <a:latin typeface="Arial Bold" panose="020B0604020202090204" charset="0"/>
                <a:cs typeface="Arial Bold" panose="020B0604020202090204" charset="0"/>
                <a:sym typeface="+mn-ea"/>
              </a:rPr>
              <a:t>off</a:t>
            </a:r>
            <a:endParaRPr lang="en-US" b="1" dirty="0">
              <a:solidFill>
                <a:schemeClr val="bg1"/>
              </a:solidFill>
              <a:latin typeface="Arial Bold" panose="020B0604020202090204" charset="0"/>
              <a:cs typeface="Arial Bold" panose="020B0604020202090204" charset="0"/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 err="1">
                <a:solidFill>
                  <a:schemeClr val="bg1"/>
                </a:solidFill>
              </a:rPr>
              <a:t>total_used_rss+map</a:t>
            </a:r>
            <a:r>
              <a:rPr lang="en-US" dirty="0">
                <a:solidFill>
                  <a:schemeClr val="bg1"/>
                </a:solidFill>
              </a:rPr>
              <a:t>           : 7.99789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 err="1">
                <a:solidFill>
                  <a:schemeClr val="bg1"/>
                </a:solidFill>
              </a:rPr>
              <a:t>total_mem_file+rss+map</a:t>
            </a:r>
            <a:r>
              <a:rPr lang="en-US" dirty="0">
                <a:solidFill>
                  <a:schemeClr val="bg1"/>
                </a:solidFill>
              </a:rPr>
              <a:t>    : 7.99789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 err="1">
                <a:solidFill>
                  <a:schemeClr val="bg1"/>
                </a:solidFill>
              </a:rPr>
              <a:t>total_mem_rss+cache</a:t>
            </a:r>
            <a:r>
              <a:rPr lang="en-US" dirty="0">
                <a:solidFill>
                  <a:schemeClr val="bg1"/>
                </a:solidFill>
              </a:rPr>
              <a:t>        : 8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 err="1">
                <a:solidFill>
                  <a:schemeClr val="bg1"/>
                </a:solidFill>
              </a:rPr>
              <a:t>total_mem_anon+file</a:t>
            </a:r>
            <a:r>
              <a:rPr lang="en-US" dirty="0">
                <a:solidFill>
                  <a:schemeClr val="bg1"/>
                </a:solidFill>
              </a:rPr>
              <a:t>          : 8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 err="1">
                <a:solidFill>
                  <a:schemeClr val="bg1"/>
                </a:solidFill>
              </a:rPr>
              <a:t>total_memsw</a:t>
            </a:r>
            <a:r>
              <a:rPr lang="en-US" dirty="0">
                <a:solidFill>
                  <a:schemeClr val="bg1"/>
                </a:solidFill>
              </a:rPr>
              <a:t>                      : 8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 err="1">
                <a:solidFill>
                  <a:schemeClr val="bg1"/>
                </a:solidFill>
              </a:rPr>
              <a:t>hard_limit</a:t>
            </a:r>
            <a:r>
              <a:rPr lang="en-US" dirty="0">
                <a:solidFill>
                  <a:schemeClr val="bg1"/>
                </a:solidFill>
              </a:rPr>
              <a:t>                            : 8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7" name="图片 4" descr="未标题-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287655"/>
            <a:ext cx="1737995" cy="74676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9228455" y="716915"/>
            <a:ext cx="294386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120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开源生态大会暨</a:t>
            </a:r>
            <a:r>
              <a:rPr lang="en-US" altLang="zh-CN" sz="120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PostgreSQL</a:t>
            </a:r>
            <a:r>
              <a:rPr lang="zh-CN" altLang="en-US" sz="120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高峰论坛</a:t>
            </a:r>
            <a:endParaRPr lang="zh-CN" altLang="en-US" sz="1200" b="1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9207500" y="348615"/>
            <a:ext cx="2863215" cy="3835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9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以开源之道</a:t>
            </a:r>
            <a:r>
              <a:rPr lang="en-US" altLang="zh-CN" sz="19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·</a:t>
            </a:r>
            <a:r>
              <a:rPr lang="zh-CN" altLang="en-US" sz="19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见致远之志</a:t>
            </a:r>
            <a:endParaRPr lang="zh-CN" altLang="en-US" sz="1900">
              <a:solidFill>
                <a:schemeClr val="bg1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sp>
        <p:nvSpPr>
          <p:cNvPr id="40" name="文本框 4"/>
          <p:cNvSpPr txBox="1"/>
          <p:nvPr/>
        </p:nvSpPr>
        <p:spPr>
          <a:xfrm>
            <a:off x="447040" y="1184275"/>
            <a:ext cx="94710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dirty="0" err="1">
                <a:solidFill>
                  <a:schemeClr val="bg1"/>
                </a:solidFill>
                <a:sym typeface="+mn-ea"/>
              </a:rPr>
              <a:t>cgmem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-cg </a:t>
            </a:r>
            <a:r>
              <a:rPr lang="en-US" altLang="zh-CN" sz="2000" dirty="0" err="1">
                <a:solidFill>
                  <a:schemeClr val="bg1"/>
                </a:solidFill>
                <a:sym typeface="+mn-ea"/>
              </a:rPr>
              <a:t>oom</a:t>
            </a:r>
            <a:endParaRPr lang="zh-CN" altLang="en-US" sz="2000" dirty="0">
              <a:solidFill>
                <a:schemeClr val="bg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3" name="TextBox 2"/>
          <p:cNvSpPr txBox="1"/>
          <p:nvPr/>
        </p:nvSpPr>
        <p:spPr>
          <a:xfrm>
            <a:off x="610868" y="1590484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oom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altLang="zh-CN" dirty="0">
                <a:solidFill>
                  <a:schemeClr val="bg1"/>
                </a:solidFill>
              </a:rPr>
              <a:t>on</a:t>
            </a:r>
            <a:endParaRPr lang="en-US" altLang="zh-CN" dirty="0">
              <a:solidFill>
                <a:schemeClr val="bg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11188" y="1959999"/>
            <a:ext cx="10850879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用户进程因为</a:t>
            </a:r>
            <a:r>
              <a:rPr lang="en-US" dirty="0" err="1">
                <a:solidFill>
                  <a:schemeClr val="bg1"/>
                </a:solidFill>
              </a:rPr>
              <a:t>oom</a:t>
            </a:r>
            <a:r>
              <a:rPr lang="en-US" dirty="0">
                <a:solidFill>
                  <a:schemeClr val="bg1"/>
                </a:solidFill>
              </a:rPr>
              <a:t> score</a:t>
            </a:r>
            <a:r>
              <a:rPr lang="zh-CN" altLang="en-US" dirty="0">
                <a:solidFill>
                  <a:schemeClr val="bg1"/>
                </a:solidFill>
              </a:rPr>
              <a:t>高而被</a:t>
            </a:r>
            <a:r>
              <a:rPr lang="en-US" dirty="0">
                <a:solidFill>
                  <a:schemeClr val="bg1"/>
                </a:solidFill>
              </a:rPr>
              <a:t>kill，</a:t>
            </a:r>
            <a:r>
              <a:rPr lang="zh-CN" altLang="en-US" dirty="0">
                <a:solidFill>
                  <a:schemeClr val="bg1"/>
                </a:solidFill>
              </a:rPr>
              <a:t>发送的是</a:t>
            </a:r>
            <a:r>
              <a:rPr lang="en-US" dirty="0">
                <a:solidFill>
                  <a:schemeClr val="bg1"/>
                </a:solidFill>
              </a:rPr>
              <a:t>kill -9，pg</a:t>
            </a:r>
            <a:r>
              <a:rPr lang="zh-CN" altLang="en-US" dirty="0">
                <a:solidFill>
                  <a:schemeClr val="bg1"/>
                </a:solidFill>
              </a:rPr>
              <a:t>绝大部分进程奔溃，</a:t>
            </a:r>
            <a:r>
              <a:rPr lang="en-US" dirty="0">
                <a:solidFill>
                  <a:schemeClr val="bg1"/>
                </a:solidFill>
              </a:rPr>
              <a:t>postmaster </a:t>
            </a:r>
            <a:r>
              <a:rPr lang="en-US" dirty="0" err="1">
                <a:solidFill>
                  <a:schemeClr val="bg1"/>
                </a:solidFill>
              </a:rPr>
              <a:t>reset_shared</a:t>
            </a:r>
            <a:r>
              <a:rPr lang="en-US" dirty="0">
                <a:solidFill>
                  <a:schemeClr val="bg1"/>
                </a:solidFill>
              </a:rPr>
              <a:t>()</a:t>
            </a:r>
            <a:r>
              <a:rPr lang="zh-CN" altLang="en-US" dirty="0">
                <a:solidFill>
                  <a:schemeClr val="bg1"/>
                </a:solidFill>
              </a:rPr>
              <a:t>后自动拉起其他进程。</a:t>
            </a:r>
            <a:r>
              <a:rPr lang="en-US" dirty="0" err="1">
                <a:solidFill>
                  <a:schemeClr val="bg1"/>
                </a:solidFill>
              </a:rPr>
              <a:t>mesage</a:t>
            </a:r>
            <a:r>
              <a:rPr lang="zh-CN" altLang="en-US" dirty="0">
                <a:solidFill>
                  <a:schemeClr val="bg1"/>
                </a:solidFill>
              </a:rPr>
              <a:t>和</a:t>
            </a:r>
            <a:r>
              <a:rPr lang="en-US" dirty="0" err="1">
                <a:solidFill>
                  <a:schemeClr val="bg1"/>
                </a:solidFill>
              </a:rPr>
              <a:t>dmesg</a:t>
            </a:r>
            <a:r>
              <a:rPr lang="zh-CN" altLang="en-US" dirty="0">
                <a:solidFill>
                  <a:schemeClr val="bg1"/>
                </a:solidFill>
              </a:rPr>
              <a:t>都有</a:t>
            </a:r>
            <a:r>
              <a:rPr lang="en-US" dirty="0">
                <a:solidFill>
                  <a:schemeClr val="bg1"/>
                </a:solidFill>
              </a:rPr>
              <a:t>out of memory</a:t>
            </a:r>
            <a:r>
              <a:rPr lang="zh-CN" altLang="en-US" dirty="0">
                <a:solidFill>
                  <a:schemeClr val="bg1"/>
                </a:solidFill>
              </a:rPr>
              <a:t>相关信息：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i="1" dirty="0" err="1">
                <a:solidFill>
                  <a:schemeClr val="bg1"/>
                </a:solidFill>
              </a:rPr>
              <a:t>pg</a:t>
            </a:r>
            <a:r>
              <a:rPr lang="zh-CN" altLang="en-US" i="1" dirty="0">
                <a:solidFill>
                  <a:schemeClr val="bg1"/>
                </a:solidFill>
              </a:rPr>
              <a:t> </a:t>
            </a:r>
            <a:r>
              <a:rPr lang="en-US" altLang="zh-CN" i="1" dirty="0">
                <a:solidFill>
                  <a:schemeClr val="bg1"/>
                </a:solidFill>
              </a:rPr>
              <a:t>log</a:t>
            </a:r>
            <a:r>
              <a:rPr lang="zh-CN" altLang="en-US" i="1" dirty="0">
                <a:solidFill>
                  <a:schemeClr val="bg1"/>
                </a:solidFill>
              </a:rPr>
              <a:t>：</a:t>
            </a:r>
            <a:r>
              <a:rPr lang="en-US" altLang="zh-CN" i="1" dirty="0">
                <a:solidFill>
                  <a:schemeClr val="bg1"/>
                </a:solidFill>
              </a:rPr>
              <a:t>server process (PID 236413) was terminated by signal 9: </a:t>
            </a:r>
            <a:r>
              <a:rPr lang="en-US" altLang="zh-CN" i="1" dirty="0" err="1">
                <a:solidFill>
                  <a:schemeClr val="bg1"/>
                </a:solidFill>
              </a:rPr>
              <a:t>Killed","Failed</a:t>
            </a:r>
            <a:r>
              <a:rPr lang="en-US" altLang="zh-CN" i="1" dirty="0">
                <a:solidFill>
                  <a:schemeClr val="bg1"/>
                </a:solidFill>
              </a:rPr>
              <a:t> process was running: select col1 from lzl1 union all</a:t>
            </a:r>
            <a:endParaRPr lang="en-US" i="1" dirty="0">
              <a:solidFill>
                <a:schemeClr val="bg1"/>
              </a:solidFill>
            </a:endParaRPr>
          </a:p>
          <a:p>
            <a:r>
              <a:rPr lang="en-US" i="1" dirty="0">
                <a:solidFill>
                  <a:schemeClr val="bg1"/>
                </a:solidFill>
              </a:rPr>
              <a:t>message/</a:t>
            </a:r>
            <a:r>
              <a:rPr lang="en-US" i="1" dirty="0" err="1">
                <a:solidFill>
                  <a:schemeClr val="bg1"/>
                </a:solidFill>
              </a:rPr>
              <a:t>dmesg</a:t>
            </a:r>
            <a:r>
              <a:rPr lang="en-US" i="1" dirty="0">
                <a:solidFill>
                  <a:schemeClr val="bg1"/>
                </a:solidFill>
              </a:rPr>
              <a:t>:   </a:t>
            </a:r>
            <a:r>
              <a:rPr lang="en-US" i="1" dirty="0" err="1">
                <a:solidFill>
                  <a:schemeClr val="bg1"/>
                </a:solidFill>
              </a:rPr>
              <a:t>lzlhost</a:t>
            </a:r>
            <a:r>
              <a:rPr lang="en-US" i="1" dirty="0">
                <a:solidFill>
                  <a:schemeClr val="bg1"/>
                </a:solidFill>
              </a:rPr>
              <a:t> kernel: Memory </a:t>
            </a:r>
            <a:r>
              <a:rPr lang="en-US" i="1" dirty="0" err="1">
                <a:solidFill>
                  <a:schemeClr val="bg1"/>
                </a:solidFill>
              </a:rPr>
              <a:t>cgroup</a:t>
            </a:r>
            <a:r>
              <a:rPr lang="en-US" i="1" dirty="0">
                <a:solidFill>
                  <a:schemeClr val="bg1"/>
                </a:solidFill>
              </a:rPr>
              <a:t> out of memory: Kill process 236413 (</a:t>
            </a:r>
            <a:r>
              <a:rPr lang="en-US" i="1" dirty="0" err="1">
                <a:solidFill>
                  <a:schemeClr val="bg1"/>
                </a:solidFill>
              </a:rPr>
              <a:t>postgres</a:t>
            </a:r>
            <a:r>
              <a:rPr lang="en-US" i="1" dirty="0">
                <a:solidFill>
                  <a:schemeClr val="bg1"/>
                </a:solidFill>
              </a:rPr>
              <a:t>) score 497 or sacrifice child</a:t>
            </a:r>
            <a:endParaRPr lang="en-US" i="1" dirty="0">
              <a:solidFill>
                <a:schemeClr val="bg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69607" y="3751946"/>
            <a:ext cx="10850879" cy="1198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  <a:latin typeface="Open Sans"/>
              </a:rPr>
              <a:t>cg </a:t>
            </a:r>
            <a:r>
              <a:rPr lang="en-US" b="1" dirty="0" err="1">
                <a:solidFill>
                  <a:srgbClr val="FFFF00"/>
                </a:solidFill>
                <a:latin typeface="Open Sans"/>
              </a:rPr>
              <a:t>oom</a:t>
            </a:r>
            <a:r>
              <a:rPr lang="en-US" b="1" dirty="0">
                <a:solidFill>
                  <a:srgbClr val="FFFF00"/>
                </a:solidFill>
                <a:latin typeface="Open Sans"/>
              </a:rPr>
              <a:t> on</a:t>
            </a:r>
            <a:r>
              <a:rPr lang="zh-CN" altLang="en-US" b="1" dirty="0">
                <a:solidFill>
                  <a:srgbClr val="FFFF00"/>
                </a:solidFill>
                <a:latin typeface="Open Sans"/>
              </a:rPr>
              <a:t>和</a:t>
            </a:r>
            <a:r>
              <a:rPr lang="en-US" b="1" dirty="0">
                <a:solidFill>
                  <a:srgbClr val="FFFF00"/>
                </a:solidFill>
                <a:latin typeface="Open Sans"/>
              </a:rPr>
              <a:t>off</a:t>
            </a:r>
            <a:r>
              <a:rPr lang="zh-CN" altLang="en-US" b="1" dirty="0">
                <a:solidFill>
                  <a:srgbClr val="FFFF00"/>
                </a:solidFill>
                <a:latin typeface="Open Sans"/>
              </a:rPr>
              <a:t>对于</a:t>
            </a:r>
            <a:r>
              <a:rPr lang="en-US" b="1" dirty="0" err="1">
                <a:solidFill>
                  <a:srgbClr val="FFFF00"/>
                </a:solidFill>
                <a:latin typeface="Open Sans"/>
              </a:rPr>
              <a:t>pg</a:t>
            </a:r>
            <a:r>
              <a:rPr lang="zh-CN" altLang="en-US" b="1" dirty="0">
                <a:solidFill>
                  <a:srgbClr val="FFFF00"/>
                </a:solidFill>
                <a:latin typeface="Open Sans"/>
              </a:rPr>
              <a:t>库管理上的区别：</a:t>
            </a:r>
            <a:endParaRPr lang="zh-CN" altLang="en-US" b="1" dirty="0">
              <a:solidFill>
                <a:srgbClr val="FFFF00"/>
              </a:solidFill>
              <a:latin typeface="Open Sans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en-US" dirty="0" err="1">
                <a:solidFill>
                  <a:srgbClr val="FFFF00"/>
                </a:solidFill>
                <a:latin typeface="Open Sans"/>
              </a:rPr>
              <a:t>on，cg</a:t>
            </a:r>
            <a:r>
              <a:rPr lang="en-US" dirty="0">
                <a:solidFill>
                  <a:srgbClr val="FFFF00"/>
                </a:solidFill>
                <a:latin typeface="Open Sans"/>
              </a:rPr>
              <a:t> </a:t>
            </a:r>
            <a:r>
              <a:rPr lang="en-US" dirty="0" err="1">
                <a:solidFill>
                  <a:srgbClr val="FFFF00"/>
                </a:solidFill>
                <a:latin typeface="Open Sans"/>
              </a:rPr>
              <a:t>oom</a:t>
            </a:r>
            <a:r>
              <a:rPr lang="en-US" dirty="0">
                <a:solidFill>
                  <a:srgbClr val="FFFF00"/>
                </a:solidFill>
                <a:latin typeface="Open Sans"/>
              </a:rPr>
              <a:t> killer</a:t>
            </a:r>
            <a:r>
              <a:rPr lang="zh-CN" altLang="en-US" dirty="0">
                <a:solidFill>
                  <a:srgbClr val="FFFF00"/>
                </a:solidFill>
                <a:latin typeface="Open Sans"/>
              </a:rPr>
              <a:t>会</a:t>
            </a:r>
            <a:r>
              <a:rPr lang="en-US" dirty="0">
                <a:solidFill>
                  <a:srgbClr val="FFFF00"/>
                </a:solidFill>
                <a:latin typeface="Open Sans"/>
              </a:rPr>
              <a:t>kill </a:t>
            </a:r>
            <a:r>
              <a:rPr lang="en-US" dirty="0" err="1">
                <a:solidFill>
                  <a:srgbClr val="FFFF00"/>
                </a:solidFill>
                <a:latin typeface="Open Sans"/>
              </a:rPr>
              <a:t>oom</a:t>
            </a:r>
            <a:r>
              <a:rPr lang="en-US" dirty="0">
                <a:solidFill>
                  <a:srgbClr val="FFFF00"/>
                </a:solidFill>
                <a:latin typeface="Open Sans"/>
              </a:rPr>
              <a:t> score</a:t>
            </a:r>
            <a:r>
              <a:rPr lang="zh-CN" altLang="en-US" dirty="0">
                <a:solidFill>
                  <a:srgbClr val="FFFF00"/>
                </a:solidFill>
                <a:latin typeface="Open Sans"/>
              </a:rPr>
              <a:t>高的进程，一般来说是用户进程</a:t>
            </a:r>
            <a:endParaRPr lang="zh-CN" altLang="en-US" dirty="0">
              <a:solidFill>
                <a:srgbClr val="FFFF00"/>
              </a:solidFill>
              <a:latin typeface="Open Sans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en-US" dirty="0" err="1">
                <a:solidFill>
                  <a:srgbClr val="FFFF00"/>
                </a:solidFill>
                <a:latin typeface="Open Sans"/>
              </a:rPr>
              <a:t>off，cg</a:t>
            </a:r>
            <a:r>
              <a:rPr lang="en-US" dirty="0">
                <a:solidFill>
                  <a:srgbClr val="FFFF00"/>
                </a:solidFill>
                <a:latin typeface="Open Sans"/>
              </a:rPr>
              <a:t> </a:t>
            </a:r>
            <a:r>
              <a:rPr lang="en-US" dirty="0" err="1">
                <a:solidFill>
                  <a:srgbClr val="FFFF00"/>
                </a:solidFill>
                <a:latin typeface="Open Sans"/>
              </a:rPr>
              <a:t>oom</a:t>
            </a:r>
            <a:r>
              <a:rPr lang="en-US" dirty="0">
                <a:solidFill>
                  <a:srgbClr val="FFFF00"/>
                </a:solidFill>
                <a:latin typeface="Open Sans"/>
              </a:rPr>
              <a:t> killer</a:t>
            </a:r>
            <a:r>
              <a:rPr lang="zh-CN" altLang="en-US" dirty="0">
                <a:solidFill>
                  <a:srgbClr val="FFFF00"/>
                </a:solidFill>
                <a:latin typeface="Open Sans"/>
              </a:rPr>
              <a:t>不会启动。</a:t>
            </a:r>
            <a:r>
              <a:rPr lang="en-US" dirty="0" err="1">
                <a:solidFill>
                  <a:srgbClr val="FFFF00"/>
                </a:solidFill>
                <a:latin typeface="Open Sans"/>
              </a:rPr>
              <a:t>pg</a:t>
            </a:r>
            <a:r>
              <a:rPr lang="zh-CN" altLang="en-US" dirty="0">
                <a:solidFill>
                  <a:srgbClr val="FFFF00"/>
                </a:solidFill>
                <a:latin typeface="Open Sans"/>
              </a:rPr>
              <a:t>进程会</a:t>
            </a:r>
            <a:r>
              <a:rPr lang="en-US" dirty="0">
                <a:solidFill>
                  <a:srgbClr val="FFFF00"/>
                </a:solidFill>
                <a:latin typeface="Open Sans"/>
              </a:rPr>
              <a:t>hang，</a:t>
            </a:r>
            <a:r>
              <a:rPr lang="zh-CN" altLang="en-US" dirty="0">
                <a:solidFill>
                  <a:srgbClr val="FFFF00"/>
                </a:solidFill>
                <a:latin typeface="Open Sans"/>
              </a:rPr>
              <a:t>当然也可能自己恢复，但</a:t>
            </a:r>
            <a:r>
              <a:rPr lang="en-US" dirty="0" err="1">
                <a:solidFill>
                  <a:srgbClr val="FFFF00"/>
                </a:solidFill>
                <a:latin typeface="Open Sans"/>
              </a:rPr>
              <a:t>pg</a:t>
            </a:r>
            <a:r>
              <a:rPr lang="zh-CN" altLang="en-US" dirty="0">
                <a:solidFill>
                  <a:srgbClr val="FFFF00"/>
                </a:solidFill>
                <a:latin typeface="Open Sans"/>
              </a:rPr>
              <a:t>的关键进程（如</a:t>
            </a:r>
            <a:r>
              <a:rPr lang="en-US" dirty="0" err="1">
                <a:solidFill>
                  <a:srgbClr val="FFFF00"/>
                </a:solidFill>
                <a:latin typeface="Open Sans"/>
              </a:rPr>
              <a:t>walwriter</a:t>
            </a:r>
            <a:r>
              <a:rPr lang="en-US" dirty="0">
                <a:solidFill>
                  <a:srgbClr val="FFFF00"/>
                </a:solidFill>
                <a:latin typeface="Open Sans"/>
              </a:rPr>
              <a:t>）</a:t>
            </a:r>
            <a:r>
              <a:rPr lang="zh-CN" altLang="en-US" dirty="0">
                <a:solidFill>
                  <a:srgbClr val="FFFF00"/>
                </a:solidFill>
                <a:latin typeface="Open Sans"/>
              </a:rPr>
              <a:t>可能因内存不足而跑崩，实例一样可能挂掉。</a:t>
            </a:r>
            <a:endParaRPr lang="zh-CN" altLang="en-US" dirty="0">
              <a:solidFill>
                <a:srgbClr val="FFFF00"/>
              </a:solidFill>
              <a:latin typeface="Open San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11186" y="5668540"/>
            <a:ext cx="1113318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i="1" dirty="0">
                <a:solidFill>
                  <a:schemeClr val="bg1"/>
                </a:solidFill>
                <a:latin typeface="Open Sans"/>
              </a:rPr>
              <a:t>注意这里说的</a:t>
            </a:r>
            <a:r>
              <a:rPr lang="en-US" i="1" dirty="0">
                <a:solidFill>
                  <a:schemeClr val="bg1"/>
                </a:solidFill>
                <a:latin typeface="Open Sans"/>
              </a:rPr>
              <a:t>cg </a:t>
            </a:r>
            <a:r>
              <a:rPr lang="en-US" i="1" dirty="0" err="1">
                <a:solidFill>
                  <a:schemeClr val="bg1"/>
                </a:solidFill>
                <a:latin typeface="Open Sans"/>
              </a:rPr>
              <a:t>oom</a:t>
            </a:r>
            <a:r>
              <a:rPr lang="en-US" i="1" dirty="0">
                <a:solidFill>
                  <a:schemeClr val="bg1"/>
                </a:solidFill>
                <a:latin typeface="Open Sans"/>
              </a:rPr>
              <a:t>，</a:t>
            </a:r>
            <a:r>
              <a:rPr lang="zh-CN" altLang="en-US" i="1" dirty="0">
                <a:solidFill>
                  <a:schemeClr val="bg1"/>
                </a:solidFill>
                <a:latin typeface="Open Sans"/>
              </a:rPr>
              <a:t>不是</a:t>
            </a:r>
            <a:r>
              <a:rPr lang="en-US" i="1" dirty="0" err="1">
                <a:solidFill>
                  <a:schemeClr val="bg1"/>
                </a:solidFill>
                <a:latin typeface="Open Sans"/>
              </a:rPr>
              <a:t>vm</a:t>
            </a:r>
            <a:r>
              <a:rPr lang="en-US" i="1" dirty="0">
                <a:solidFill>
                  <a:schemeClr val="bg1"/>
                </a:solidFill>
                <a:latin typeface="Open Sans"/>
              </a:rPr>
              <a:t> </a:t>
            </a:r>
            <a:r>
              <a:rPr lang="en-US" i="1" dirty="0" err="1">
                <a:solidFill>
                  <a:schemeClr val="bg1"/>
                </a:solidFill>
                <a:latin typeface="Open Sans"/>
              </a:rPr>
              <a:t>oom</a:t>
            </a:r>
            <a:r>
              <a:rPr lang="en-US" i="1" dirty="0">
                <a:solidFill>
                  <a:schemeClr val="bg1"/>
                </a:solidFill>
                <a:latin typeface="Open Sans"/>
              </a:rPr>
              <a:t>。</a:t>
            </a:r>
            <a:r>
              <a:rPr lang="zh-CN" altLang="en-US" i="1" dirty="0">
                <a:solidFill>
                  <a:schemeClr val="bg1"/>
                </a:solidFill>
                <a:latin typeface="Open Sans"/>
              </a:rPr>
              <a:t>系统级的</a:t>
            </a:r>
            <a:r>
              <a:rPr lang="en-US" i="1" dirty="0" err="1">
                <a:solidFill>
                  <a:schemeClr val="bg1"/>
                </a:solidFill>
                <a:latin typeface="Open Sans"/>
              </a:rPr>
              <a:t>vm</a:t>
            </a:r>
            <a:r>
              <a:rPr lang="en-US" i="1" dirty="0">
                <a:solidFill>
                  <a:schemeClr val="bg1"/>
                </a:solidFill>
                <a:latin typeface="Open Sans"/>
              </a:rPr>
              <a:t> </a:t>
            </a:r>
            <a:r>
              <a:rPr lang="en-US" i="1" dirty="0" err="1">
                <a:solidFill>
                  <a:schemeClr val="bg1"/>
                </a:solidFill>
                <a:latin typeface="Open Sans"/>
              </a:rPr>
              <a:t>oom</a:t>
            </a:r>
            <a:r>
              <a:rPr lang="zh-CN" altLang="en-US" i="1" dirty="0">
                <a:solidFill>
                  <a:schemeClr val="bg1"/>
                </a:solidFill>
                <a:latin typeface="Open Sans"/>
              </a:rPr>
              <a:t>主要由系统级的</a:t>
            </a:r>
            <a:r>
              <a:rPr lang="en-US" i="1" dirty="0" err="1">
                <a:solidFill>
                  <a:schemeClr val="bg1"/>
                </a:solidFill>
                <a:latin typeface="Open Sans"/>
              </a:rPr>
              <a:t>vm</a:t>
            </a:r>
            <a:r>
              <a:rPr lang="en-US" i="1" dirty="0">
                <a:solidFill>
                  <a:schemeClr val="bg1"/>
                </a:solidFill>
                <a:latin typeface="Open Sans"/>
              </a:rPr>
              <a:t> overcommit</a:t>
            </a:r>
            <a:r>
              <a:rPr lang="zh-CN" altLang="en-US" i="1" dirty="0">
                <a:solidFill>
                  <a:schemeClr val="bg1"/>
                </a:solidFill>
                <a:latin typeface="Open Sans"/>
              </a:rPr>
              <a:t>机制来判断。</a:t>
            </a:r>
            <a:endParaRPr lang="zh-CN" altLang="en-US" i="1" dirty="0">
              <a:solidFill>
                <a:schemeClr val="bg1"/>
              </a:solidFill>
              <a:latin typeface="Open Sans"/>
            </a:endParaRPr>
          </a:p>
        </p:txBody>
      </p:sp>
      <p:pic>
        <p:nvPicPr>
          <p:cNvPr id="8" name="图片 4" descr="未标题-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287655"/>
            <a:ext cx="1737995" cy="74676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9228455" y="716915"/>
            <a:ext cx="294386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120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开源生态大会暨</a:t>
            </a:r>
            <a:r>
              <a:rPr lang="en-US" altLang="zh-CN" sz="120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PostgreSQL</a:t>
            </a:r>
            <a:r>
              <a:rPr lang="zh-CN" altLang="en-US" sz="120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高峰论坛</a:t>
            </a:r>
            <a:endParaRPr lang="zh-CN" altLang="en-US" sz="1200" b="1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9207500" y="348615"/>
            <a:ext cx="2863215" cy="3835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9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以开源之道</a:t>
            </a:r>
            <a:r>
              <a:rPr lang="en-US" altLang="zh-CN" sz="19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·</a:t>
            </a:r>
            <a:r>
              <a:rPr lang="zh-CN" altLang="en-US" sz="19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见致远之志</a:t>
            </a:r>
            <a:endParaRPr lang="zh-CN" altLang="en-US" sz="1900">
              <a:solidFill>
                <a:schemeClr val="bg1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sp>
        <p:nvSpPr>
          <p:cNvPr id="40" name="文本框 4"/>
          <p:cNvSpPr txBox="1"/>
          <p:nvPr/>
        </p:nvSpPr>
        <p:spPr>
          <a:xfrm>
            <a:off x="447040" y="1184275"/>
            <a:ext cx="94710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dirty="0" err="1">
                <a:solidFill>
                  <a:schemeClr val="bg1"/>
                </a:solidFill>
                <a:sym typeface="+mn-ea"/>
              </a:rPr>
              <a:t>cgmem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-cg </a:t>
            </a:r>
            <a:r>
              <a:rPr lang="en-US" altLang="zh-CN" sz="2000" dirty="0" err="1">
                <a:solidFill>
                  <a:schemeClr val="bg1"/>
                </a:solidFill>
                <a:sym typeface="+mn-ea"/>
              </a:rPr>
              <a:t>oom</a:t>
            </a:r>
            <a:endParaRPr lang="zh-CN" altLang="en-US" sz="2000" dirty="0">
              <a:solidFill>
                <a:schemeClr val="bg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041009" y="2315747"/>
            <a:ext cx="7618730" cy="17532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90204" pitchFamily="34" charset="0"/>
              <a:buChar char="•"/>
            </a:pPr>
            <a:r>
              <a:rPr lang="zh-CN" altLang="en-US" dirty="0">
                <a:solidFill>
                  <a:schemeClr val="bg1"/>
                </a:solidFill>
              </a:rPr>
              <a:t>没有统计</a:t>
            </a:r>
            <a:r>
              <a:rPr lang="en-US" altLang="zh-CN" dirty="0">
                <a:solidFill>
                  <a:schemeClr val="bg1"/>
                </a:solidFill>
              </a:rPr>
              <a:t>cg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altLang="zh-CN" dirty="0" err="1">
                <a:solidFill>
                  <a:schemeClr val="bg1"/>
                </a:solidFill>
              </a:rPr>
              <a:t>pagetable</a:t>
            </a:r>
            <a:endParaRPr lang="en-US" altLang="zh-CN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zh-CN" altLang="en-US" dirty="0">
                <a:solidFill>
                  <a:schemeClr val="bg1"/>
                </a:solidFill>
              </a:rPr>
              <a:t>没有统计</a:t>
            </a:r>
            <a:r>
              <a:rPr lang="en-US" altLang="zh-CN" dirty="0">
                <a:solidFill>
                  <a:schemeClr val="bg1"/>
                </a:solidFill>
              </a:rPr>
              <a:t>cg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altLang="zh-CN" dirty="0">
                <a:solidFill>
                  <a:schemeClr val="bg1"/>
                </a:solidFill>
              </a:rPr>
              <a:t>slab</a:t>
            </a:r>
            <a:endParaRPr lang="en-US" altLang="zh-CN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zh-CN" altLang="en-US" dirty="0">
                <a:solidFill>
                  <a:schemeClr val="bg1"/>
                </a:solidFill>
              </a:rPr>
              <a:t>没有统计</a:t>
            </a:r>
            <a:r>
              <a:rPr lang="en-US" altLang="zh-CN" dirty="0">
                <a:solidFill>
                  <a:schemeClr val="bg1"/>
                </a:solidFill>
              </a:rPr>
              <a:t>cg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altLang="zh-CN" dirty="0" err="1">
                <a:solidFill>
                  <a:schemeClr val="bg1"/>
                </a:solidFill>
              </a:rPr>
              <a:t>hugepage</a:t>
            </a:r>
            <a:r>
              <a:rPr lang="zh-CN" altLang="en-US" dirty="0">
                <a:solidFill>
                  <a:schemeClr val="bg1"/>
                </a:solidFill>
              </a:rPr>
              <a:t>（</a:t>
            </a:r>
            <a:r>
              <a:rPr lang="en-US" altLang="zh-CN" dirty="0" err="1">
                <a:solidFill>
                  <a:schemeClr val="bg1"/>
                </a:solidFill>
              </a:rPr>
              <a:t>hugepage</a:t>
            </a:r>
            <a:r>
              <a:rPr lang="zh-CN" altLang="en-US" dirty="0">
                <a:solidFill>
                  <a:schemeClr val="bg1"/>
                </a:solidFill>
              </a:rPr>
              <a:t>是没有</a:t>
            </a:r>
            <a:r>
              <a:rPr lang="en-US" altLang="zh-CN" dirty="0">
                <a:solidFill>
                  <a:schemeClr val="bg1"/>
                </a:solidFill>
              </a:rPr>
              <a:t>charge</a:t>
            </a:r>
            <a:r>
              <a:rPr lang="zh-CN" altLang="en-US" dirty="0">
                <a:solidFill>
                  <a:schemeClr val="bg1"/>
                </a:solidFill>
              </a:rPr>
              <a:t>，还不是没有算进去）</a:t>
            </a:r>
            <a:endParaRPr lang="en-US" altLang="zh-CN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zh-CN" altLang="en-US" dirty="0">
                <a:solidFill>
                  <a:schemeClr val="bg1"/>
                </a:solidFill>
              </a:rPr>
              <a:t>没有统计</a:t>
            </a:r>
            <a:r>
              <a:rPr lang="en-US" altLang="zh-CN" dirty="0">
                <a:solidFill>
                  <a:schemeClr val="bg1"/>
                </a:solidFill>
              </a:rPr>
              <a:t>cg</a:t>
            </a:r>
            <a:r>
              <a:rPr lang="zh-CN" altLang="en-US" dirty="0">
                <a:solidFill>
                  <a:schemeClr val="bg1"/>
                </a:solidFill>
              </a:rPr>
              <a:t>异步、同步回收</a:t>
            </a:r>
            <a:r>
              <a:rPr lang="en-US" altLang="zh-CN" dirty="0">
                <a:solidFill>
                  <a:schemeClr val="bg1"/>
                </a:solidFill>
              </a:rPr>
              <a:t>pages</a:t>
            </a:r>
            <a:endParaRPr lang="en-US" altLang="zh-CN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cg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rss</a:t>
            </a:r>
            <a:r>
              <a:rPr lang="zh-CN" altLang="en-US" dirty="0">
                <a:solidFill>
                  <a:schemeClr val="bg1"/>
                </a:solidFill>
              </a:rPr>
              <a:t>与</a:t>
            </a:r>
            <a:r>
              <a:rPr lang="en-US" altLang="zh-CN" dirty="0">
                <a:solidFill>
                  <a:schemeClr val="bg1"/>
                </a:solidFill>
              </a:rPr>
              <a:t>process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altLang="zh-CN" dirty="0" err="1">
                <a:solidFill>
                  <a:schemeClr val="bg1"/>
                </a:solidFill>
              </a:rPr>
              <a:t>rss</a:t>
            </a:r>
            <a:r>
              <a:rPr lang="zh-CN" altLang="en-US" dirty="0">
                <a:solidFill>
                  <a:schemeClr val="bg1"/>
                </a:solidFill>
              </a:rPr>
              <a:t>统计口径不统一</a:t>
            </a:r>
            <a:endParaRPr lang="en-US" altLang="zh-CN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 dirty="0" err="1">
                <a:solidFill>
                  <a:schemeClr val="bg1"/>
                </a:solidFill>
              </a:rPr>
              <a:t>shmem</a:t>
            </a:r>
            <a:r>
              <a:rPr lang="zh-CN" altLang="en-US" dirty="0">
                <a:solidFill>
                  <a:schemeClr val="bg1"/>
                </a:solidFill>
              </a:rPr>
              <a:t>统计口径比较乱</a:t>
            </a:r>
            <a:endParaRPr lang="zh-CN" altLang="en-US" dirty="0">
              <a:solidFill>
                <a:schemeClr val="bg1"/>
              </a:solidFill>
            </a:endParaRPr>
          </a:p>
        </p:txBody>
      </p:sp>
      <p:pic>
        <p:nvPicPr>
          <p:cNvPr id="5" name="图片 4" descr="未标题-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287655"/>
            <a:ext cx="1737995" cy="74676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9228455" y="716915"/>
            <a:ext cx="294386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120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开源生态大会暨</a:t>
            </a:r>
            <a:r>
              <a:rPr lang="en-US" altLang="zh-CN" sz="120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PostgreSQL</a:t>
            </a:r>
            <a:r>
              <a:rPr lang="zh-CN" altLang="en-US" sz="120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高峰论坛</a:t>
            </a:r>
            <a:endParaRPr lang="zh-CN" altLang="en-US" sz="1200" b="1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9207500" y="348615"/>
            <a:ext cx="2863215" cy="3835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9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以开源之道</a:t>
            </a:r>
            <a:r>
              <a:rPr lang="en-US" altLang="zh-CN" sz="19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·</a:t>
            </a:r>
            <a:r>
              <a:rPr lang="zh-CN" altLang="en-US" sz="19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见致远之志</a:t>
            </a:r>
            <a:endParaRPr lang="zh-CN" altLang="en-US" sz="1900">
              <a:solidFill>
                <a:schemeClr val="bg1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sp>
        <p:nvSpPr>
          <p:cNvPr id="40" name="文本框 4"/>
          <p:cNvSpPr txBox="1"/>
          <p:nvPr/>
        </p:nvSpPr>
        <p:spPr>
          <a:xfrm>
            <a:off x="447040" y="1184275"/>
            <a:ext cx="94710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 dirty="0">
                <a:solidFill>
                  <a:schemeClr val="bg1"/>
                </a:solidFill>
                <a:sym typeface="+mn-ea"/>
              </a:rPr>
              <a:t>CGROUP V1</a:t>
            </a:r>
            <a:r>
              <a:rPr lang="zh-CN" altLang="en-US" sz="2000" dirty="0">
                <a:solidFill>
                  <a:schemeClr val="bg1"/>
                </a:solidFill>
                <a:sym typeface="+mn-ea"/>
              </a:rPr>
              <a:t>缺</a:t>
            </a:r>
            <a:r>
              <a:rPr lang="zh-CN" altLang="en-US" sz="2000" dirty="0">
                <a:solidFill>
                  <a:schemeClr val="bg1"/>
                </a:solidFill>
                <a:sym typeface="+mn-ea"/>
              </a:rPr>
              <a:t>什么</a:t>
            </a:r>
            <a:endParaRPr lang="zh-CN" altLang="en-US" sz="2000" dirty="0">
              <a:solidFill>
                <a:schemeClr val="bg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 descr="未标题-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287655"/>
            <a:ext cx="1737995" cy="74676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9228455" y="716915"/>
            <a:ext cx="294386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120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开源生态大会暨</a:t>
            </a:r>
            <a:r>
              <a:rPr lang="en-US" altLang="zh-CN" sz="120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PostgreSQL</a:t>
            </a:r>
            <a:r>
              <a:rPr lang="zh-CN" altLang="en-US" sz="120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高峰论坛</a:t>
            </a:r>
            <a:endParaRPr lang="zh-CN" altLang="en-US" sz="1200" b="1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9207500" y="348615"/>
            <a:ext cx="2863215" cy="3835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9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以开源之道</a:t>
            </a:r>
            <a:r>
              <a:rPr lang="en-US" altLang="zh-CN" sz="19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·</a:t>
            </a:r>
            <a:r>
              <a:rPr lang="zh-CN" altLang="en-US" sz="19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见致远之志</a:t>
            </a:r>
            <a:endParaRPr lang="zh-CN" altLang="en-US" sz="1900">
              <a:solidFill>
                <a:schemeClr val="bg1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sp>
        <p:nvSpPr>
          <p:cNvPr id="40" name="文本框 4"/>
          <p:cNvSpPr txBox="1"/>
          <p:nvPr/>
        </p:nvSpPr>
        <p:spPr>
          <a:xfrm>
            <a:off x="447040" y="1184275"/>
            <a:ext cx="94710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 dirty="0">
                <a:solidFill>
                  <a:schemeClr val="bg1"/>
                </a:solidFill>
                <a:sym typeface="+mn-ea"/>
              </a:rPr>
              <a:t>CGROUP V2</a:t>
            </a:r>
            <a:r>
              <a:rPr lang="zh-CN" altLang="en-US" sz="2000" dirty="0">
                <a:solidFill>
                  <a:schemeClr val="bg1"/>
                </a:solidFill>
                <a:sym typeface="+mn-ea"/>
              </a:rPr>
              <a:t>有</a:t>
            </a:r>
            <a:r>
              <a:rPr lang="zh-CN" altLang="en-US" sz="2000" dirty="0">
                <a:solidFill>
                  <a:schemeClr val="bg1"/>
                </a:solidFill>
                <a:sym typeface="+mn-ea"/>
              </a:rPr>
              <a:t>什么</a:t>
            </a:r>
            <a:endParaRPr lang="zh-CN" altLang="en-US" sz="2000" dirty="0">
              <a:solidFill>
                <a:schemeClr val="bg1"/>
              </a:solidFill>
              <a:sym typeface="+mn-ea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70560" y="1774993"/>
            <a:ext cx="4590680" cy="369332"/>
          </a:xfrm>
          <a:prstGeom prst="rect">
            <a:avLst/>
          </a:prstGeom>
        </p:spPr>
        <p:txBody>
          <a:bodyPr wrap="none">
            <a:spAutoFit/>
          </a:bodyPr>
          <a:p>
            <a:r>
              <a:rPr lang="en-US" dirty="0">
                <a:solidFill>
                  <a:schemeClr val="bg1"/>
                </a:solidFill>
                <a:latin typeface="Open Sans"/>
              </a:rPr>
              <a:t>V2 Officially released in Linux 4.5 (March 2016)</a:t>
            </a:r>
            <a:endParaRPr lang="en-US" dirty="0">
              <a:solidFill>
                <a:schemeClr val="bg1"/>
              </a:solidFill>
              <a:latin typeface="Open Sans"/>
            </a:endParaRPr>
          </a:p>
        </p:txBody>
      </p:sp>
      <p:sp>
        <p:nvSpPr>
          <p:cNvPr id="2" name="Rectangle 4"/>
          <p:cNvSpPr/>
          <p:nvPr/>
        </p:nvSpPr>
        <p:spPr>
          <a:xfrm>
            <a:off x="670558" y="2634312"/>
            <a:ext cx="9908345" cy="1754326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dirty="0">
                <a:solidFill>
                  <a:schemeClr val="bg1"/>
                </a:solidFill>
              </a:rPr>
              <a:t>v2 cg mem</a:t>
            </a:r>
            <a:r>
              <a:rPr lang="zh-CN" altLang="en-US" dirty="0">
                <a:solidFill>
                  <a:schemeClr val="bg1"/>
                </a:solidFill>
              </a:rPr>
              <a:t>在管理上有如下优势：</a:t>
            </a:r>
            <a:endParaRPr lang="en-US" altLang="zh-CN" dirty="0">
              <a:solidFill>
                <a:schemeClr val="bg1"/>
              </a:solidFill>
              <a:latin typeface="Open Sans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zh-CN" altLang="en-US" dirty="0">
                <a:solidFill>
                  <a:schemeClr val="bg1"/>
                </a:solidFill>
                <a:latin typeface="Open Sans"/>
              </a:rPr>
              <a:t>相对</a:t>
            </a:r>
            <a:r>
              <a:rPr lang="en-US" dirty="0">
                <a:solidFill>
                  <a:schemeClr val="bg1"/>
                </a:solidFill>
                <a:latin typeface="Open Sans"/>
              </a:rPr>
              <a:t>v1，v2</a:t>
            </a:r>
            <a:r>
              <a:rPr lang="zh-CN" altLang="en-US" dirty="0">
                <a:solidFill>
                  <a:schemeClr val="bg1"/>
                </a:solidFill>
                <a:latin typeface="Open Sans"/>
              </a:rPr>
              <a:t>有更简单明了的层级管理</a:t>
            </a:r>
            <a:endParaRPr lang="zh-CN" altLang="en-US" dirty="0">
              <a:solidFill>
                <a:schemeClr val="bg1"/>
              </a:solidFill>
              <a:latin typeface="Open Sans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Open Sans"/>
              </a:rPr>
              <a:t>v1</a:t>
            </a:r>
            <a:r>
              <a:rPr lang="zh-CN" altLang="en-US" dirty="0">
                <a:solidFill>
                  <a:schemeClr val="bg1"/>
                </a:solidFill>
                <a:latin typeface="Open Sans"/>
              </a:rPr>
              <a:t>只有</a:t>
            </a:r>
            <a:r>
              <a:rPr lang="en-US" dirty="0">
                <a:solidFill>
                  <a:schemeClr val="bg1"/>
                </a:solidFill>
                <a:latin typeface="Open Sans"/>
              </a:rPr>
              <a:t>OOM kill or freeze，</a:t>
            </a:r>
            <a:r>
              <a:rPr lang="en-US" dirty="0">
                <a:solidFill>
                  <a:srgbClr val="FFFF00"/>
                </a:solidFill>
                <a:latin typeface="Open Sans"/>
              </a:rPr>
              <a:t>v2</a:t>
            </a:r>
            <a:r>
              <a:rPr lang="zh-CN" altLang="en-US" dirty="0">
                <a:solidFill>
                  <a:srgbClr val="FFFF00"/>
                </a:solidFill>
                <a:latin typeface="Open Sans"/>
              </a:rPr>
              <a:t>有更多手段控制内存大小</a:t>
            </a:r>
            <a:r>
              <a:rPr lang="en-US" altLang="zh-CN" dirty="0">
                <a:solidFill>
                  <a:srgbClr val="FFFF00"/>
                </a:solidFill>
                <a:latin typeface="Open Sans"/>
              </a:rPr>
              <a:t>(</a:t>
            </a:r>
            <a:r>
              <a:rPr lang="zh-CN" altLang="en-US" dirty="0">
                <a:solidFill>
                  <a:srgbClr val="FFFF00"/>
                </a:solidFill>
                <a:latin typeface="Open Sans"/>
              </a:rPr>
              <a:t>如</a:t>
            </a:r>
            <a:r>
              <a:rPr lang="en-US" dirty="0" err="1">
                <a:solidFill>
                  <a:srgbClr val="FFFF00"/>
                </a:solidFill>
                <a:latin typeface="Open Sans"/>
              </a:rPr>
              <a:t>memory.min</a:t>
            </a:r>
            <a:r>
              <a:rPr lang="en-US" dirty="0">
                <a:solidFill>
                  <a:srgbClr val="FFFF00"/>
                </a:solidFill>
                <a:latin typeface="Open Sans"/>
              </a:rPr>
              <a:t>/low/high)</a:t>
            </a:r>
            <a:endParaRPr lang="en-US" dirty="0">
              <a:solidFill>
                <a:srgbClr val="FFFF00"/>
              </a:solidFill>
              <a:latin typeface="Open Sans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Open Sans"/>
              </a:rPr>
              <a:t>v2</a:t>
            </a:r>
            <a:r>
              <a:rPr lang="zh-CN" altLang="en-US" dirty="0">
                <a:solidFill>
                  <a:schemeClr val="bg1"/>
                </a:solidFill>
                <a:latin typeface="Open Sans"/>
              </a:rPr>
              <a:t>更容易控制突刺负载</a:t>
            </a:r>
            <a:endParaRPr lang="en-US" dirty="0">
              <a:solidFill>
                <a:schemeClr val="bg1"/>
              </a:solidFill>
              <a:latin typeface="Open Sans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zh-CN" altLang="en-US" dirty="0">
                <a:solidFill>
                  <a:schemeClr val="bg1"/>
                </a:solidFill>
                <a:latin typeface="Open Sans"/>
              </a:rPr>
              <a:t>移除直接关闭</a:t>
            </a:r>
            <a:r>
              <a:rPr lang="en-US" dirty="0">
                <a:solidFill>
                  <a:schemeClr val="bg1"/>
                </a:solidFill>
                <a:latin typeface="Open Sans"/>
              </a:rPr>
              <a:t>cg </a:t>
            </a:r>
            <a:r>
              <a:rPr lang="en-US" dirty="0" err="1">
                <a:solidFill>
                  <a:schemeClr val="bg1"/>
                </a:solidFill>
                <a:latin typeface="Open Sans"/>
              </a:rPr>
              <a:t>oom</a:t>
            </a:r>
            <a:r>
              <a:rPr lang="en-US" dirty="0">
                <a:solidFill>
                  <a:schemeClr val="bg1"/>
                </a:solidFill>
                <a:latin typeface="Open Sans"/>
              </a:rPr>
              <a:t> killer</a:t>
            </a:r>
            <a:r>
              <a:rPr lang="zh-CN" altLang="en-US" dirty="0">
                <a:solidFill>
                  <a:schemeClr val="bg1"/>
                </a:solidFill>
                <a:latin typeface="Open Sans"/>
              </a:rPr>
              <a:t>的接口文件</a:t>
            </a:r>
            <a:endParaRPr lang="zh-CN" altLang="en-US" dirty="0">
              <a:solidFill>
                <a:schemeClr val="bg1"/>
              </a:solidFill>
              <a:latin typeface="Open Sans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zh-CN" altLang="en-US" dirty="0">
                <a:solidFill>
                  <a:srgbClr val="FFFF00"/>
                </a:solidFill>
                <a:latin typeface="Open Sans"/>
              </a:rPr>
              <a:t>增加</a:t>
            </a:r>
            <a:r>
              <a:rPr lang="en-US" dirty="0" err="1">
                <a:solidFill>
                  <a:srgbClr val="FFFF00"/>
                </a:solidFill>
                <a:latin typeface="Open Sans"/>
              </a:rPr>
              <a:t>memory_hugetlb_accounting</a:t>
            </a:r>
            <a:endParaRPr lang="en-US" b="0" i="0" u="none" strike="noStrike" dirty="0" err="1">
              <a:solidFill>
                <a:srgbClr val="FFFF00"/>
              </a:solidFill>
              <a:effectLst/>
              <a:latin typeface="Open Sans"/>
            </a:endParaRPr>
          </a:p>
        </p:txBody>
      </p:sp>
      <p:sp>
        <p:nvSpPr>
          <p:cNvPr id="7" name="Rectangle 5"/>
          <p:cNvSpPr/>
          <p:nvPr/>
        </p:nvSpPr>
        <p:spPr>
          <a:xfrm>
            <a:off x="670558" y="4885819"/>
            <a:ext cx="9022081" cy="147637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dirty="0">
                <a:solidFill>
                  <a:schemeClr val="bg1"/>
                </a:solidFill>
                <a:latin typeface="Open Sans"/>
              </a:rPr>
              <a:t>v2 cg mem</a:t>
            </a:r>
            <a:r>
              <a:rPr lang="zh-CN" altLang="en-US" dirty="0">
                <a:solidFill>
                  <a:schemeClr val="bg1"/>
                </a:solidFill>
                <a:latin typeface="Open Sans"/>
              </a:rPr>
              <a:t>在观测上有如下优势：</a:t>
            </a:r>
            <a:endParaRPr lang="zh-CN" altLang="en-US" dirty="0">
              <a:solidFill>
                <a:schemeClr val="bg1"/>
              </a:solidFill>
              <a:latin typeface="Open Sans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zh-CN" altLang="en-US" dirty="0">
                <a:solidFill>
                  <a:srgbClr val="FFFF00"/>
                </a:solidFill>
                <a:latin typeface="Open Sans"/>
              </a:rPr>
              <a:t>新增</a:t>
            </a:r>
            <a:r>
              <a:rPr lang="en-US" dirty="0" err="1">
                <a:solidFill>
                  <a:srgbClr val="FFFF00"/>
                </a:solidFill>
                <a:latin typeface="Open Sans"/>
              </a:rPr>
              <a:t>slab、pagetable、pgscank</a:t>
            </a:r>
            <a:r>
              <a:rPr lang="en-US" dirty="0">
                <a:solidFill>
                  <a:srgbClr val="FFFF00"/>
                </a:solidFill>
                <a:latin typeface="Open Sans"/>
              </a:rPr>
              <a:t>/</a:t>
            </a:r>
            <a:r>
              <a:rPr lang="en-US" dirty="0" err="1">
                <a:solidFill>
                  <a:srgbClr val="FFFF00"/>
                </a:solidFill>
                <a:latin typeface="Open Sans"/>
              </a:rPr>
              <a:t>pgsand</a:t>
            </a:r>
            <a:r>
              <a:rPr lang="en-US" dirty="0">
                <a:solidFill>
                  <a:srgbClr val="FFFF00"/>
                </a:solidFill>
                <a:latin typeface="Open Sans"/>
              </a:rPr>
              <a:t>/</a:t>
            </a:r>
            <a:r>
              <a:rPr lang="en-US" dirty="0" err="1">
                <a:solidFill>
                  <a:srgbClr val="FFFF00"/>
                </a:solidFill>
                <a:latin typeface="Open Sans"/>
              </a:rPr>
              <a:t>pgsteal</a:t>
            </a:r>
            <a:r>
              <a:rPr lang="en-US" dirty="0">
                <a:solidFill>
                  <a:srgbClr val="FFFF00"/>
                </a:solidFill>
                <a:latin typeface="Open Sans"/>
              </a:rPr>
              <a:t>、</a:t>
            </a:r>
            <a:r>
              <a:rPr lang="zh-CN" altLang="en-US" dirty="0">
                <a:solidFill>
                  <a:srgbClr val="FFFF00"/>
                </a:solidFill>
                <a:latin typeface="Open Sans"/>
              </a:rPr>
              <a:t>大页信息</a:t>
            </a:r>
            <a:r>
              <a:rPr lang="zh-CN" altLang="en-US" dirty="0">
                <a:solidFill>
                  <a:schemeClr val="bg1"/>
                </a:solidFill>
                <a:latin typeface="Open Sans"/>
              </a:rPr>
              <a:t>，这些都是</a:t>
            </a:r>
            <a:r>
              <a:rPr lang="en-US" dirty="0">
                <a:solidFill>
                  <a:schemeClr val="bg1"/>
                </a:solidFill>
                <a:latin typeface="Open Sans"/>
              </a:rPr>
              <a:t>v1</a:t>
            </a:r>
            <a:r>
              <a:rPr lang="zh-CN" altLang="en-US" dirty="0">
                <a:solidFill>
                  <a:schemeClr val="bg1"/>
                </a:solidFill>
                <a:latin typeface="Open Sans"/>
              </a:rPr>
              <a:t>没有的</a:t>
            </a:r>
            <a:endParaRPr lang="zh-CN" altLang="en-US" dirty="0">
              <a:solidFill>
                <a:schemeClr val="bg1"/>
              </a:solidFill>
              <a:latin typeface="Open Sans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zh-CN" altLang="en-US" dirty="0">
                <a:solidFill>
                  <a:schemeClr val="bg1"/>
                </a:solidFill>
                <a:latin typeface="Open Sans"/>
              </a:rPr>
              <a:t>更多具体特性相关的观测指标，比如</a:t>
            </a:r>
            <a:r>
              <a:rPr lang="en-US" dirty="0">
                <a:solidFill>
                  <a:schemeClr val="bg1"/>
                </a:solidFill>
                <a:latin typeface="Open Sans"/>
              </a:rPr>
              <a:t>sock 、</a:t>
            </a:r>
            <a:r>
              <a:rPr lang="en-US" dirty="0" err="1">
                <a:solidFill>
                  <a:schemeClr val="bg1"/>
                </a:solidFill>
                <a:latin typeface="Open Sans"/>
              </a:rPr>
              <a:t>vmalloc</a:t>
            </a:r>
            <a:r>
              <a:rPr lang="en-US" dirty="0">
                <a:solidFill>
                  <a:schemeClr val="bg1"/>
                </a:solidFill>
                <a:latin typeface="Open Sans"/>
              </a:rPr>
              <a:t>、</a:t>
            </a:r>
            <a:r>
              <a:rPr lang="zh-CN" altLang="en-US" dirty="0">
                <a:solidFill>
                  <a:schemeClr val="bg1"/>
                </a:solidFill>
                <a:latin typeface="Open Sans"/>
              </a:rPr>
              <a:t>透明大页、</a:t>
            </a:r>
            <a:r>
              <a:rPr lang="en-US" dirty="0" err="1">
                <a:solidFill>
                  <a:schemeClr val="bg1"/>
                </a:solidFill>
                <a:latin typeface="Open Sans"/>
              </a:rPr>
              <a:t>zswap</a:t>
            </a:r>
            <a:r>
              <a:rPr lang="zh-CN" altLang="en-US" dirty="0">
                <a:solidFill>
                  <a:schemeClr val="bg1"/>
                </a:solidFill>
                <a:latin typeface="Open Sans"/>
              </a:rPr>
              <a:t>压缩交换、</a:t>
            </a:r>
            <a:r>
              <a:rPr lang="en-US" dirty="0" err="1">
                <a:solidFill>
                  <a:schemeClr val="bg1"/>
                </a:solidFill>
                <a:latin typeface="Open Sans"/>
              </a:rPr>
              <a:t>swap_zero</a:t>
            </a:r>
            <a:r>
              <a:rPr lang="zh-CN" altLang="en-US" dirty="0">
                <a:solidFill>
                  <a:schemeClr val="bg1"/>
                </a:solidFill>
                <a:latin typeface="Open Sans"/>
              </a:rPr>
              <a:t>全零交换等</a:t>
            </a:r>
            <a:endParaRPr lang="zh-CN" altLang="en-US" dirty="0">
              <a:solidFill>
                <a:schemeClr val="bg1"/>
              </a:solidFill>
              <a:latin typeface="Open Sans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zh-CN" altLang="en-US" dirty="0">
                <a:solidFill>
                  <a:srgbClr val="FFFF00"/>
                </a:solidFill>
                <a:latin typeface="Open Sans"/>
              </a:rPr>
              <a:t>共享内存</a:t>
            </a:r>
            <a:r>
              <a:rPr lang="en-US" dirty="0" err="1">
                <a:solidFill>
                  <a:srgbClr val="FFFF00"/>
                </a:solidFill>
                <a:latin typeface="Open Sans"/>
              </a:rPr>
              <a:t>shmem</a:t>
            </a:r>
            <a:r>
              <a:rPr lang="zh-CN" altLang="en-US" dirty="0">
                <a:solidFill>
                  <a:srgbClr val="FFFF00"/>
                </a:solidFill>
                <a:latin typeface="Open Sans"/>
              </a:rPr>
              <a:t>和</a:t>
            </a:r>
            <a:r>
              <a:rPr lang="en-US" dirty="0" err="1">
                <a:solidFill>
                  <a:srgbClr val="FFFF00"/>
                </a:solidFill>
                <a:latin typeface="Open Sans"/>
              </a:rPr>
              <a:t>file_mapped</a:t>
            </a:r>
            <a:r>
              <a:rPr lang="zh-CN" altLang="en-US" dirty="0">
                <a:solidFill>
                  <a:srgbClr val="FFFF00"/>
                </a:solidFill>
                <a:latin typeface="Open Sans"/>
              </a:rPr>
              <a:t>指标分开</a:t>
            </a:r>
            <a:endParaRPr lang="zh-CN" altLang="en-US" b="0" i="0" u="none" strike="noStrike" dirty="0">
              <a:solidFill>
                <a:srgbClr val="FFFF00"/>
              </a:solidFill>
              <a:effectLst/>
              <a:latin typeface="Open San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5257800" y="2690495"/>
            <a:ext cx="508254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kumimoji="1" lang="zh-CN" altLang="en-US" sz="6000" b="1" dirty="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  <a:sym typeface="+mn-ea"/>
              </a:rPr>
              <a:t>大页的</a:t>
            </a:r>
            <a:r>
              <a:rPr kumimoji="1" lang="zh-CN" altLang="en-US" sz="6000" b="1" dirty="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  <a:sym typeface="+mn-ea"/>
              </a:rPr>
              <a:t>管理</a:t>
            </a:r>
            <a:endParaRPr kumimoji="1" lang="zh-CN" altLang="en-US" sz="6000" b="1" dirty="0">
              <a:solidFill>
                <a:schemeClr val="bg1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  <a:sym typeface="+mn-ea"/>
            </a:endParaRPr>
          </a:p>
        </p:txBody>
      </p:sp>
      <p:pic>
        <p:nvPicPr>
          <p:cNvPr id="5" name="图片 4" descr="未标题-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287655"/>
            <a:ext cx="1737995" cy="74676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9228455" y="716915"/>
            <a:ext cx="294386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120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开源生态大会暨</a:t>
            </a:r>
            <a:r>
              <a:rPr lang="en-US" altLang="zh-CN" sz="120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PostgreSQL</a:t>
            </a:r>
            <a:r>
              <a:rPr lang="zh-CN" altLang="en-US" sz="120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高峰论坛</a:t>
            </a:r>
            <a:endParaRPr lang="zh-CN" altLang="en-US" sz="1200" b="1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9207500" y="348615"/>
            <a:ext cx="2863215" cy="3835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9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以开源之道</a:t>
            </a:r>
            <a:r>
              <a:rPr lang="en-US" altLang="zh-CN" sz="19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·</a:t>
            </a:r>
            <a:r>
              <a:rPr lang="zh-CN" altLang="en-US" sz="19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见致远之志</a:t>
            </a:r>
            <a:endParaRPr lang="zh-CN" altLang="en-US" sz="1900">
              <a:solidFill>
                <a:schemeClr val="bg1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5" name="图片 4" descr="未标题-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287655"/>
            <a:ext cx="1737995" cy="74676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9228455" y="716915"/>
            <a:ext cx="294386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120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开源生态大会暨</a:t>
            </a:r>
            <a:r>
              <a:rPr lang="en-US" altLang="zh-CN" sz="120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PostgreSQL</a:t>
            </a:r>
            <a:r>
              <a:rPr lang="zh-CN" altLang="en-US" sz="120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高峰论坛</a:t>
            </a:r>
            <a:endParaRPr lang="zh-CN" altLang="en-US" sz="1200" b="1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9207500" y="348615"/>
            <a:ext cx="2863215" cy="3835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9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以开源之道</a:t>
            </a:r>
            <a:r>
              <a:rPr lang="en-US" altLang="zh-CN" sz="19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·</a:t>
            </a:r>
            <a:r>
              <a:rPr lang="zh-CN" altLang="en-US" sz="19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见致远之志</a:t>
            </a:r>
            <a:endParaRPr lang="zh-CN" altLang="en-US" sz="1900">
              <a:solidFill>
                <a:schemeClr val="bg1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sp>
        <p:nvSpPr>
          <p:cNvPr id="40" name="文本框 4"/>
          <p:cNvSpPr txBox="1"/>
          <p:nvPr/>
        </p:nvSpPr>
        <p:spPr>
          <a:xfrm>
            <a:off x="447040" y="1184275"/>
            <a:ext cx="94710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大页的</a:t>
            </a:r>
            <a:r>
              <a:rPr lang="zh-CN" altLang="en-US" sz="200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优势？</a:t>
            </a:r>
            <a:endParaRPr lang="zh-CN" altLang="en-US" sz="2000" b="1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sp>
        <p:nvSpPr>
          <p:cNvPr id="31" name="Text Box 30"/>
          <p:cNvSpPr txBox="1"/>
          <p:nvPr/>
        </p:nvSpPr>
        <p:spPr>
          <a:xfrm>
            <a:off x="604520" y="2033270"/>
            <a:ext cx="11033760" cy="3138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/>
                </a:solidFill>
              </a:rPr>
              <a:t>大页对一些内存问题（内存碎片、</a:t>
            </a:r>
            <a:r>
              <a:rPr lang="en-US" altLang="en-US">
                <a:solidFill>
                  <a:schemeClr val="bg1"/>
                </a:solidFill>
              </a:rPr>
              <a:t>CG</a:t>
            </a:r>
            <a:r>
              <a:rPr lang="zh-CN" altLang="en-US">
                <a:solidFill>
                  <a:schemeClr val="bg1"/>
                </a:solidFill>
              </a:rPr>
              <a:t>内直接内存回收）</a:t>
            </a:r>
            <a:r>
              <a:rPr lang="zh-CN" altLang="en-US">
                <a:solidFill>
                  <a:schemeClr val="bg1"/>
                </a:solidFill>
              </a:rPr>
              <a:t>有非常好的效果。</a:t>
            </a:r>
            <a:endParaRPr lang="en-US" altLang="en-US">
              <a:solidFill>
                <a:schemeClr val="bg1"/>
              </a:solidFill>
            </a:endParaRPr>
          </a:p>
          <a:p>
            <a:endParaRPr lang="en-US" altLang="en-US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</a:rPr>
              <a:t>PG</a:t>
            </a:r>
            <a:r>
              <a:rPr lang="zh-CN" altLang="en-US">
                <a:solidFill>
                  <a:schemeClr val="bg1"/>
                </a:solidFill>
              </a:rPr>
              <a:t>用大页的</a:t>
            </a:r>
            <a:r>
              <a:rPr lang="zh-CN" altLang="en-US">
                <a:solidFill>
                  <a:schemeClr val="bg1"/>
                </a:solidFill>
              </a:rPr>
              <a:t>优势：</a:t>
            </a:r>
            <a:endParaRPr lang="zh-CN" altLang="en-US">
              <a:solidFill>
                <a:schemeClr val="bg1"/>
              </a:solidFill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zh-CN" altLang="en-US">
                <a:solidFill>
                  <a:schemeClr val="bg1"/>
                </a:solidFill>
              </a:rPr>
              <a:t>可以少许提升</a:t>
            </a:r>
            <a:r>
              <a:rPr lang="en-US" altLang="zh-CN">
                <a:solidFill>
                  <a:schemeClr val="bg1"/>
                </a:solidFill>
              </a:rPr>
              <a:t>TPS</a:t>
            </a:r>
            <a:endParaRPr lang="en-US" altLang="zh-CN">
              <a:solidFill>
                <a:schemeClr val="bg1"/>
              </a:solidFill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zh-CN" altLang="en-US">
                <a:solidFill>
                  <a:schemeClr val="bg1"/>
                </a:solidFill>
              </a:rPr>
              <a:t>减少</a:t>
            </a:r>
            <a:r>
              <a:rPr lang="en-US" altLang="en-US">
                <a:solidFill>
                  <a:schemeClr val="bg1"/>
                </a:solidFill>
              </a:rPr>
              <a:t>TLB</a:t>
            </a:r>
            <a:r>
              <a:rPr lang="zh-CN" altLang="en-US">
                <a:solidFill>
                  <a:schemeClr val="bg1"/>
                </a:solidFill>
              </a:rPr>
              <a:t>刷新压力</a:t>
            </a:r>
            <a:endParaRPr lang="en-US" altLang="en-US">
              <a:solidFill>
                <a:schemeClr val="bg1"/>
              </a:solidFill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zh-CN" altLang="en-US" b="1">
                <a:solidFill>
                  <a:srgbClr val="FFFF00"/>
                </a:solidFill>
              </a:rPr>
              <a:t>极大的减少</a:t>
            </a:r>
            <a:r>
              <a:rPr lang="en-US" altLang="en-US" b="1">
                <a:solidFill>
                  <a:srgbClr val="FFFF00"/>
                </a:solidFill>
              </a:rPr>
              <a:t>pagetable</a:t>
            </a:r>
            <a:r>
              <a:rPr lang="zh-CN" altLang="en-US" b="1">
                <a:solidFill>
                  <a:srgbClr val="FFFF00"/>
                </a:solidFill>
              </a:rPr>
              <a:t>在主内存上的大小。这不仅减少了内存占用，在内存回收时也可更快的通过物理内存找到虚拟内存（</a:t>
            </a:r>
            <a:r>
              <a:rPr lang="en-US" altLang="zh-CN" b="1">
                <a:solidFill>
                  <a:srgbClr val="FFFF00"/>
                </a:solidFill>
              </a:rPr>
              <a:t>pagetable</a:t>
            </a:r>
            <a:r>
              <a:rPr lang="zh-CN" altLang="en-US" b="1">
                <a:solidFill>
                  <a:srgbClr val="FFFF00"/>
                </a:solidFill>
              </a:rPr>
              <a:t>是存映射的）</a:t>
            </a:r>
            <a:endParaRPr lang="en-US" altLang="en-US" b="1">
              <a:solidFill>
                <a:srgbClr val="FFFF00"/>
              </a:solidFill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zh-CN" altLang="en-US">
                <a:solidFill>
                  <a:schemeClr val="bg1"/>
                </a:solidFill>
              </a:rPr>
              <a:t>大页在物理上是连续的。连续的物理内存访问比不连续的物理内存访问更优</a:t>
            </a:r>
            <a:endParaRPr lang="en-US" altLang="en-US">
              <a:solidFill>
                <a:schemeClr val="bg1"/>
              </a:solidFill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zh-CN" altLang="en-US">
                <a:solidFill>
                  <a:schemeClr val="bg1"/>
                </a:solidFill>
              </a:rPr>
              <a:t>当使用大页时，</a:t>
            </a:r>
            <a:r>
              <a:rPr lang="en-US" altLang="en-US">
                <a:solidFill>
                  <a:schemeClr val="bg1"/>
                </a:solidFill>
              </a:rPr>
              <a:t>page</a:t>
            </a:r>
            <a:r>
              <a:rPr lang="zh-CN" altLang="en-US">
                <a:solidFill>
                  <a:schemeClr val="bg1"/>
                </a:solidFill>
              </a:rPr>
              <a:t>是直接映射的，不会使用多级的</a:t>
            </a:r>
            <a:r>
              <a:rPr lang="en-US" altLang="en-US">
                <a:solidFill>
                  <a:schemeClr val="bg1"/>
                </a:solidFill>
              </a:rPr>
              <a:t>pte</a:t>
            </a:r>
            <a:r>
              <a:rPr lang="zh-CN" altLang="en-US">
                <a:solidFill>
                  <a:schemeClr val="bg1"/>
                </a:solidFill>
              </a:rPr>
              <a:t>条目</a:t>
            </a:r>
            <a:endParaRPr lang="zh-CN" altLang="en-US">
              <a:solidFill>
                <a:schemeClr val="bg1"/>
              </a:solidFill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zh-CN" altLang="en-US" b="1">
                <a:solidFill>
                  <a:srgbClr val="FFFF00"/>
                </a:solidFill>
              </a:rPr>
              <a:t>非大页的共享内存理论上可能回收，但大页不会</a:t>
            </a:r>
            <a:endParaRPr lang="zh-CN" altLang="en-US" b="1">
              <a:solidFill>
                <a:srgbClr val="FFFF00"/>
              </a:solidFill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endParaRPr lang="zh-CN" altLang="en-US" b="1">
              <a:solidFill>
                <a:srgbClr val="FFFF00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5" name="图片 4" descr="未标题-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287655"/>
            <a:ext cx="1737995" cy="74676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9228455" y="716915"/>
            <a:ext cx="294386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120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开源生态大会暨</a:t>
            </a:r>
            <a:r>
              <a:rPr lang="en-US" altLang="zh-CN" sz="120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PostgreSQL</a:t>
            </a:r>
            <a:r>
              <a:rPr lang="zh-CN" altLang="en-US" sz="120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高峰论坛</a:t>
            </a:r>
            <a:endParaRPr lang="zh-CN" altLang="en-US" sz="1200" b="1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9207500" y="348615"/>
            <a:ext cx="2863215" cy="3835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9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以开源之道</a:t>
            </a:r>
            <a:r>
              <a:rPr lang="en-US" altLang="zh-CN" sz="19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·</a:t>
            </a:r>
            <a:r>
              <a:rPr lang="zh-CN" altLang="en-US" sz="19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见致远之志</a:t>
            </a:r>
            <a:endParaRPr lang="zh-CN" altLang="en-US" sz="1900">
              <a:solidFill>
                <a:schemeClr val="bg1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sp>
        <p:nvSpPr>
          <p:cNvPr id="40" name="文本框 4"/>
          <p:cNvSpPr txBox="1"/>
          <p:nvPr/>
        </p:nvSpPr>
        <p:spPr>
          <a:xfrm>
            <a:off x="447040" y="1184275"/>
            <a:ext cx="94710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大页多少</a:t>
            </a:r>
            <a:r>
              <a:rPr lang="zh-CN" altLang="en-US" sz="200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合适</a:t>
            </a:r>
            <a:endParaRPr lang="zh-CN" altLang="en-US" sz="2000" b="1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sp>
        <p:nvSpPr>
          <p:cNvPr id="31" name="Text Box 30"/>
          <p:cNvSpPr txBox="1"/>
          <p:nvPr/>
        </p:nvSpPr>
        <p:spPr>
          <a:xfrm>
            <a:off x="604520" y="2033270"/>
            <a:ext cx="11033760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>
                <a:solidFill>
                  <a:schemeClr val="bg1"/>
                </a:solidFill>
              </a:rPr>
              <a:t>sharedbuffers=1/4 cgmem </a:t>
            </a:r>
            <a:r>
              <a:rPr lang="zh-CN" altLang="en-US">
                <a:solidFill>
                  <a:schemeClr val="bg1"/>
                </a:solidFill>
              </a:rPr>
              <a:t>似乎以成为行业标准，</a:t>
            </a:r>
            <a:r>
              <a:rPr lang="zh-CN" altLang="en-US">
                <a:solidFill>
                  <a:srgbClr val="FFFF00"/>
                </a:solidFill>
              </a:rPr>
              <a:t>但是实际情况要复杂的多</a:t>
            </a:r>
            <a:r>
              <a:rPr lang="zh-CN" altLang="en-US">
                <a:solidFill>
                  <a:schemeClr val="bg1"/>
                </a:solidFill>
              </a:rPr>
              <a:t>。理论上，把</a:t>
            </a:r>
            <a:r>
              <a:rPr lang="en-US" altLang="en-US">
                <a:solidFill>
                  <a:schemeClr val="bg1"/>
                </a:solidFill>
              </a:rPr>
              <a:t>sharedbuffers</a:t>
            </a:r>
            <a:r>
              <a:rPr lang="zh-CN" altLang="en-US">
                <a:solidFill>
                  <a:schemeClr val="bg1"/>
                </a:solidFill>
              </a:rPr>
              <a:t>调小可以增加一点</a:t>
            </a:r>
            <a:r>
              <a:rPr lang="en-US" altLang="en-US">
                <a:solidFill>
                  <a:schemeClr val="bg1"/>
                </a:solidFill>
              </a:rPr>
              <a:t>pagecache</a:t>
            </a:r>
            <a:r>
              <a:rPr lang="zh-CN" altLang="en-US">
                <a:solidFill>
                  <a:schemeClr val="bg1"/>
                </a:solidFill>
              </a:rPr>
              <a:t>，实际上略微增大了整个缓存大小，</a:t>
            </a:r>
            <a:r>
              <a:rPr lang="zh-CN" altLang="en-US">
                <a:solidFill>
                  <a:schemeClr val="bg1"/>
                </a:solidFill>
              </a:rPr>
              <a:t>相反把</a:t>
            </a:r>
            <a:r>
              <a:rPr lang="en-US" altLang="en-US">
                <a:solidFill>
                  <a:schemeClr val="bg1"/>
                </a:solidFill>
              </a:rPr>
              <a:t>sharedbuffers</a:t>
            </a:r>
            <a:r>
              <a:rPr lang="zh-CN" altLang="en-US">
                <a:solidFill>
                  <a:schemeClr val="bg1"/>
                </a:solidFill>
              </a:rPr>
              <a:t>调大略微减</a:t>
            </a:r>
            <a:r>
              <a:rPr lang="zh-CN" altLang="en-US">
                <a:solidFill>
                  <a:schemeClr val="bg1"/>
                </a:solidFill>
              </a:rPr>
              <a:t>小了整个缓存大小，但是提升了一定的</a:t>
            </a:r>
            <a:r>
              <a:rPr lang="en-US" altLang="en-US">
                <a:solidFill>
                  <a:schemeClr val="bg1"/>
                </a:solidFill>
              </a:rPr>
              <a:t>sharedbuffer</a:t>
            </a:r>
            <a:r>
              <a:rPr lang="zh-CN" altLang="en-US">
                <a:solidFill>
                  <a:schemeClr val="bg1"/>
                </a:solidFill>
              </a:rPr>
              <a:t>命中率。</a:t>
            </a:r>
            <a:endParaRPr lang="zh-CN" altLang="en-US">
              <a:solidFill>
                <a:schemeClr val="bg1"/>
              </a:solidFill>
            </a:endParaRPr>
          </a:p>
          <a:p>
            <a:r>
              <a:rPr lang="zh-CN" altLang="en-US">
                <a:solidFill>
                  <a:schemeClr val="bg1"/>
                </a:solidFill>
              </a:rPr>
              <a:t>很明显，</a:t>
            </a:r>
            <a:r>
              <a:rPr lang="en-US" altLang="en-US">
                <a:solidFill>
                  <a:schemeClr val="bg1"/>
                </a:solidFill>
              </a:rPr>
              <a:t>sharedbuffers</a:t>
            </a:r>
            <a:r>
              <a:rPr lang="zh-CN" altLang="en-US">
                <a:solidFill>
                  <a:schemeClr val="bg1"/>
                </a:solidFill>
              </a:rPr>
              <a:t>调大了不好，调小了也不好。</a:t>
            </a:r>
            <a:r>
              <a:rPr lang="en-US" altLang="en-US">
                <a:solidFill>
                  <a:schemeClr val="bg1"/>
                </a:solidFill>
              </a:rPr>
              <a:t>sharedbuffers</a:t>
            </a:r>
            <a:r>
              <a:rPr lang="zh-CN" altLang="en-US">
                <a:solidFill>
                  <a:schemeClr val="bg1"/>
                </a:solidFill>
              </a:rPr>
              <a:t>调太小，</a:t>
            </a:r>
            <a:r>
              <a:rPr lang="en-US" altLang="en-US">
                <a:solidFill>
                  <a:schemeClr val="bg1"/>
                </a:solidFill>
              </a:rPr>
              <a:t>pg</a:t>
            </a:r>
            <a:r>
              <a:rPr lang="zh-CN" altLang="en-US">
                <a:solidFill>
                  <a:schemeClr val="bg1"/>
                </a:solidFill>
              </a:rPr>
              <a:t>自己能工作的内存就太小了，相当于把内存管理工作扔给了</a:t>
            </a:r>
            <a:r>
              <a:rPr lang="en-US" altLang="en-US">
                <a:solidFill>
                  <a:schemeClr val="bg1"/>
                </a:solidFill>
              </a:rPr>
              <a:t>OS</a:t>
            </a:r>
            <a:r>
              <a:rPr lang="zh-CN" altLang="en-US">
                <a:solidFill>
                  <a:schemeClr val="bg1"/>
                </a:solidFill>
              </a:rPr>
              <a:t>，</a:t>
            </a:r>
            <a:r>
              <a:rPr lang="en-US" altLang="en-US">
                <a:solidFill>
                  <a:schemeClr val="bg1"/>
                </a:solidFill>
              </a:rPr>
              <a:t>OS</a:t>
            </a:r>
            <a:r>
              <a:rPr lang="zh-CN" altLang="en-US">
                <a:solidFill>
                  <a:schemeClr val="bg1"/>
                </a:solidFill>
              </a:rPr>
              <a:t>回收</a:t>
            </a:r>
            <a:r>
              <a:rPr lang="en-US" altLang="en-US">
                <a:solidFill>
                  <a:schemeClr val="bg1"/>
                </a:solidFill>
              </a:rPr>
              <a:t>pagecache</a:t>
            </a:r>
            <a:r>
              <a:rPr lang="zh-CN" altLang="en-US">
                <a:solidFill>
                  <a:schemeClr val="bg1"/>
                </a:solidFill>
              </a:rPr>
              <a:t>时对性能也会有影响；</a:t>
            </a:r>
            <a:r>
              <a:rPr lang="en-US" altLang="en-US">
                <a:solidFill>
                  <a:schemeClr val="bg1"/>
                </a:solidFill>
              </a:rPr>
              <a:t>sharedbuffers</a:t>
            </a:r>
            <a:r>
              <a:rPr lang="zh-CN" altLang="en-US">
                <a:solidFill>
                  <a:schemeClr val="bg1"/>
                </a:solidFill>
              </a:rPr>
              <a:t>调太大，不仅</a:t>
            </a:r>
            <a:r>
              <a:rPr lang="en-US" altLang="en-US">
                <a:solidFill>
                  <a:schemeClr val="bg1"/>
                </a:solidFill>
              </a:rPr>
              <a:t>pagecache</a:t>
            </a:r>
            <a:r>
              <a:rPr lang="zh-CN" altLang="en-US">
                <a:solidFill>
                  <a:schemeClr val="bg1"/>
                </a:solidFill>
              </a:rPr>
              <a:t>被挤占，还需要考虑</a:t>
            </a:r>
            <a:r>
              <a:rPr lang="en-US" altLang="en-US">
                <a:solidFill>
                  <a:schemeClr val="bg1"/>
                </a:solidFill>
              </a:rPr>
              <a:t>pg sbs</a:t>
            </a:r>
            <a:r>
              <a:rPr lang="zh-CN" altLang="en-US">
                <a:solidFill>
                  <a:schemeClr val="bg1"/>
                </a:solidFill>
              </a:rPr>
              <a:t>刷脏的影响，特别是写入较多的情况需要调整相应的</a:t>
            </a:r>
            <a:r>
              <a:rPr lang="en-US" altLang="en-US">
                <a:solidFill>
                  <a:schemeClr val="bg1"/>
                </a:solidFill>
              </a:rPr>
              <a:t>bgwriter</a:t>
            </a:r>
            <a:r>
              <a:rPr lang="zh-CN" altLang="en-US">
                <a:solidFill>
                  <a:schemeClr val="bg1"/>
                </a:solidFill>
              </a:rPr>
              <a:t>参数。</a:t>
            </a:r>
            <a:endParaRPr lang="zh-CN" altLang="en-US">
              <a:solidFill>
                <a:schemeClr val="bg1"/>
              </a:solidFill>
            </a:endParaRPr>
          </a:p>
          <a:p>
            <a:endParaRPr lang="en-US" altLang="en-US">
              <a:solidFill>
                <a:schemeClr val="bg1"/>
              </a:solidFill>
            </a:endParaRPr>
          </a:p>
          <a:p>
            <a:endParaRPr lang="en-US" altLang="en-US">
              <a:solidFill>
                <a:schemeClr val="bg1"/>
              </a:solidFill>
            </a:endParaRPr>
          </a:p>
          <a:p>
            <a:r>
              <a:rPr lang="zh-CN" altLang="en-US" b="1">
                <a:solidFill>
                  <a:schemeClr val="accent6"/>
                </a:solidFill>
              </a:rPr>
              <a:t>从粗糙的压测来看，一个建议值，至少比</a:t>
            </a:r>
            <a:r>
              <a:rPr lang="en-US" altLang="zh-CN" b="1">
                <a:solidFill>
                  <a:schemeClr val="accent6"/>
                </a:solidFill>
              </a:rPr>
              <a:t>1/4 cgmem</a:t>
            </a:r>
            <a:r>
              <a:rPr lang="zh-CN" altLang="en-US" b="1">
                <a:solidFill>
                  <a:schemeClr val="accent6"/>
                </a:solidFill>
              </a:rPr>
              <a:t>靠谱</a:t>
            </a:r>
            <a:endParaRPr lang="en-US" altLang="en-US" b="1">
              <a:solidFill>
                <a:schemeClr val="accent6"/>
              </a:solidFill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zh-CN" altLang="en-US" b="1">
                <a:solidFill>
                  <a:schemeClr val="accent6"/>
                </a:solidFill>
              </a:rPr>
              <a:t>不开大页，</a:t>
            </a:r>
            <a:r>
              <a:rPr lang="en-US" altLang="en-US" b="1">
                <a:solidFill>
                  <a:schemeClr val="accent6"/>
                </a:solidFill>
              </a:rPr>
              <a:t>shared buffers=min(1/4 MEM,20GB)</a:t>
            </a:r>
            <a:endParaRPr lang="en-US" altLang="en-US" b="1">
              <a:solidFill>
                <a:schemeClr val="accent6"/>
              </a:solidFill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zh-CN" altLang="en-US" b="1">
                <a:solidFill>
                  <a:schemeClr val="accent6"/>
                </a:solidFill>
              </a:rPr>
              <a:t>开大页，</a:t>
            </a:r>
            <a:r>
              <a:rPr lang="en-US" altLang="en-US" b="1">
                <a:solidFill>
                  <a:schemeClr val="accent6"/>
                </a:solidFill>
              </a:rPr>
              <a:t>shared buffers=min(1/4 MEM,60GB)</a:t>
            </a:r>
            <a:endParaRPr lang="en-US" altLang="en-US" b="1">
              <a:solidFill>
                <a:schemeClr val="accent6"/>
              </a:solidFill>
            </a:endParaRPr>
          </a:p>
          <a:p>
            <a:endParaRPr lang="en-US" altLang="en-US" b="1">
              <a:solidFill>
                <a:schemeClr val="accent6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5" name="图片 4" descr="未标题-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287655"/>
            <a:ext cx="1737995" cy="74676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9228455" y="716915"/>
            <a:ext cx="294386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120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开源生态大会暨</a:t>
            </a:r>
            <a:r>
              <a:rPr lang="en-US" altLang="zh-CN" sz="120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PostgreSQL</a:t>
            </a:r>
            <a:r>
              <a:rPr lang="zh-CN" altLang="en-US" sz="120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高峰论坛</a:t>
            </a:r>
            <a:endParaRPr lang="zh-CN" altLang="en-US" sz="1200" b="1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9207500" y="348615"/>
            <a:ext cx="2863215" cy="3835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9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以开源之道</a:t>
            </a:r>
            <a:r>
              <a:rPr lang="en-US" altLang="zh-CN" sz="19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·</a:t>
            </a:r>
            <a:r>
              <a:rPr lang="zh-CN" altLang="en-US" sz="19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见致远之志</a:t>
            </a:r>
            <a:endParaRPr lang="zh-CN" altLang="en-US" sz="1900">
              <a:solidFill>
                <a:schemeClr val="bg1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sp>
        <p:nvSpPr>
          <p:cNvPr id="40" name="文本框 4"/>
          <p:cNvSpPr txBox="1"/>
          <p:nvPr/>
        </p:nvSpPr>
        <p:spPr>
          <a:xfrm>
            <a:off x="447040" y="1184275"/>
            <a:ext cx="94710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主机上的</a:t>
            </a:r>
            <a:r>
              <a:rPr lang="zh-CN" altLang="en-US" sz="200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大页</a:t>
            </a:r>
            <a:endParaRPr lang="zh-CN" altLang="en-US" sz="2000" b="1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523875" y="189992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/>
                </a:solidFill>
              </a:rPr>
              <a:t>无大页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2" name="Rectangles 11"/>
          <p:cNvSpPr/>
          <p:nvPr/>
        </p:nvSpPr>
        <p:spPr>
          <a:xfrm>
            <a:off x="523875" y="2268220"/>
            <a:ext cx="3853815" cy="370459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5" name="Rectangles 14"/>
          <p:cNvSpPr/>
          <p:nvPr/>
        </p:nvSpPr>
        <p:spPr>
          <a:xfrm>
            <a:off x="816610" y="2447290"/>
            <a:ext cx="3216910" cy="163576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CACHE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Rectangles 16"/>
          <p:cNvSpPr/>
          <p:nvPr/>
        </p:nvSpPr>
        <p:spPr>
          <a:xfrm>
            <a:off x="816610" y="4083050"/>
            <a:ext cx="3216910" cy="747395"/>
          </a:xfrm>
          <a:prstGeom prst="rect">
            <a:avLst/>
          </a:prstGeom>
          <a:solidFill>
            <a:schemeClr val="accent3">
              <a:lumMod val="75000"/>
            </a:schemeClr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私有</a:t>
            </a:r>
            <a:r>
              <a:rPr lang="zh-CN" altLang="en-US">
                <a:solidFill>
                  <a:schemeClr val="tx1"/>
                </a:solidFill>
              </a:rPr>
              <a:t>内存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8" name="Rectangles 17"/>
          <p:cNvSpPr/>
          <p:nvPr/>
        </p:nvSpPr>
        <p:spPr>
          <a:xfrm>
            <a:off x="816610" y="4829810"/>
            <a:ext cx="3216910" cy="791210"/>
          </a:xfrm>
          <a:prstGeom prst="rect">
            <a:avLst/>
          </a:prstGeom>
          <a:solidFill>
            <a:schemeClr val="accent3">
              <a:lumMod val="75000"/>
            </a:schemeClr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共享内存</a:t>
            </a:r>
            <a:r>
              <a:rPr lang="en-US" altLang="zh-CN">
                <a:solidFill>
                  <a:schemeClr val="tx1"/>
                </a:solidFill>
              </a:rPr>
              <a:t>-</a:t>
            </a:r>
            <a:r>
              <a:rPr lang="zh-CN" altLang="en-US">
                <a:solidFill>
                  <a:schemeClr val="tx1"/>
                </a:solidFill>
              </a:rPr>
              <a:t>非</a:t>
            </a:r>
            <a:r>
              <a:rPr lang="zh-CN" altLang="en-US">
                <a:solidFill>
                  <a:schemeClr val="tx1"/>
                </a:solidFill>
              </a:rPr>
              <a:t>大页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1" name="Right Brace 20"/>
          <p:cNvSpPr/>
          <p:nvPr/>
        </p:nvSpPr>
        <p:spPr>
          <a:xfrm>
            <a:off x="4108450" y="4137660"/>
            <a:ext cx="346075" cy="1440815"/>
          </a:xfrm>
          <a:prstGeom prst="rightBrace">
            <a:avLst/>
          </a:prstGeom>
          <a:ln w="12700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2" name="Text Box 21"/>
          <p:cNvSpPr txBox="1"/>
          <p:nvPr/>
        </p:nvSpPr>
        <p:spPr>
          <a:xfrm>
            <a:off x="4352925" y="4660900"/>
            <a:ext cx="732790" cy="3676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>
                <a:solidFill>
                  <a:schemeClr val="bg1"/>
                </a:solidFill>
              </a:rPr>
              <a:t>RSS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23" name="Text Box 22"/>
          <p:cNvSpPr txBox="1"/>
          <p:nvPr/>
        </p:nvSpPr>
        <p:spPr>
          <a:xfrm>
            <a:off x="6408420" y="203517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/>
                </a:solidFill>
              </a:rPr>
              <a:t>大页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4" name="Rectangles 23"/>
          <p:cNvSpPr/>
          <p:nvPr/>
        </p:nvSpPr>
        <p:spPr>
          <a:xfrm>
            <a:off x="6408420" y="2403475"/>
            <a:ext cx="3853815" cy="370459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6" name="Rectangles 25"/>
          <p:cNvSpPr/>
          <p:nvPr/>
        </p:nvSpPr>
        <p:spPr>
          <a:xfrm>
            <a:off x="6701155" y="2582545"/>
            <a:ext cx="3216910" cy="163576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CACHE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27" name="Rectangles 26"/>
          <p:cNvSpPr/>
          <p:nvPr/>
        </p:nvSpPr>
        <p:spPr>
          <a:xfrm>
            <a:off x="6701155" y="4218305"/>
            <a:ext cx="3216910" cy="747395"/>
          </a:xfrm>
          <a:prstGeom prst="rect">
            <a:avLst/>
          </a:prstGeom>
          <a:solidFill>
            <a:schemeClr val="accent3">
              <a:lumMod val="75000"/>
            </a:schemeClr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私有</a:t>
            </a:r>
            <a:r>
              <a:rPr lang="zh-CN" altLang="en-US">
                <a:solidFill>
                  <a:schemeClr val="tx1"/>
                </a:solidFill>
              </a:rPr>
              <a:t>内存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8" name="Rectangles 27"/>
          <p:cNvSpPr/>
          <p:nvPr/>
        </p:nvSpPr>
        <p:spPr>
          <a:xfrm>
            <a:off x="6701155" y="4965065"/>
            <a:ext cx="3216910" cy="791210"/>
          </a:xfrm>
          <a:prstGeom prst="rect">
            <a:avLst/>
          </a:prstGeom>
          <a:solidFill>
            <a:schemeClr val="tx1"/>
          </a:solidFill>
          <a:ln w="12700" cmpd="sng">
            <a:solidFill>
              <a:srgbClr val="11044A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bg1"/>
                </a:solidFill>
              </a:rPr>
              <a:t>共享内存</a:t>
            </a:r>
            <a:r>
              <a:rPr lang="en-US" altLang="zh-CN">
                <a:solidFill>
                  <a:schemeClr val="bg1"/>
                </a:solidFill>
              </a:rPr>
              <a:t>-</a:t>
            </a:r>
            <a:r>
              <a:rPr lang="zh-CN" altLang="en-US">
                <a:solidFill>
                  <a:schemeClr val="bg1"/>
                </a:solidFill>
              </a:rPr>
              <a:t>大页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9" name="Right Brace 28"/>
          <p:cNvSpPr/>
          <p:nvPr/>
        </p:nvSpPr>
        <p:spPr>
          <a:xfrm>
            <a:off x="9992995" y="4272915"/>
            <a:ext cx="346075" cy="1440815"/>
          </a:xfrm>
          <a:prstGeom prst="rightBrace">
            <a:avLst/>
          </a:prstGeom>
          <a:ln w="12700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0" name="Text Box 29"/>
          <p:cNvSpPr txBox="1"/>
          <p:nvPr/>
        </p:nvSpPr>
        <p:spPr>
          <a:xfrm>
            <a:off x="10237470" y="4796155"/>
            <a:ext cx="732790" cy="3676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olidFill>
                  <a:schemeClr val="bg1"/>
                </a:solidFill>
              </a:rPr>
              <a:t>进程</a:t>
            </a:r>
            <a:r>
              <a:rPr lang="en-US">
                <a:solidFill>
                  <a:schemeClr val="bg1"/>
                </a:solidFill>
              </a:rPr>
              <a:t>RSS</a:t>
            </a:r>
            <a:endParaRPr lang="en-US">
              <a:solidFill>
                <a:schemeClr val="bg1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5" name="图片 4" descr="未标题-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287655"/>
            <a:ext cx="1737995" cy="74676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9228455" y="716915"/>
            <a:ext cx="294386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120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开源生态大会暨</a:t>
            </a:r>
            <a:r>
              <a:rPr lang="en-US" altLang="zh-CN" sz="120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PostgreSQL</a:t>
            </a:r>
            <a:r>
              <a:rPr lang="zh-CN" altLang="en-US" sz="120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高峰论坛</a:t>
            </a:r>
            <a:endParaRPr lang="zh-CN" altLang="en-US" sz="1200" b="1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9207500" y="348615"/>
            <a:ext cx="2863215" cy="3835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9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以开源之道</a:t>
            </a:r>
            <a:r>
              <a:rPr lang="en-US" altLang="zh-CN" sz="19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·</a:t>
            </a:r>
            <a:r>
              <a:rPr lang="zh-CN" altLang="en-US" sz="19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见致远之志</a:t>
            </a:r>
            <a:endParaRPr lang="zh-CN" altLang="en-US" sz="1900">
              <a:solidFill>
                <a:schemeClr val="bg1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sp>
        <p:nvSpPr>
          <p:cNvPr id="40" name="文本框 4"/>
          <p:cNvSpPr txBox="1"/>
          <p:nvPr/>
        </p:nvSpPr>
        <p:spPr>
          <a:xfrm>
            <a:off x="447040" y="1184275"/>
            <a:ext cx="94710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主机上的大页</a:t>
            </a:r>
            <a:r>
              <a:rPr lang="en-US" altLang="zh-CN" sz="200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-PG</a:t>
            </a:r>
            <a:endParaRPr lang="en-US" altLang="zh-CN" sz="2000" b="1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6889750" y="198247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/>
                </a:solidFill>
              </a:rPr>
              <a:t>大页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6" name="Rectangles 5"/>
          <p:cNvSpPr/>
          <p:nvPr/>
        </p:nvSpPr>
        <p:spPr>
          <a:xfrm>
            <a:off x="6889750" y="2350770"/>
            <a:ext cx="3853815" cy="370459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" name="Rectangles 6"/>
          <p:cNvSpPr/>
          <p:nvPr/>
        </p:nvSpPr>
        <p:spPr>
          <a:xfrm>
            <a:off x="7182485" y="2529840"/>
            <a:ext cx="3216910" cy="163576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CACHE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Rectangles 7"/>
          <p:cNvSpPr/>
          <p:nvPr/>
        </p:nvSpPr>
        <p:spPr>
          <a:xfrm>
            <a:off x="7182485" y="4165600"/>
            <a:ext cx="3216910" cy="747395"/>
          </a:xfrm>
          <a:prstGeom prst="rect">
            <a:avLst/>
          </a:prstGeom>
          <a:solidFill>
            <a:schemeClr val="accent3">
              <a:lumMod val="75000"/>
            </a:schemeClr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私有</a:t>
            </a:r>
            <a:r>
              <a:rPr lang="zh-CN" altLang="en-US">
                <a:solidFill>
                  <a:schemeClr val="tx1"/>
                </a:solidFill>
              </a:rPr>
              <a:t>内存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" name="Rectangles 8"/>
          <p:cNvSpPr/>
          <p:nvPr/>
        </p:nvSpPr>
        <p:spPr>
          <a:xfrm>
            <a:off x="7182485" y="4912360"/>
            <a:ext cx="3216910" cy="791210"/>
          </a:xfrm>
          <a:prstGeom prst="rect">
            <a:avLst/>
          </a:prstGeom>
          <a:solidFill>
            <a:schemeClr val="tx1"/>
          </a:solidFill>
          <a:ln w="12700" cmpd="sng">
            <a:solidFill>
              <a:srgbClr val="11044A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bg1"/>
                </a:solidFill>
              </a:rPr>
              <a:t>共享内存</a:t>
            </a:r>
            <a:r>
              <a:rPr lang="en-US" altLang="zh-CN">
                <a:solidFill>
                  <a:schemeClr val="bg1"/>
                </a:solidFill>
              </a:rPr>
              <a:t>-</a:t>
            </a:r>
            <a:r>
              <a:rPr lang="zh-CN" altLang="en-US">
                <a:solidFill>
                  <a:schemeClr val="bg1"/>
                </a:solidFill>
              </a:rPr>
              <a:t>大页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0" name="Right Brace 9"/>
          <p:cNvSpPr/>
          <p:nvPr/>
        </p:nvSpPr>
        <p:spPr>
          <a:xfrm>
            <a:off x="10487660" y="2559050"/>
            <a:ext cx="75565" cy="2315210"/>
          </a:xfrm>
          <a:prstGeom prst="rightBrace">
            <a:avLst/>
          </a:prstGeom>
          <a:ln w="28575" cmpd="sng">
            <a:solidFill>
              <a:srgbClr val="BA4CB8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6" name="Text Box 15"/>
          <p:cNvSpPr txBox="1"/>
          <p:nvPr/>
        </p:nvSpPr>
        <p:spPr>
          <a:xfrm>
            <a:off x="10575925" y="3606800"/>
            <a:ext cx="1170940" cy="3981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>
                <a:solidFill>
                  <a:schemeClr val="bg1"/>
                </a:solidFill>
              </a:rPr>
              <a:t>CG v1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19" name="Left Brace 18"/>
          <p:cNvSpPr/>
          <p:nvPr/>
        </p:nvSpPr>
        <p:spPr>
          <a:xfrm>
            <a:off x="6486525" y="2624455"/>
            <a:ext cx="604520" cy="3061335"/>
          </a:xfrm>
          <a:prstGeom prst="leftBrace">
            <a:avLst/>
          </a:prstGeom>
          <a:ln w="28575" cmpd="sng">
            <a:solidFill>
              <a:schemeClr val="accent1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0" name="Text Box 19"/>
          <p:cNvSpPr txBox="1"/>
          <p:nvPr/>
        </p:nvSpPr>
        <p:spPr>
          <a:xfrm>
            <a:off x="5862955" y="3992245"/>
            <a:ext cx="18516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solidFill>
                  <a:schemeClr val="bg1"/>
                </a:solidFill>
              </a:rPr>
              <a:t>PG</a:t>
            </a:r>
            <a:r>
              <a:rPr lang="zh-CN" altLang="en-US">
                <a:solidFill>
                  <a:schemeClr val="bg1"/>
                </a:solidFill>
              </a:rPr>
              <a:t>的内存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5" name="Text Box 24"/>
          <p:cNvSpPr txBox="1"/>
          <p:nvPr/>
        </p:nvSpPr>
        <p:spPr>
          <a:xfrm>
            <a:off x="1329690" y="209677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/>
                </a:solidFill>
              </a:rPr>
              <a:t>非大页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1" name="Rectangles 30"/>
          <p:cNvSpPr/>
          <p:nvPr/>
        </p:nvSpPr>
        <p:spPr>
          <a:xfrm>
            <a:off x="1329690" y="2465070"/>
            <a:ext cx="3853815" cy="370459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2" name="Rectangles 31"/>
          <p:cNvSpPr/>
          <p:nvPr/>
        </p:nvSpPr>
        <p:spPr>
          <a:xfrm>
            <a:off x="1622425" y="2644140"/>
            <a:ext cx="3216910" cy="163576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CACHE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33" name="Rectangles 32"/>
          <p:cNvSpPr/>
          <p:nvPr/>
        </p:nvSpPr>
        <p:spPr>
          <a:xfrm>
            <a:off x="1622425" y="4279900"/>
            <a:ext cx="3216910" cy="747395"/>
          </a:xfrm>
          <a:prstGeom prst="rect">
            <a:avLst/>
          </a:prstGeom>
          <a:solidFill>
            <a:schemeClr val="accent3">
              <a:lumMod val="75000"/>
            </a:schemeClr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私有</a:t>
            </a:r>
            <a:r>
              <a:rPr lang="zh-CN" altLang="en-US">
                <a:solidFill>
                  <a:schemeClr val="tx1"/>
                </a:solidFill>
              </a:rPr>
              <a:t>内存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4" name="Rectangles 33"/>
          <p:cNvSpPr/>
          <p:nvPr/>
        </p:nvSpPr>
        <p:spPr>
          <a:xfrm>
            <a:off x="1622425" y="5026660"/>
            <a:ext cx="3216910" cy="791210"/>
          </a:xfrm>
          <a:prstGeom prst="rect">
            <a:avLst/>
          </a:prstGeom>
          <a:solidFill>
            <a:schemeClr val="accent3">
              <a:lumMod val="75000"/>
            </a:schemeClr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共享内存</a:t>
            </a:r>
            <a:r>
              <a:rPr lang="en-US" altLang="zh-CN">
                <a:solidFill>
                  <a:schemeClr val="tx1"/>
                </a:solidFill>
              </a:rPr>
              <a:t>-</a:t>
            </a:r>
            <a:r>
              <a:rPr lang="zh-CN" altLang="en-US">
                <a:solidFill>
                  <a:schemeClr val="tx1"/>
                </a:solidFill>
              </a:rPr>
              <a:t>大页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5" name="Right Brace 34"/>
          <p:cNvSpPr/>
          <p:nvPr/>
        </p:nvSpPr>
        <p:spPr>
          <a:xfrm>
            <a:off x="4927600" y="2673350"/>
            <a:ext cx="76200" cy="3143885"/>
          </a:xfrm>
          <a:prstGeom prst="rightBrace">
            <a:avLst/>
          </a:prstGeom>
          <a:ln w="28575" cmpd="sng">
            <a:solidFill>
              <a:schemeClr val="accent1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6" name="Text Box 35"/>
          <p:cNvSpPr txBox="1"/>
          <p:nvPr/>
        </p:nvSpPr>
        <p:spPr>
          <a:xfrm>
            <a:off x="5015865" y="3721100"/>
            <a:ext cx="1170940" cy="3981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>
                <a:solidFill>
                  <a:schemeClr val="bg1"/>
                </a:solidFill>
              </a:rPr>
              <a:t>CG v1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37" name="Left Brace 36"/>
          <p:cNvSpPr/>
          <p:nvPr/>
        </p:nvSpPr>
        <p:spPr>
          <a:xfrm>
            <a:off x="926465" y="2738755"/>
            <a:ext cx="604520" cy="3061335"/>
          </a:xfrm>
          <a:prstGeom prst="leftBrace">
            <a:avLst/>
          </a:prstGeom>
          <a:ln w="28575" cmpd="sng">
            <a:solidFill>
              <a:schemeClr val="accent1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8" name="Text Box 37"/>
          <p:cNvSpPr txBox="1"/>
          <p:nvPr/>
        </p:nvSpPr>
        <p:spPr>
          <a:xfrm>
            <a:off x="0" y="3992245"/>
            <a:ext cx="18516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solidFill>
                  <a:schemeClr val="bg1"/>
                </a:solidFill>
              </a:rPr>
              <a:t>PG</a:t>
            </a:r>
            <a:r>
              <a:rPr lang="zh-CN" altLang="en-US">
                <a:solidFill>
                  <a:schemeClr val="bg1"/>
                </a:solidFill>
              </a:rPr>
              <a:t>的内存</a:t>
            </a:r>
            <a:endParaRPr lang="zh-CN" altLang="en-US">
              <a:solidFill>
                <a:schemeClr val="bg1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5" name="图片 4" descr="未标题-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287655"/>
            <a:ext cx="1737995" cy="74676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9228455" y="716915"/>
            <a:ext cx="294386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120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开源生态大会暨</a:t>
            </a:r>
            <a:r>
              <a:rPr lang="en-US" altLang="zh-CN" sz="120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PostgreSQL</a:t>
            </a:r>
            <a:r>
              <a:rPr lang="zh-CN" altLang="en-US" sz="120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高峰论坛</a:t>
            </a:r>
            <a:endParaRPr lang="zh-CN" altLang="en-US" sz="1200" b="1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9207500" y="348615"/>
            <a:ext cx="2863215" cy="3835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9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以开源之道</a:t>
            </a:r>
            <a:r>
              <a:rPr lang="en-US" altLang="zh-CN" sz="19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·</a:t>
            </a:r>
            <a:r>
              <a:rPr lang="zh-CN" altLang="en-US" sz="19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见致远之志</a:t>
            </a:r>
            <a:endParaRPr lang="zh-CN" altLang="en-US" sz="1900">
              <a:solidFill>
                <a:schemeClr val="bg1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sp>
        <p:nvSpPr>
          <p:cNvPr id="40" name="文本框 4"/>
          <p:cNvSpPr txBox="1"/>
          <p:nvPr/>
        </p:nvSpPr>
        <p:spPr>
          <a:xfrm>
            <a:off x="447040" y="1184275"/>
            <a:ext cx="94710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大页</a:t>
            </a:r>
            <a:r>
              <a:rPr lang="zh-CN" altLang="en-US" sz="200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带来的管理</a:t>
            </a:r>
            <a:r>
              <a:rPr lang="zh-CN" altLang="en-US" sz="200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问题</a:t>
            </a:r>
            <a:endParaRPr lang="zh-CN" altLang="en-US" sz="2000" b="1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1622425" y="2215515"/>
            <a:ext cx="7070725" cy="26003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chemeClr val="bg1"/>
                </a:solidFill>
              </a:rPr>
              <a:t>1. </a:t>
            </a:r>
            <a:r>
              <a:rPr lang="zh-CN" altLang="en-US" b="1">
                <a:solidFill>
                  <a:schemeClr val="bg1"/>
                </a:solidFill>
              </a:rPr>
              <a:t>监控，例如</a:t>
            </a:r>
            <a:r>
              <a:rPr lang="en-US" altLang="zh-CN" b="1">
                <a:solidFill>
                  <a:schemeClr val="bg1"/>
                </a:solidFill>
              </a:rPr>
              <a:t>pages</a:t>
            </a:r>
            <a:r>
              <a:rPr lang="zh-CN" altLang="en-US" b="1">
                <a:solidFill>
                  <a:schemeClr val="bg1"/>
                </a:solidFill>
              </a:rPr>
              <a:t>的计算，</a:t>
            </a:r>
            <a:r>
              <a:rPr lang="en-US" altLang="zh-CN" b="1">
                <a:solidFill>
                  <a:schemeClr val="bg1"/>
                </a:solidFill>
              </a:rPr>
              <a:t>CG</a:t>
            </a:r>
            <a:r>
              <a:rPr lang="zh-CN" altLang="en-US" b="1">
                <a:solidFill>
                  <a:schemeClr val="bg1"/>
                </a:solidFill>
              </a:rPr>
              <a:t>统计不到</a:t>
            </a:r>
            <a:r>
              <a:rPr lang="zh-CN" altLang="en-US" b="1">
                <a:solidFill>
                  <a:schemeClr val="bg1"/>
                </a:solidFill>
              </a:rPr>
              <a:t>大页，</a:t>
            </a:r>
            <a:r>
              <a:rPr lang="en-US" altLang="zh-CN" b="1">
                <a:solidFill>
                  <a:schemeClr val="bg1"/>
                </a:solidFill>
              </a:rPr>
              <a:t>RDS</a:t>
            </a:r>
            <a:r>
              <a:rPr lang="zh-CN" altLang="en-US" b="1">
                <a:solidFill>
                  <a:schemeClr val="bg1"/>
                </a:solidFill>
              </a:rPr>
              <a:t>指标可能不像以前那么准确</a:t>
            </a:r>
            <a:endParaRPr lang="zh-CN" altLang="en-US" b="1">
              <a:solidFill>
                <a:schemeClr val="bg1"/>
              </a:solidFill>
            </a:endParaRPr>
          </a:p>
          <a:p>
            <a:endParaRPr lang="zh-CN" altLang="en-US" b="1">
              <a:solidFill>
                <a:schemeClr val="bg1"/>
              </a:solidFill>
            </a:endParaRPr>
          </a:p>
          <a:p>
            <a:r>
              <a:rPr lang="en-US" altLang="zh-CN" b="1">
                <a:solidFill>
                  <a:schemeClr val="bg1"/>
                </a:solidFill>
              </a:rPr>
              <a:t>2. </a:t>
            </a:r>
            <a:r>
              <a:rPr lang="zh-CN" altLang="en-US" b="1">
                <a:solidFill>
                  <a:schemeClr val="bg1"/>
                </a:solidFill>
              </a:rPr>
              <a:t>大页是随主机启动生效的，需要提前规划大小。更难的是如果不知道主机上要分配多少实例，分配什么类型的</a:t>
            </a:r>
            <a:r>
              <a:rPr lang="zh-CN" altLang="en-US" b="1">
                <a:solidFill>
                  <a:schemeClr val="bg1"/>
                </a:solidFill>
              </a:rPr>
              <a:t>实例，怎么规划</a:t>
            </a:r>
            <a:r>
              <a:rPr lang="en-US" altLang="zh-CN" b="1">
                <a:solidFill>
                  <a:schemeClr val="bg1"/>
                </a:solidFill>
              </a:rPr>
              <a:t>···</a:t>
            </a:r>
            <a:endParaRPr lang="en-US" altLang="zh-CN" b="1">
              <a:solidFill>
                <a:schemeClr val="bg1"/>
              </a:solidFill>
            </a:endParaRPr>
          </a:p>
          <a:p>
            <a:endParaRPr lang="en-US" altLang="zh-CN" b="1">
              <a:solidFill>
                <a:schemeClr val="bg1"/>
              </a:solidFill>
            </a:endParaRPr>
          </a:p>
          <a:p>
            <a:r>
              <a:rPr lang="en-US" altLang="zh-CN" b="1">
                <a:solidFill>
                  <a:schemeClr val="bg1"/>
                </a:solidFill>
              </a:rPr>
              <a:t>3.</a:t>
            </a:r>
            <a:r>
              <a:rPr lang="zh-CN" altLang="en-US" b="1">
                <a:solidFill>
                  <a:schemeClr val="bg1"/>
                </a:solidFill>
              </a:rPr>
              <a:t>超卖怎么设置，大页分配后，除了</a:t>
            </a:r>
            <a:r>
              <a:rPr lang="en-US" altLang="zh-CN" b="1">
                <a:solidFill>
                  <a:schemeClr val="bg1"/>
                </a:solidFill>
              </a:rPr>
              <a:t>SHARED BUFFER</a:t>
            </a:r>
            <a:r>
              <a:rPr lang="zh-CN" altLang="en-US" b="1">
                <a:solidFill>
                  <a:schemeClr val="bg1"/>
                </a:solidFill>
              </a:rPr>
              <a:t>，其他都用不到</a:t>
            </a:r>
            <a:r>
              <a:rPr lang="zh-CN" altLang="en-US" b="1">
                <a:solidFill>
                  <a:schemeClr val="bg1"/>
                </a:solidFill>
              </a:rPr>
              <a:t>大页。如果主机物理内存是云资源的基，这个基是否需要改变，调动算法是否需要改变</a:t>
            </a:r>
            <a:endParaRPr lang="en-US" altLang="zh-CN" b="1">
              <a:solidFill>
                <a:schemeClr val="bg1"/>
              </a:solidFill>
            </a:endParaRPr>
          </a:p>
          <a:p>
            <a:endParaRPr lang="en-US" altLang="zh-CN" b="1">
              <a:solidFill>
                <a:schemeClr val="bg1"/>
              </a:solidFill>
            </a:endParaRPr>
          </a:p>
          <a:p>
            <a:endParaRPr lang="en-US" altLang="zh-CN" b="1">
              <a:solidFill>
                <a:schemeClr val="bg1"/>
              </a:solidFill>
            </a:endParaRPr>
          </a:p>
          <a:p>
            <a:endParaRPr lang="en-US" altLang="zh-CN" b="1">
              <a:solidFill>
                <a:schemeClr val="bg1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5" name="图片 4" descr="未标题-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287655"/>
            <a:ext cx="1737995" cy="74676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9228455" y="716915"/>
            <a:ext cx="294386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120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开源生态大会暨</a:t>
            </a:r>
            <a:r>
              <a:rPr lang="en-US" altLang="zh-CN" sz="120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PostgreSQL</a:t>
            </a:r>
            <a:r>
              <a:rPr lang="zh-CN" altLang="en-US" sz="120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高峰论坛</a:t>
            </a:r>
            <a:endParaRPr lang="zh-CN" altLang="en-US" sz="1200" b="1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9207500" y="348615"/>
            <a:ext cx="2863215" cy="3835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9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以开源之道</a:t>
            </a:r>
            <a:r>
              <a:rPr lang="en-US" altLang="zh-CN" sz="19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·</a:t>
            </a:r>
            <a:r>
              <a:rPr lang="zh-CN" altLang="en-US" sz="19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见致远之志</a:t>
            </a:r>
            <a:endParaRPr lang="zh-CN" altLang="en-US" sz="1900">
              <a:solidFill>
                <a:schemeClr val="bg1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sp>
        <p:nvSpPr>
          <p:cNvPr id="40" name="文本框 4"/>
          <p:cNvSpPr txBox="1"/>
          <p:nvPr/>
        </p:nvSpPr>
        <p:spPr>
          <a:xfrm>
            <a:off x="447040" y="1184275"/>
            <a:ext cx="94710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大页</a:t>
            </a:r>
            <a:r>
              <a:rPr lang="zh-CN" altLang="en-US" sz="200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带来的管理</a:t>
            </a:r>
            <a:r>
              <a:rPr lang="zh-CN" altLang="en-US" sz="200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问题</a:t>
            </a:r>
            <a:endParaRPr lang="zh-CN" altLang="en-US" sz="2000" b="1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1429385" y="173291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/>
                </a:solidFill>
              </a:rPr>
              <a:t>大页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6" name="Rectangles 5"/>
          <p:cNvSpPr/>
          <p:nvPr/>
        </p:nvSpPr>
        <p:spPr>
          <a:xfrm>
            <a:off x="1429385" y="2101215"/>
            <a:ext cx="3853815" cy="370459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" name="Rectangles 6"/>
          <p:cNvSpPr/>
          <p:nvPr/>
        </p:nvSpPr>
        <p:spPr>
          <a:xfrm>
            <a:off x="1722120" y="3929380"/>
            <a:ext cx="3202305" cy="74676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CACHE1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Rectangles 7"/>
          <p:cNvSpPr/>
          <p:nvPr/>
        </p:nvSpPr>
        <p:spPr>
          <a:xfrm>
            <a:off x="1722120" y="4655820"/>
            <a:ext cx="3209290" cy="398780"/>
          </a:xfrm>
          <a:prstGeom prst="rect">
            <a:avLst/>
          </a:prstGeom>
          <a:solidFill>
            <a:schemeClr val="accent3">
              <a:lumMod val="75000"/>
            </a:schemeClr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私有内存</a:t>
            </a:r>
            <a:r>
              <a:rPr lang="en-US" altLang="zh-CN">
                <a:solidFill>
                  <a:schemeClr val="tx1"/>
                </a:solidFill>
              </a:rPr>
              <a:t>1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9" name="Rectangles 8"/>
          <p:cNvSpPr/>
          <p:nvPr/>
        </p:nvSpPr>
        <p:spPr>
          <a:xfrm>
            <a:off x="1722120" y="5054600"/>
            <a:ext cx="3202940" cy="39941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12700" cmpd="sng">
            <a:solidFill>
              <a:schemeClr val="tx1">
                <a:lumMod val="65000"/>
                <a:lumOff val="35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bg1"/>
                </a:solidFill>
              </a:rPr>
              <a:t>共享内存</a:t>
            </a:r>
            <a:r>
              <a:rPr lang="en-US" altLang="zh-CN">
                <a:solidFill>
                  <a:schemeClr val="bg1"/>
                </a:solidFill>
              </a:rPr>
              <a:t>-</a:t>
            </a:r>
            <a:r>
              <a:rPr lang="zh-CN" altLang="en-US">
                <a:solidFill>
                  <a:schemeClr val="bg1"/>
                </a:solidFill>
              </a:rPr>
              <a:t>大页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0" name="Right Brace 9"/>
          <p:cNvSpPr/>
          <p:nvPr/>
        </p:nvSpPr>
        <p:spPr>
          <a:xfrm>
            <a:off x="4989830" y="3914775"/>
            <a:ext cx="86995" cy="1086485"/>
          </a:xfrm>
          <a:prstGeom prst="rightBrace">
            <a:avLst/>
          </a:prstGeom>
          <a:ln w="28575" cmpd="sng">
            <a:solidFill>
              <a:srgbClr val="BA4CB8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6" name="Text Box 15"/>
          <p:cNvSpPr txBox="1"/>
          <p:nvPr/>
        </p:nvSpPr>
        <p:spPr>
          <a:xfrm>
            <a:off x="4931410" y="4257675"/>
            <a:ext cx="720725" cy="3981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>
                <a:solidFill>
                  <a:schemeClr val="bg1"/>
                </a:solidFill>
              </a:rPr>
              <a:t>CG1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25" name="Left Brace 24"/>
          <p:cNvSpPr/>
          <p:nvPr/>
        </p:nvSpPr>
        <p:spPr>
          <a:xfrm>
            <a:off x="1574165" y="5055235"/>
            <a:ext cx="86995" cy="414655"/>
          </a:xfrm>
          <a:prstGeom prst="leftBrace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6" name="Left Brace 25"/>
          <p:cNvSpPr/>
          <p:nvPr/>
        </p:nvSpPr>
        <p:spPr>
          <a:xfrm>
            <a:off x="516890" y="3844925"/>
            <a:ext cx="267335" cy="1651635"/>
          </a:xfrm>
          <a:prstGeom prst="leftBrace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7" name="Text Box 26"/>
          <p:cNvSpPr txBox="1"/>
          <p:nvPr/>
        </p:nvSpPr>
        <p:spPr>
          <a:xfrm>
            <a:off x="839470" y="5128260"/>
            <a:ext cx="13119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solidFill>
                  <a:schemeClr val="bg1"/>
                </a:solidFill>
              </a:rPr>
              <a:t>PG1 SBS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29" name="Text Box 28"/>
          <p:cNvSpPr txBox="1"/>
          <p:nvPr/>
        </p:nvSpPr>
        <p:spPr>
          <a:xfrm>
            <a:off x="0" y="5004435"/>
            <a:ext cx="7207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solidFill>
                  <a:schemeClr val="bg1"/>
                </a:solidFill>
              </a:rPr>
              <a:t>PG1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30" name="Text Box 29"/>
          <p:cNvSpPr txBox="1"/>
          <p:nvPr/>
        </p:nvSpPr>
        <p:spPr>
          <a:xfrm>
            <a:off x="7689215" y="173291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/>
                </a:solidFill>
              </a:rPr>
              <a:t>大页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1" name="Rectangles 30"/>
          <p:cNvSpPr/>
          <p:nvPr/>
        </p:nvSpPr>
        <p:spPr>
          <a:xfrm>
            <a:off x="7689215" y="2101215"/>
            <a:ext cx="3853815" cy="370459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2" name="Rectangles 31"/>
          <p:cNvSpPr/>
          <p:nvPr/>
        </p:nvSpPr>
        <p:spPr>
          <a:xfrm>
            <a:off x="7981950" y="3929380"/>
            <a:ext cx="3202305" cy="74676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CACHE1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33" name="Rectangles 32"/>
          <p:cNvSpPr/>
          <p:nvPr/>
        </p:nvSpPr>
        <p:spPr>
          <a:xfrm>
            <a:off x="7981950" y="4655820"/>
            <a:ext cx="3209290" cy="398780"/>
          </a:xfrm>
          <a:prstGeom prst="rect">
            <a:avLst/>
          </a:prstGeom>
          <a:solidFill>
            <a:schemeClr val="accent3">
              <a:lumMod val="75000"/>
            </a:schemeClr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私有内存</a:t>
            </a:r>
            <a:r>
              <a:rPr lang="en-US" altLang="zh-CN">
                <a:solidFill>
                  <a:schemeClr val="tx1"/>
                </a:solidFill>
              </a:rPr>
              <a:t>1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34" name="Rectangles 33"/>
          <p:cNvSpPr/>
          <p:nvPr/>
        </p:nvSpPr>
        <p:spPr>
          <a:xfrm>
            <a:off x="7981950" y="5054600"/>
            <a:ext cx="3202940" cy="39941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12700" cmpd="sng">
            <a:solidFill>
              <a:schemeClr val="tx1">
                <a:lumMod val="65000"/>
                <a:lumOff val="35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bg1"/>
                </a:solidFill>
              </a:rPr>
              <a:t>共享内存</a:t>
            </a:r>
            <a:r>
              <a:rPr lang="en-US" altLang="zh-CN">
                <a:solidFill>
                  <a:schemeClr val="bg1"/>
                </a:solidFill>
              </a:rPr>
              <a:t>-</a:t>
            </a:r>
            <a:r>
              <a:rPr lang="zh-CN" altLang="en-US">
                <a:solidFill>
                  <a:schemeClr val="bg1"/>
                </a:solidFill>
              </a:rPr>
              <a:t>大页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5" name="Right Brace 34"/>
          <p:cNvSpPr/>
          <p:nvPr/>
        </p:nvSpPr>
        <p:spPr>
          <a:xfrm>
            <a:off x="11249660" y="3914775"/>
            <a:ext cx="86995" cy="1086485"/>
          </a:xfrm>
          <a:prstGeom prst="rightBrace">
            <a:avLst/>
          </a:prstGeom>
          <a:ln w="28575" cmpd="sng">
            <a:solidFill>
              <a:srgbClr val="BA4CB8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6" name="Text Box 35"/>
          <p:cNvSpPr txBox="1"/>
          <p:nvPr/>
        </p:nvSpPr>
        <p:spPr>
          <a:xfrm>
            <a:off x="11191240" y="4257675"/>
            <a:ext cx="720725" cy="3981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>
                <a:solidFill>
                  <a:schemeClr val="bg1"/>
                </a:solidFill>
              </a:rPr>
              <a:t>CG1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37" name="Left Brace 36"/>
          <p:cNvSpPr/>
          <p:nvPr/>
        </p:nvSpPr>
        <p:spPr>
          <a:xfrm>
            <a:off x="7833995" y="5055235"/>
            <a:ext cx="86995" cy="414655"/>
          </a:xfrm>
          <a:prstGeom prst="leftBrace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8" name="Left Brace 37"/>
          <p:cNvSpPr/>
          <p:nvPr/>
        </p:nvSpPr>
        <p:spPr>
          <a:xfrm>
            <a:off x="6776720" y="3844925"/>
            <a:ext cx="267335" cy="1651635"/>
          </a:xfrm>
          <a:prstGeom prst="leftBrace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9" name="Text Box 38"/>
          <p:cNvSpPr txBox="1"/>
          <p:nvPr/>
        </p:nvSpPr>
        <p:spPr>
          <a:xfrm>
            <a:off x="7099300" y="5128260"/>
            <a:ext cx="13119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solidFill>
                  <a:schemeClr val="bg1"/>
                </a:solidFill>
              </a:rPr>
              <a:t>PG1 SBS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41" name="Text Box 40"/>
          <p:cNvSpPr txBox="1"/>
          <p:nvPr/>
        </p:nvSpPr>
        <p:spPr>
          <a:xfrm>
            <a:off x="6252845" y="4434840"/>
            <a:ext cx="7207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solidFill>
                  <a:schemeClr val="bg1"/>
                </a:solidFill>
              </a:rPr>
              <a:t>PG1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42" name="Rectangles 41"/>
          <p:cNvSpPr/>
          <p:nvPr/>
        </p:nvSpPr>
        <p:spPr>
          <a:xfrm>
            <a:off x="7988935" y="2705735"/>
            <a:ext cx="3202305" cy="74676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CACHE2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43" name="Rectangles 42"/>
          <p:cNvSpPr/>
          <p:nvPr/>
        </p:nvSpPr>
        <p:spPr>
          <a:xfrm>
            <a:off x="7988935" y="3432175"/>
            <a:ext cx="3209290" cy="398780"/>
          </a:xfrm>
          <a:prstGeom prst="rect">
            <a:avLst/>
          </a:prstGeom>
          <a:solidFill>
            <a:schemeClr val="accent3">
              <a:lumMod val="75000"/>
            </a:schemeClr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私有内存</a:t>
            </a:r>
            <a:r>
              <a:rPr lang="en-US" altLang="zh-CN">
                <a:solidFill>
                  <a:schemeClr val="tx1"/>
                </a:solidFill>
              </a:rPr>
              <a:t>2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44" name="Left Brace 43"/>
          <p:cNvSpPr/>
          <p:nvPr/>
        </p:nvSpPr>
        <p:spPr>
          <a:xfrm>
            <a:off x="6776720" y="2705735"/>
            <a:ext cx="266700" cy="1124585"/>
          </a:xfrm>
          <a:prstGeom prst="leftBrace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5" name="Text Box 44"/>
          <p:cNvSpPr txBox="1"/>
          <p:nvPr/>
        </p:nvSpPr>
        <p:spPr>
          <a:xfrm>
            <a:off x="6275705" y="3084195"/>
            <a:ext cx="7207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solidFill>
                  <a:schemeClr val="bg1"/>
                </a:solidFill>
              </a:rPr>
              <a:t>PG2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48" name="Right Brace 47"/>
          <p:cNvSpPr/>
          <p:nvPr/>
        </p:nvSpPr>
        <p:spPr>
          <a:xfrm>
            <a:off x="11308080" y="2767965"/>
            <a:ext cx="86995" cy="1086485"/>
          </a:xfrm>
          <a:prstGeom prst="rightBrace">
            <a:avLst/>
          </a:prstGeom>
          <a:ln w="28575" cmpd="sng">
            <a:solidFill>
              <a:srgbClr val="BA4CB8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9" name="Text Box 48"/>
          <p:cNvSpPr txBox="1"/>
          <p:nvPr/>
        </p:nvSpPr>
        <p:spPr>
          <a:xfrm>
            <a:off x="11249660" y="3110865"/>
            <a:ext cx="720725" cy="3981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>
                <a:solidFill>
                  <a:schemeClr val="bg1"/>
                </a:solidFill>
              </a:rPr>
              <a:t>CG2</a:t>
            </a:r>
            <a:endParaRPr lang="en-US">
              <a:solidFill>
                <a:schemeClr val="bg1"/>
              </a:solidFill>
            </a:endParaRPr>
          </a:p>
        </p:txBody>
      </p:sp>
      <p:cxnSp>
        <p:nvCxnSpPr>
          <p:cNvPr id="51" name="Straight Arrow Connector 50"/>
          <p:cNvCxnSpPr/>
          <p:nvPr/>
        </p:nvCxnSpPr>
        <p:spPr>
          <a:xfrm>
            <a:off x="7091680" y="3341370"/>
            <a:ext cx="450215" cy="1524000"/>
          </a:xfrm>
          <a:prstGeom prst="straightConnector1">
            <a:avLst/>
          </a:prstGeom>
          <a:ln w="28575" cmpd="sng">
            <a:solidFill>
              <a:srgbClr val="FF0000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2" name="Text Box 51"/>
          <p:cNvSpPr txBox="1"/>
          <p:nvPr/>
        </p:nvSpPr>
        <p:spPr>
          <a:xfrm>
            <a:off x="7044055" y="610997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/>
                </a:solidFill>
              </a:rPr>
              <a:t>后续的实例分配不到</a:t>
            </a:r>
            <a:r>
              <a:rPr lang="zh-CN" altLang="en-US">
                <a:solidFill>
                  <a:schemeClr val="bg1"/>
                </a:solidFill>
              </a:rPr>
              <a:t>大页，大页不足</a:t>
            </a:r>
            <a:endParaRPr lang="zh-CN" altLang="en-US">
              <a:solidFill>
                <a:schemeClr val="bg1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5" name="图片 4" descr="未标题-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287655"/>
            <a:ext cx="1737995" cy="74676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9228455" y="716915"/>
            <a:ext cx="294386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120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开源生态大会暨</a:t>
            </a:r>
            <a:r>
              <a:rPr lang="en-US" altLang="zh-CN" sz="120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PostgreSQL</a:t>
            </a:r>
            <a:r>
              <a:rPr lang="zh-CN" altLang="en-US" sz="120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高峰论坛</a:t>
            </a:r>
            <a:endParaRPr lang="zh-CN" altLang="en-US" sz="1200" b="1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9207500" y="348615"/>
            <a:ext cx="2863215" cy="3835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9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以开源之道</a:t>
            </a:r>
            <a:r>
              <a:rPr lang="en-US" altLang="zh-CN" sz="19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·</a:t>
            </a:r>
            <a:r>
              <a:rPr lang="zh-CN" altLang="en-US" sz="19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见致远之志</a:t>
            </a:r>
            <a:endParaRPr lang="zh-CN" altLang="en-US" sz="1900">
              <a:solidFill>
                <a:schemeClr val="bg1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sp>
        <p:nvSpPr>
          <p:cNvPr id="40" name="文本框 4"/>
          <p:cNvSpPr txBox="1"/>
          <p:nvPr/>
        </p:nvSpPr>
        <p:spPr>
          <a:xfrm>
            <a:off x="447040" y="1184275"/>
            <a:ext cx="94710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大页</a:t>
            </a:r>
            <a:r>
              <a:rPr lang="zh-CN" altLang="en-US" sz="200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带来的管理</a:t>
            </a:r>
            <a:r>
              <a:rPr lang="zh-CN" altLang="en-US" sz="200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问题</a:t>
            </a:r>
            <a:endParaRPr lang="zh-CN" altLang="en-US" sz="2000" b="1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3675380" y="182689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/>
                </a:solidFill>
              </a:rPr>
              <a:t>大页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6" name="Rectangles 5"/>
          <p:cNvSpPr/>
          <p:nvPr/>
        </p:nvSpPr>
        <p:spPr>
          <a:xfrm>
            <a:off x="3675380" y="2195195"/>
            <a:ext cx="3853815" cy="370459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" name="Rectangles 6"/>
          <p:cNvSpPr/>
          <p:nvPr/>
        </p:nvSpPr>
        <p:spPr>
          <a:xfrm>
            <a:off x="3982085" y="2441575"/>
            <a:ext cx="3202305" cy="74676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CACHE1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Rectangles 7"/>
          <p:cNvSpPr/>
          <p:nvPr/>
        </p:nvSpPr>
        <p:spPr>
          <a:xfrm>
            <a:off x="3975100" y="3188335"/>
            <a:ext cx="3209290" cy="398780"/>
          </a:xfrm>
          <a:prstGeom prst="rect">
            <a:avLst/>
          </a:prstGeom>
          <a:solidFill>
            <a:schemeClr val="accent3">
              <a:lumMod val="75000"/>
            </a:schemeClr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私有内存</a:t>
            </a:r>
            <a:r>
              <a:rPr lang="en-US" altLang="zh-CN">
                <a:solidFill>
                  <a:schemeClr val="tx1"/>
                </a:solidFill>
              </a:rPr>
              <a:t>1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9" name="Rectangles 8"/>
          <p:cNvSpPr/>
          <p:nvPr/>
        </p:nvSpPr>
        <p:spPr>
          <a:xfrm>
            <a:off x="3968115" y="3593465"/>
            <a:ext cx="3215640" cy="28384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12700" cmpd="sng">
            <a:solidFill>
              <a:srgbClr val="11044A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bg1"/>
                </a:solidFill>
              </a:rPr>
              <a:t>共享内存</a:t>
            </a:r>
            <a:r>
              <a:rPr lang="en-US" altLang="zh-CN">
                <a:solidFill>
                  <a:schemeClr val="bg1"/>
                </a:solidFill>
              </a:rPr>
              <a:t>-</a:t>
            </a:r>
            <a:r>
              <a:rPr lang="zh-CN" altLang="en-US">
                <a:solidFill>
                  <a:schemeClr val="bg1"/>
                </a:solidFill>
              </a:rPr>
              <a:t>大页</a:t>
            </a:r>
            <a:r>
              <a:rPr lang="en-US" altLang="zh-CN">
                <a:solidFill>
                  <a:schemeClr val="bg1"/>
                </a:solidFill>
              </a:rPr>
              <a:t>1</a:t>
            </a:r>
            <a:endParaRPr lang="en-US" altLang="zh-CN">
              <a:solidFill>
                <a:schemeClr val="bg1"/>
              </a:solidFill>
            </a:endParaRPr>
          </a:p>
        </p:txBody>
      </p:sp>
      <p:sp>
        <p:nvSpPr>
          <p:cNvPr id="10" name="Right Brace 9"/>
          <p:cNvSpPr/>
          <p:nvPr/>
        </p:nvSpPr>
        <p:spPr>
          <a:xfrm>
            <a:off x="7322820" y="2471420"/>
            <a:ext cx="86995" cy="1086485"/>
          </a:xfrm>
          <a:prstGeom prst="rightBrace">
            <a:avLst/>
          </a:prstGeom>
          <a:ln w="28575" cmpd="sng">
            <a:solidFill>
              <a:srgbClr val="BA4CB8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6" name="Text Box 15"/>
          <p:cNvSpPr txBox="1"/>
          <p:nvPr/>
        </p:nvSpPr>
        <p:spPr>
          <a:xfrm>
            <a:off x="7512050" y="2780030"/>
            <a:ext cx="720725" cy="3981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>
                <a:solidFill>
                  <a:schemeClr val="bg1"/>
                </a:solidFill>
              </a:rPr>
              <a:t>CG1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25" name="Left Brace 24"/>
          <p:cNvSpPr/>
          <p:nvPr/>
        </p:nvSpPr>
        <p:spPr>
          <a:xfrm>
            <a:off x="3717290" y="3528695"/>
            <a:ext cx="86995" cy="414655"/>
          </a:xfrm>
          <a:prstGeom prst="leftBrace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6" name="Left Brace 25"/>
          <p:cNvSpPr/>
          <p:nvPr/>
        </p:nvSpPr>
        <p:spPr>
          <a:xfrm>
            <a:off x="2762885" y="2470785"/>
            <a:ext cx="450215" cy="1551940"/>
          </a:xfrm>
          <a:prstGeom prst="leftBrace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7" name="Text Box 26"/>
          <p:cNvSpPr txBox="1"/>
          <p:nvPr/>
        </p:nvSpPr>
        <p:spPr>
          <a:xfrm>
            <a:off x="2982595" y="3601720"/>
            <a:ext cx="13119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solidFill>
                  <a:schemeClr val="bg1"/>
                </a:solidFill>
              </a:rPr>
              <a:t>PG1 SBS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29" name="Text Box 28"/>
          <p:cNvSpPr txBox="1"/>
          <p:nvPr/>
        </p:nvSpPr>
        <p:spPr>
          <a:xfrm>
            <a:off x="2261870" y="2988945"/>
            <a:ext cx="7207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solidFill>
                  <a:schemeClr val="bg1"/>
                </a:solidFill>
              </a:rPr>
              <a:t>PG1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52" name="Text Box 51"/>
          <p:cNvSpPr txBox="1"/>
          <p:nvPr/>
        </p:nvSpPr>
        <p:spPr>
          <a:xfrm>
            <a:off x="3968115" y="608838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/>
                </a:solidFill>
              </a:rPr>
              <a:t>大页过大带来内存</a:t>
            </a:r>
            <a:r>
              <a:rPr lang="zh-CN" altLang="en-US">
                <a:solidFill>
                  <a:schemeClr val="bg1"/>
                </a:solidFill>
              </a:rPr>
              <a:t>浪费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" name="Rectangles 1"/>
          <p:cNvSpPr/>
          <p:nvPr/>
        </p:nvSpPr>
        <p:spPr>
          <a:xfrm>
            <a:off x="3968115" y="3884295"/>
            <a:ext cx="3215640" cy="1644650"/>
          </a:xfrm>
          <a:prstGeom prst="rect">
            <a:avLst/>
          </a:prstGeom>
          <a:solidFill>
            <a:schemeClr val="tx1"/>
          </a:solidFill>
          <a:ln w="12700" cmpd="sng">
            <a:solidFill>
              <a:srgbClr val="11044A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bg1"/>
                </a:solidFill>
              </a:rPr>
              <a:t>共享内存</a:t>
            </a:r>
            <a:r>
              <a:rPr lang="en-US" altLang="zh-CN">
                <a:solidFill>
                  <a:schemeClr val="bg1"/>
                </a:solidFill>
              </a:rPr>
              <a:t>-</a:t>
            </a:r>
            <a:r>
              <a:rPr lang="zh-CN" altLang="en-US">
                <a:solidFill>
                  <a:schemeClr val="bg1"/>
                </a:solidFill>
              </a:rPr>
              <a:t>大页</a:t>
            </a:r>
            <a:r>
              <a:rPr lang="en-US" altLang="zh-CN">
                <a:solidFill>
                  <a:schemeClr val="bg1"/>
                </a:solidFill>
              </a:rPr>
              <a:t>free</a:t>
            </a:r>
            <a:endParaRPr lang="en-US" altLang="zh-CN">
              <a:solidFill>
                <a:schemeClr val="bg1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5257800" y="2690495"/>
            <a:ext cx="508254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kumimoji="1" lang="zh-CN" altLang="en-US" sz="6000" b="1" dirty="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  <a:sym typeface="+mn-ea"/>
              </a:rPr>
              <a:t>内存故障</a:t>
            </a:r>
            <a:r>
              <a:rPr kumimoji="1" lang="zh-CN" altLang="en-US" sz="6000" b="1" dirty="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  <a:sym typeface="+mn-ea"/>
              </a:rPr>
              <a:t>模型</a:t>
            </a:r>
            <a:endParaRPr kumimoji="1" lang="zh-CN" altLang="en-US" sz="6000" b="1" dirty="0">
              <a:solidFill>
                <a:schemeClr val="bg1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  <a:sym typeface="+mn-ea"/>
            </a:endParaRPr>
          </a:p>
        </p:txBody>
      </p:sp>
      <p:pic>
        <p:nvPicPr>
          <p:cNvPr id="5" name="图片 4" descr="未标题-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287655"/>
            <a:ext cx="1737995" cy="74676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9228455" y="716915"/>
            <a:ext cx="294386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120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开源生态大会暨</a:t>
            </a:r>
            <a:r>
              <a:rPr lang="en-US" altLang="zh-CN" sz="120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PostgreSQL</a:t>
            </a:r>
            <a:r>
              <a:rPr lang="zh-CN" altLang="en-US" sz="120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高峰论坛</a:t>
            </a:r>
            <a:endParaRPr lang="zh-CN" altLang="en-US" sz="1200" b="1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9207500" y="348615"/>
            <a:ext cx="2863215" cy="3835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9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以开源之道</a:t>
            </a:r>
            <a:r>
              <a:rPr lang="en-US" altLang="zh-CN" sz="19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·</a:t>
            </a:r>
            <a:r>
              <a:rPr lang="zh-CN" altLang="en-US" sz="19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见致远之志</a:t>
            </a:r>
            <a:endParaRPr lang="zh-CN" altLang="en-US" sz="1900">
              <a:solidFill>
                <a:schemeClr val="bg1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5" name="图片 4" descr="未标题-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287655"/>
            <a:ext cx="1737995" cy="74676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9228455" y="716915"/>
            <a:ext cx="294386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120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开源生态大会暨</a:t>
            </a:r>
            <a:r>
              <a:rPr lang="en-US" altLang="zh-CN" sz="120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PostgreSQL</a:t>
            </a:r>
            <a:r>
              <a:rPr lang="zh-CN" altLang="en-US" sz="120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高峰论坛</a:t>
            </a:r>
            <a:endParaRPr lang="zh-CN" altLang="en-US" sz="1200" b="1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9207500" y="348615"/>
            <a:ext cx="2863215" cy="3835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9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以开源之道</a:t>
            </a:r>
            <a:r>
              <a:rPr lang="en-US" altLang="zh-CN" sz="19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·</a:t>
            </a:r>
            <a:r>
              <a:rPr lang="zh-CN" altLang="en-US" sz="19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见致远之志</a:t>
            </a:r>
            <a:endParaRPr lang="zh-CN" altLang="en-US" sz="1900">
              <a:solidFill>
                <a:schemeClr val="bg1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580" y="1090295"/>
            <a:ext cx="10425430" cy="570611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封面画板 2 拷贝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15875"/>
            <a:ext cx="12221210" cy="6873875"/>
          </a:xfrm>
          <a:prstGeom prst="rect">
            <a:avLst/>
          </a:prstGeom>
        </p:spPr>
      </p:pic>
      <p:pic>
        <p:nvPicPr>
          <p:cNvPr id="5" name="图片 4" descr="未标题-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287655"/>
            <a:ext cx="1737995" cy="74676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9228455" y="716915"/>
            <a:ext cx="294386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120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开源生态大会暨</a:t>
            </a:r>
            <a:r>
              <a:rPr lang="en-US" altLang="zh-CN" sz="120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PostgreSQL</a:t>
            </a:r>
            <a:r>
              <a:rPr lang="zh-CN" altLang="en-US" sz="120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高峰论坛</a:t>
            </a:r>
            <a:endParaRPr lang="zh-CN" altLang="en-US" sz="1200" b="1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9207500" y="348615"/>
            <a:ext cx="2863215" cy="3835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9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以开源之道</a:t>
            </a:r>
            <a:r>
              <a:rPr lang="en-US" altLang="zh-CN" sz="19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·</a:t>
            </a:r>
            <a:r>
              <a:rPr lang="zh-CN" altLang="en-US" sz="19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见致远之志</a:t>
            </a:r>
            <a:endParaRPr lang="zh-CN" altLang="en-US" sz="1900">
              <a:solidFill>
                <a:schemeClr val="bg1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3185" y="1056005"/>
            <a:ext cx="9460230" cy="580199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封面画板 2 拷贝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15875"/>
            <a:ext cx="12221210" cy="6873875"/>
          </a:xfrm>
          <a:prstGeom prst="rect">
            <a:avLst/>
          </a:prstGeom>
        </p:spPr>
      </p:pic>
      <p:pic>
        <p:nvPicPr>
          <p:cNvPr id="5" name="图片 4" descr="未标题-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287655"/>
            <a:ext cx="1737995" cy="74676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9228455" y="716915"/>
            <a:ext cx="294386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120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开源生态大会暨</a:t>
            </a:r>
            <a:r>
              <a:rPr lang="en-US" altLang="zh-CN" sz="120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PostgreSQL</a:t>
            </a:r>
            <a:r>
              <a:rPr lang="zh-CN" altLang="en-US" sz="120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高峰论坛</a:t>
            </a:r>
            <a:endParaRPr lang="zh-CN" altLang="en-US" sz="1200" b="1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9207500" y="348615"/>
            <a:ext cx="2863215" cy="3835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9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以开源之道</a:t>
            </a:r>
            <a:r>
              <a:rPr lang="en-US" altLang="zh-CN" sz="19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·</a:t>
            </a:r>
            <a:r>
              <a:rPr lang="zh-CN" altLang="en-US" sz="19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见致远之志</a:t>
            </a:r>
            <a:endParaRPr lang="zh-CN" altLang="en-US" sz="1900">
              <a:solidFill>
                <a:schemeClr val="bg1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750" y="1178560"/>
            <a:ext cx="11366500" cy="51435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封面画板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" y="1744"/>
            <a:ext cx="12191283" cy="6856253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9228455" y="716915"/>
            <a:ext cx="294386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120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开源生态大会暨</a:t>
            </a:r>
            <a:r>
              <a:rPr lang="en-US" altLang="zh-CN" sz="120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PostgreSQL</a:t>
            </a:r>
            <a:r>
              <a:rPr lang="zh-CN" altLang="en-US" sz="120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高峰论坛</a:t>
            </a:r>
            <a:endParaRPr lang="zh-CN" altLang="en-US" sz="1200" b="1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207500" y="348615"/>
            <a:ext cx="2863215" cy="3835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9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以开源之道</a:t>
            </a:r>
            <a:r>
              <a:rPr lang="en-US" altLang="zh-CN" sz="19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·</a:t>
            </a:r>
            <a:r>
              <a:rPr lang="zh-CN" altLang="en-US" sz="19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见致远之志</a:t>
            </a:r>
            <a:endParaRPr lang="zh-CN" altLang="en-US" sz="1900">
              <a:solidFill>
                <a:schemeClr val="bg1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236085" y="2424430"/>
            <a:ext cx="4375150" cy="14452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kumimoji="1" lang="en-US" altLang="zh-CN" sz="8800" b="1" kern="4000" spc="200" dirty="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</a:rPr>
              <a:t>Thanks</a:t>
            </a:r>
            <a:endParaRPr kumimoji="1" lang="en-US" altLang="zh-CN" sz="8800" b="1" kern="4000" spc="200" dirty="0">
              <a:solidFill>
                <a:schemeClr val="bg1"/>
              </a:solidFill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690235" y="3869690"/>
            <a:ext cx="1466850" cy="8604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kumimoji="1" lang="zh-CN" altLang="en-US" sz="5000" dirty="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</a:rPr>
              <a:t>谢谢</a:t>
            </a:r>
            <a:endParaRPr kumimoji="1" lang="zh-CN" altLang="en-US" sz="5000" dirty="0">
              <a:solidFill>
                <a:schemeClr val="bg1"/>
              </a:solidFill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DIAGRAM_VIRTUALLY_FRAME" val="{&quot;height&quot;:284.14000000000004,&quot;left&quot;:399.3416535433071,&quot;top&quot;:123.85047244094486,&quot;width&quot;:372.23605954750474}"/>
</p:tagLst>
</file>

<file path=ppt/tags/tag65.xml><?xml version="1.0" encoding="utf-8"?>
<p:tagLst xmlns:p="http://schemas.openxmlformats.org/presentationml/2006/main">
  <p:tag name="KSO_WM_DIAGRAM_VIRTUALLY_FRAME" val="{&quot;height&quot;:284.14000000000004,&quot;left&quot;:399.3416535433071,&quot;top&quot;:123.85047244094486,&quot;width&quot;:372.23605954750474}"/>
</p:tagLst>
</file>

<file path=ppt/tags/tag66.xml><?xml version="1.0" encoding="utf-8"?>
<p:tagLst xmlns:p="http://schemas.openxmlformats.org/presentationml/2006/main">
  <p:tag name="KSO_WM_DIAGRAM_VIRTUALLY_FRAME" val="{&quot;height&quot;:284.14000000000004,&quot;left&quot;:399.3416535433071,&quot;top&quot;:123.85047244094486,&quot;width&quot;:372.23605954750474}"/>
</p:tagLst>
</file>

<file path=ppt/tags/tag67.xml><?xml version="1.0" encoding="utf-8"?>
<p:tagLst xmlns:p="http://schemas.openxmlformats.org/presentationml/2006/main">
  <p:tag name="KSO_WM_DIAGRAM_VIRTUALLY_FRAME" val="{&quot;height&quot;:284.14000000000004,&quot;left&quot;:399.3416535433071,&quot;top&quot;:123.85047244094486,&quot;width&quot;:372.23605954750474}"/>
</p:tagLst>
</file>

<file path=ppt/tags/tag68.xml><?xml version="1.0" encoding="utf-8"?>
<p:tagLst xmlns:p="http://schemas.openxmlformats.org/presentationml/2006/main">
  <p:tag name="KSO_WM_DIAGRAM_VIRTUALLY_FRAME" val="{&quot;height&quot;:284.14000000000004,&quot;left&quot;:399.3416535433071,&quot;top&quot;:123.85047244094486,&quot;width&quot;:372.23605954750474}"/>
</p:tagLst>
</file>

<file path=ppt/tags/tag69.xml><?xml version="1.0" encoding="utf-8"?>
<p:tagLst xmlns:p="http://schemas.openxmlformats.org/presentationml/2006/main">
  <p:tag name="KSO_WM_DIAGRAM_VIRTUALLY_FRAME" val="{&quot;height&quot;:284.14000000000004,&quot;left&quot;:399.3416535433071,&quot;top&quot;:123.85047244094486,&quot;width&quot;:372.23605954750474}"/>
</p:tagLst>
</file>

<file path=ppt/tags/tag70.xml><?xml version="1.0" encoding="utf-8"?>
<p:tagLst xmlns:p="http://schemas.openxmlformats.org/presentationml/2006/main">
  <p:tag name="KSO_WM_DIAGRAM_VIRTUALLY_FRAME" val="{&quot;height&quot;:284.14000000000004,&quot;left&quot;:399.3416535433071,&quot;top&quot;:123.85047244094486,&quot;width&quot;:372.23605954750474}"/>
</p:tagLst>
</file>

<file path=ppt/tags/tag71.xml><?xml version="1.0" encoding="utf-8"?>
<p:tagLst xmlns:p="http://schemas.openxmlformats.org/presentationml/2006/main">
  <p:tag name="KSO_WM_DIAGRAM_VIRTUALLY_FRAME" val="{&quot;height&quot;:284.14000000000004,&quot;left&quot;:399.3416535433071,&quot;top&quot;:123.85047244094486,&quot;width&quot;:372.23605954750474}"/>
</p:tagLst>
</file>

<file path=ppt/tags/tag7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resource_record_key" val="{&quot;13&quot;:[20482073],&quot;65&quot;:[20205081]}"/>
</p:tagLst>
</file>

<file path=ppt/tags/tag7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93.xml><?xml version="1.0" encoding="utf-8"?>
<p:tagLst xmlns:p="http://schemas.openxmlformats.org/presentationml/2006/main">
  <p:tag name="resource_record_key" val="{&quot;13&quot;:[20482073],&quot;65&quot;:[20205081]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10668</Words>
  <Application>WPS Writer</Application>
  <PresentationFormat>宽屏</PresentationFormat>
  <Paragraphs>798</Paragraphs>
  <Slides>36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28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36</vt:i4>
      </vt:variant>
    </vt:vector>
  </HeadingPairs>
  <TitlesOfParts>
    <vt:vector size="65" baseType="lpstr">
      <vt:lpstr>Arial</vt:lpstr>
      <vt:lpstr>宋体</vt:lpstr>
      <vt:lpstr>Wingdings</vt:lpstr>
      <vt:lpstr>Wingdings</vt:lpstr>
      <vt:lpstr>思源黑体 CN Heavy</vt:lpstr>
      <vt:lpstr>汉仪中黑KW</vt:lpstr>
      <vt:lpstr>思源黑体 CN Bold</vt:lpstr>
      <vt:lpstr>思源黑体 CN Medium</vt:lpstr>
      <vt:lpstr>Open Sans</vt:lpstr>
      <vt:lpstr>Thonburi</vt:lpstr>
      <vt:lpstr>Lucida Console</vt:lpstr>
      <vt:lpstr>微软雅黑</vt:lpstr>
      <vt:lpstr>汉仪旗黑</vt:lpstr>
      <vt:lpstr>宋体</vt:lpstr>
      <vt:lpstr>Arial Unicode MS</vt:lpstr>
      <vt:lpstr>Calibri</vt:lpstr>
      <vt:lpstr>Helvetica Neue</vt:lpstr>
      <vt:lpstr>Arial Bold</vt:lpstr>
      <vt:lpstr>苹方-简</vt:lpstr>
      <vt:lpstr>var(--monospace)</vt:lpstr>
      <vt:lpstr>Open Sans</vt:lpstr>
      <vt:lpstr>var(--monospace)</vt:lpstr>
      <vt:lpstr>微软雅黑</vt:lpstr>
      <vt:lpstr>思源黑体 CN Bold</vt:lpstr>
      <vt:lpstr>思源黑体 CN Heavy</vt:lpstr>
      <vt:lpstr>思源黑体 CN Medium</vt:lpstr>
      <vt:lpstr>汉仪书宋二KW</vt:lpstr>
      <vt:lpstr>Impact</vt:lpstr>
      <vt:lpstr>WPS</vt:lpstr>
      <vt:lpstr>PowerPoint 演示文稿</vt:lpstr>
      <vt:lpstr>PowerPoint 演示文稿</vt:lpstr>
      <vt:lpstr>PowerPoint 演示文稿</vt:lpstr>
      <vt:lpstr>cg mem-cg mem管理概述</vt:lpstr>
      <vt:lpstr>cg mem-cg mem管理概述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cgmem-stat文件</vt:lpstr>
      <vt:lpstr>cgmem-内存计算</vt:lpstr>
      <vt:lpstr>cgmem-cg rss和process rss的差异</vt:lpstr>
      <vt:lpstr>cgmem-cg rss和process rss的差异</vt:lpstr>
      <vt:lpstr>cgmem-cg rss和process rss的差异</vt:lpstr>
      <vt:lpstr>cgmem-cg oom</vt:lpstr>
      <vt:lpstr>cgmem-cg oom</vt:lpstr>
      <vt:lpstr>cgmem-cg oom</vt:lpstr>
      <vt:lpstr>cgmem-缺啥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刘智龙</cp:lastModifiedBy>
  <cp:revision>890</cp:revision>
  <dcterms:created xsi:type="dcterms:W3CDTF">2026-04-21T16:32:18Z</dcterms:created>
  <dcterms:modified xsi:type="dcterms:W3CDTF">2026-04-21T16:32:18Z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1033-7.5.1.8994</vt:lpwstr>
  </property>
  <property fmtid="{D5CDD505-2E9C-101B-9397-08002B2CF9AE}" pid="3" name="ICV">
    <vt:lpwstr>9C2E704DBE742EE1738BDF6941EBDE33_43</vt:lpwstr>
  </property>
</Properties>
</file>