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74" r:id="rId5"/>
    <p:sldId id="262" r:id="rId6"/>
    <p:sldId id="266" r:id="rId7"/>
    <p:sldId id="267" r:id="rId8"/>
    <p:sldId id="268" r:id="rId9"/>
    <p:sldId id="269" r:id="rId10"/>
    <p:sldId id="270" r:id="rId11"/>
    <p:sldId id="271" r:id="rId12"/>
    <p:sldId id="272" r:id="rId13"/>
    <p:sldId id="273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6" r:id="rId25"/>
    <p:sldId id="288" r:id="rId26"/>
    <p:sldId id="263" r:id="rId27"/>
    <p:sldId id="290" r:id="rId28"/>
    <p:sldId id="291" r:id="rId29"/>
    <p:sldId id="289" r:id="rId30"/>
    <p:sldId id="297" r:id="rId31"/>
    <p:sldId id="292" r:id="rId32"/>
    <p:sldId id="293" r:id="rId33"/>
    <p:sldId id="295" r:id="rId34"/>
    <p:sldId id="296" r:id="rId35"/>
    <p:sldId id="298" r:id="rId36"/>
    <p:sldId id="299" r:id="rId37"/>
    <p:sldId id="261" r:id="rId38"/>
  </p:sldIdLst>
  <p:sldSz cx="10799445" cy="647954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3" userDrawn="1">
          <p15:clr>
            <a:srgbClr val="A4A3A4"/>
          </p15:clr>
        </p15:guide>
        <p15:guide id="2" pos="337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1044A"/>
    <a:srgbClr val="D3E40E"/>
    <a:srgbClr val="8C13FD"/>
    <a:srgbClr val="CFF829"/>
    <a:srgbClr val="A43AFE"/>
    <a:srgbClr val="AC52AF"/>
    <a:srgbClr val="0AEFFE"/>
    <a:srgbClr val="A33ACA"/>
    <a:srgbClr val="F2FA0E"/>
    <a:srgbClr val="BA4CB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1963"/>
        <p:guide pos="337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2" Type="http://schemas.openxmlformats.org/officeDocument/2006/relationships/tags" Target="tags/tag107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slide" Target="slides/slide2.xml"/><Relationship Id="rId39" Type="http://schemas.openxmlformats.org/officeDocument/2006/relationships/presProps" Target="presProps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061929" y="864000"/>
            <a:ext cx="8680393" cy="2428724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567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061929" y="3364158"/>
            <a:ext cx="8680393" cy="1391244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270" spc="200"/>
            </a:lvl1pPr>
            <a:lvl2pPr marL="431800" indent="0" algn="ctr">
              <a:buNone/>
              <a:defRPr sz="1890"/>
            </a:lvl2pPr>
            <a:lvl3pPr marL="864235" indent="0" algn="ctr">
              <a:buNone/>
              <a:defRPr sz="1700"/>
            </a:lvl3pPr>
            <a:lvl4pPr marL="1296035" indent="0" algn="ctr">
              <a:buNone/>
              <a:defRPr sz="1510"/>
            </a:lvl4pPr>
            <a:lvl5pPr marL="1727835" indent="0" algn="ctr">
              <a:buNone/>
              <a:defRPr sz="1510"/>
            </a:lvl5pPr>
            <a:lvl6pPr marL="2160270" indent="0" algn="ctr">
              <a:buNone/>
              <a:defRPr sz="1510"/>
            </a:lvl6pPr>
            <a:lvl7pPr marL="2592070" indent="0" algn="ctr">
              <a:buNone/>
              <a:defRPr sz="1510"/>
            </a:lvl7pPr>
            <a:lvl8pPr marL="3023870" indent="0" algn="ctr">
              <a:buNone/>
              <a:defRPr sz="1510"/>
            </a:lvl8pPr>
            <a:lvl9pPr marL="3456305" indent="0" algn="ctr">
              <a:buNone/>
              <a:defRPr sz="151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574866"/>
            <a:ext cx="9716810" cy="66670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538937" y="1408252"/>
            <a:ext cx="9716810" cy="4496882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763504" y="3636284"/>
            <a:ext cx="6881811" cy="724535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155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763504" y="4360819"/>
            <a:ext cx="6881811" cy="81978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7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3180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2pPr>
            <a:lvl3pPr marL="8642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3pPr>
            <a:lvl4pPr marL="12960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4pPr>
            <a:lvl5pPr marL="172783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5pPr>
            <a:lvl6pPr marL="21602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6pPr>
            <a:lvl7pPr marL="25920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7pPr>
            <a:lvl8pPr marL="3023870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8pPr>
            <a:lvl9pPr marL="3456305" indent="0">
              <a:buNone/>
              <a:defRPr sz="151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574866"/>
            <a:ext cx="9716810" cy="66670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538937" y="1418457"/>
            <a:ext cx="4585748" cy="4486677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679567" y="1418457"/>
            <a:ext cx="4585748" cy="4486677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574866"/>
            <a:ext cx="9716810" cy="66670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538937" y="1350425"/>
            <a:ext cx="4732441" cy="360567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538937" y="1751811"/>
            <a:ext cx="4732441" cy="415332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5523794" y="1343366"/>
            <a:ext cx="4732441" cy="36056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9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31800" indent="0">
              <a:buNone/>
              <a:defRPr sz="1890" b="1"/>
            </a:lvl2pPr>
            <a:lvl3pPr marL="864235" indent="0">
              <a:buNone/>
              <a:defRPr sz="1700" b="1"/>
            </a:lvl3pPr>
            <a:lvl4pPr marL="1296035" indent="0">
              <a:buNone/>
              <a:defRPr sz="1510" b="1"/>
            </a:lvl4pPr>
            <a:lvl5pPr marL="1727835" indent="0">
              <a:buNone/>
              <a:defRPr sz="1510" b="1"/>
            </a:lvl5pPr>
            <a:lvl6pPr marL="2160270" indent="0">
              <a:buNone/>
              <a:defRPr sz="1510" b="1"/>
            </a:lvl6pPr>
            <a:lvl7pPr marL="2592070" indent="0">
              <a:buNone/>
              <a:defRPr sz="1510" b="1"/>
            </a:lvl7pPr>
            <a:lvl8pPr marL="3023870" indent="0">
              <a:buNone/>
              <a:defRPr sz="1510" b="1"/>
            </a:lvl8pPr>
            <a:lvl9pPr marL="3456305" indent="0">
              <a:buNone/>
              <a:defRPr sz="151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5523794" y="1751811"/>
            <a:ext cx="4732441" cy="4153323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538937" y="574866"/>
            <a:ext cx="9716810" cy="666709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38937" y="1469480"/>
            <a:ext cx="4635599" cy="435401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5625354" y="1469480"/>
            <a:ext cx="4630393" cy="4354016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51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9066259" y="864000"/>
            <a:ext cx="924803" cy="47520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645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810000" y="864000"/>
            <a:ext cx="8122322" cy="4752000"/>
          </a:xfrm>
        </p:spPr>
        <p:txBody>
          <a:bodyPr vert="eaVert" lIns="46800" tIns="46800" rIns="46800" bIns="46800"/>
          <a:lstStyle>
            <a:lvl1pPr marL="215900" indent="-215900">
              <a:spcAft>
                <a:spcPts val="1000"/>
              </a:spcAft>
              <a:defRPr spc="300"/>
            </a:lvl1pPr>
            <a:lvl2pPr marL="647700" indent="-215900">
              <a:defRPr spc="300"/>
            </a:lvl2pPr>
            <a:lvl3pPr marL="1080135" indent="-215900">
              <a:defRPr spc="300"/>
            </a:lvl3pPr>
            <a:lvl4pPr marL="1511935" indent="-215900">
              <a:defRPr spc="300"/>
            </a:lvl4pPr>
            <a:lvl5pPr marL="1943735" indent="-2159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538937" y="731339"/>
            <a:ext cx="9719999" cy="518059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061929" y="2347087"/>
            <a:ext cx="8680393" cy="962646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567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061929" y="3364158"/>
            <a:ext cx="8680393" cy="445606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27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bg>
      <p:bgPr>
        <a:solidFill>
          <a:srgbClr val="1009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538937" y="574866"/>
            <a:ext cx="9716810" cy="666709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538937" y="1408252"/>
            <a:ext cx="9716810" cy="4496882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542126" y="5966362"/>
            <a:ext cx="2391732" cy="299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9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3646063" y="5966362"/>
            <a:ext cx="3507874" cy="299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9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7864015" y="5966362"/>
            <a:ext cx="2391732" cy="2993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945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864235" rtl="0" eaLnBrk="1" fontAlgn="auto" latinLnBrk="0" hangingPunct="1">
        <a:lnSpc>
          <a:spcPct val="100000"/>
        </a:lnSpc>
        <a:spcBef>
          <a:spcPct val="0"/>
        </a:spcBef>
        <a:buNone/>
        <a:defRPr sz="34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15900" indent="-215900" algn="l" defTabSz="864235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7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47700" indent="-215900" algn="l" defTabSz="8642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520825" algn="l"/>
          <a:tab pos="1520825" algn="l"/>
          <a:tab pos="1520825" algn="l"/>
          <a:tab pos="1520825" algn="l"/>
        </a:tabLst>
        <a:defRPr sz="151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080135" indent="-215900" algn="l" defTabSz="864235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51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511935" indent="-215900" algn="l" defTabSz="8642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1943735" indent="-215900" algn="l" defTabSz="864235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325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3761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8079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39770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72205" indent="-215900" algn="l" defTabSz="864235" rtl="0" eaLnBrk="1" latinLnBrk="0" hangingPunct="1">
        <a:lnSpc>
          <a:spcPct val="90000"/>
        </a:lnSpc>
        <a:spcBef>
          <a:spcPct val="95000"/>
        </a:spcBef>
        <a:buFont typeface="Arial" panose="020B060402020209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3180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8642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2960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72783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1602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5920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023870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456305" algn="l" defTabSz="864235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3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5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6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8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79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0.xml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1.xml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2.xml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4.xml"/><Relationship Id="rId1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5.xml"/><Relationship Id="rId2" Type="http://schemas.openxmlformats.org/officeDocument/2006/relationships/image" Target="../media/image5.png"/><Relationship Id="rId1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6.xml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7.xml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8.xml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9.xml"/><Relationship Id="rId1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0.xml"/><Relationship Id="rId1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1.xml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2.xml"/><Relationship Id="rId1" Type="http://schemas.openxmlformats.org/officeDocument/2006/relationships/image" Target="../media/image2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3.xml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4.xml"/><Relationship Id="rId2" Type="http://schemas.openxmlformats.org/officeDocument/2006/relationships/image" Target="../media/image2.png"/><Relationship Id="rId1" Type="http://schemas.openxmlformats.org/officeDocument/2006/relationships/image" Target="../media/image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5.xml"/><Relationship Id="rId1" Type="http://schemas.openxmlformats.org/officeDocument/2006/relationships/image" Target="../media/image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6.xml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7.xml"/><Relationship Id="rId1" Type="http://schemas.openxmlformats.org/officeDocument/2006/relationships/image" Target="../media/image2.png"/></Relationships>
</file>

<file path=ppt/slides/_rels/slide2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8.xml"/><Relationship Id="rId2" Type="http://schemas.openxmlformats.org/officeDocument/2006/relationships/image" Target="../media/image7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9.xml"/><Relationship Id="rId1" Type="http://schemas.openxmlformats.org/officeDocument/2006/relationships/image" Target="../media/image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0.xml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1.xml"/><Relationship Id="rId1" Type="http://schemas.openxmlformats.org/officeDocument/2006/relationships/image" Target="../media/image2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2.xml"/><Relationship Id="rId1" Type="http://schemas.openxmlformats.org/officeDocument/2006/relationships/image" Target="../media/image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3.xml"/><Relationship Id="rId1" Type="http://schemas.openxmlformats.org/officeDocument/2006/relationships/image" Target="../media/image2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4.xml"/><Relationship Id="rId1" Type="http://schemas.openxmlformats.org/officeDocument/2006/relationships/image" Target="../media/image2.png"/></Relationships>
</file>

<file path=ppt/slides/_rels/slide3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05.xml"/><Relationship Id="rId2" Type="http://schemas.openxmlformats.org/officeDocument/2006/relationships/image" Target="../media/image8.png"/><Relationship Id="rId1" Type="http://schemas.openxmlformats.org/officeDocument/2006/relationships/image" Target="../media/image2.png"/></Relationships>
</file>

<file path=ppt/slides/_rels/slide3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106.xml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5715"/>
            <a:ext cx="10800080" cy="6480175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771525" y="1797050"/>
            <a:ext cx="5891530" cy="1235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PostgreSQL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的逻辑复制</a:t>
            </a:r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spill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溢出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案例和启停库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  <a:cs typeface="思源黑體 Bold" panose="020B0800000000000000" charset="-120"/>
              </a:rPr>
              <a:t>逻辑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  <a:cs typeface="思源黑體 Bold" panose="020B0800000000000000" charset="-120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2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7" name="图片 6" descr="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822305" cy="648017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429437" y="3039750"/>
            <a:ext cx="2312437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 sz="1595"/>
          </a:p>
        </p:txBody>
      </p:sp>
      <p:sp>
        <p:nvSpPr>
          <p:cNvPr id="13" name="文本框 12"/>
          <p:cNvSpPr txBox="1"/>
          <p:nvPr>
            <p:custDataLst>
              <p:tags r:id="rId2"/>
            </p:custDataLst>
          </p:nvPr>
        </p:nvSpPr>
        <p:spPr>
          <a:xfrm>
            <a:off x="5702194" y="2232031"/>
            <a:ext cx="1238143" cy="58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19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Heavy" panose="020B0A00000000000000" charset="-122"/>
                <a:ea typeface="思源黑体 Heavy" panose="020B0A00000000000000" charset="-122"/>
              </a:rPr>
              <a:t>0 1</a:t>
            </a:r>
            <a:endParaRPr kumimoji="1" lang="en-US" altLang="zh-CN" sz="319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3"/>
            </p:custDataLst>
          </p:nvPr>
        </p:nvSpPr>
        <p:spPr>
          <a:xfrm>
            <a:off x="5702194" y="3084324"/>
            <a:ext cx="1238143" cy="58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19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Heavy" panose="020B0A00000000000000" charset="-122"/>
                <a:ea typeface="思源黑体 Heavy" panose="020B0A00000000000000" charset="-122"/>
              </a:rPr>
              <a:t>0 2</a:t>
            </a:r>
            <a:endParaRPr kumimoji="1" lang="en-US" altLang="zh-CN" sz="319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5702194" y="3926136"/>
            <a:ext cx="1238143" cy="58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19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Heavy" panose="020B0A00000000000000" charset="-122"/>
                <a:ea typeface="思源黑体 Heavy" panose="020B0A00000000000000" charset="-122"/>
              </a:rPr>
              <a:t>0 3</a:t>
            </a:r>
            <a:endParaRPr kumimoji="1" lang="en-US" altLang="zh-CN" sz="319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5702194" y="4774148"/>
            <a:ext cx="1238143" cy="581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kumimoji="1" lang="en-US" altLang="zh-CN" sz="3190" b="1" spc="-300" dirty="0">
                <a:gradFill>
                  <a:gsLst>
                    <a:gs pos="50000">
                      <a:srgbClr val="BB59BC"/>
                    </a:gs>
                    <a:gs pos="100000">
                      <a:srgbClr val="425CCA"/>
                    </a:gs>
                    <a:gs pos="0">
                      <a:srgbClr val="F7CC7E"/>
                    </a:gs>
                  </a:gsLst>
                  <a:lin ang="2580000" scaled="1"/>
                </a:gradFill>
                <a:latin typeface="思源黑体 Heavy" panose="020B0A00000000000000" charset="-122"/>
                <a:ea typeface="思源黑体 Heavy" panose="020B0A00000000000000" charset="-122"/>
              </a:rPr>
              <a:t>0 4</a:t>
            </a:r>
            <a:endParaRPr kumimoji="1" lang="en-US" altLang="zh-CN" sz="3190" b="1" spc="-300" dirty="0">
              <a:gradFill>
                <a:gsLst>
                  <a:gs pos="50000">
                    <a:srgbClr val="BB59BC"/>
                  </a:gs>
                  <a:gs pos="100000">
                    <a:srgbClr val="425CCA"/>
                  </a:gs>
                  <a:gs pos="0">
                    <a:srgbClr val="F7CC7E"/>
                  </a:gs>
                </a:gsLst>
                <a:lin ang="2580000" scaled="1"/>
              </a:gra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6"/>
            </p:custDataLst>
          </p:nvPr>
        </p:nvSpPr>
        <p:spPr>
          <a:xfrm>
            <a:off x="6718056" y="2246063"/>
            <a:ext cx="2519807" cy="906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walsender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、</a:t>
            </a:r>
            <a:r>
              <a:rPr kumimoji="1" lang="en-US" altLang="zh-CN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archiver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kumimoji="1" lang="en-US" altLang="zh-CN" sz="1770" b="1" dirty="0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  <a:p>
            <a:r>
              <a:rPr kumimoji="1" lang="zh-CN" altLang="en-US" sz="177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怎么优雅停库</a:t>
            </a:r>
            <a:endParaRPr kumimoji="1" lang="zh-CN" altLang="en-US" sz="177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7"/>
            </p:custDataLst>
          </p:nvPr>
        </p:nvSpPr>
        <p:spPr>
          <a:xfrm>
            <a:off x="6718056" y="3889996"/>
            <a:ext cx="2519807" cy="63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阻止起库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：</a:t>
            </a:r>
            <a:endParaRPr kumimoji="1" lang="en-US" altLang="zh-CN" sz="1770" b="1" dirty="0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  <a:p>
            <a:pPr algn="l">
              <a:buClrTx/>
              <a:buSzTx/>
              <a:buFontTx/>
            </a:pPr>
            <a:r>
              <a:rPr kumimoji="1" lang="zh-CN" altLang="en-US" sz="177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怎么加速</a:t>
            </a:r>
            <a:r>
              <a:rPr kumimoji="1" lang="zh-CN" altLang="en-US" sz="1770" dirty="0" smtClean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起库</a:t>
            </a:r>
            <a:endParaRPr kumimoji="1" lang="zh-CN" altLang="en-US" sz="1770" dirty="0" smtClean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8"/>
            </p:custDataLst>
          </p:nvPr>
        </p:nvSpPr>
        <p:spPr>
          <a:xfrm>
            <a:off x="6751711" y="4871123"/>
            <a:ext cx="2519807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逻辑</a:t>
            </a:r>
            <a:endParaRPr kumimoji="1" lang="zh-CN" altLang="en-US" sz="1770" b="1" dirty="0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318544" y="3311653"/>
            <a:ext cx="1238143" cy="662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372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目录</a:t>
            </a:r>
            <a:endParaRPr kumimoji="1" lang="zh-CN" altLang="en-US" sz="372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354775" y="3903865"/>
            <a:ext cx="1275038" cy="2959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GB" altLang="zh-CN" sz="133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CONTENTS</a:t>
            </a:r>
            <a:endParaRPr kumimoji="1" lang="en-GB" altLang="zh-CN" sz="133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9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" name="文本框 18"/>
          <p:cNvSpPr txBox="1"/>
          <p:nvPr>
            <p:custDataLst>
              <p:tags r:id="rId10"/>
            </p:custDataLst>
          </p:nvPr>
        </p:nvSpPr>
        <p:spPr>
          <a:xfrm>
            <a:off x="6715516" y="3191496"/>
            <a:ext cx="2519807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1770" b="1" dirty="0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停库逻辑</a:t>
            </a:r>
            <a:endParaRPr kumimoji="1" lang="zh-CN" altLang="en-US" sz="1770" dirty="0" smtClean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0800080" cy="64782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69260" y="2585720"/>
            <a:ext cx="5098415" cy="18072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walsender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、</a:t>
            </a:r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archiver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阻止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停库，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  <a:p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如何优雅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停库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2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0655" y="1605280"/>
            <a:ext cx="10257790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walsender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阻止停库时，数据库的停库状态：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    1 110402 110402 110402 ?            -1 Ss    6001   0:00 postgres -D /myhost/pg/data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110402 110599 110599 110599 ?            -1 Ss    6001   0:00  \_ postgres: lzlpg: logger 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110402 117803 117803 117803 ?            -1 Ss    6001   0:00  \_ postgres: lzlpg: </a:t>
            </a:r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checkpointer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110402 117807 117807 117807 ?            -1 Ss    6001   0:00  \_ postgres: lzlpg: stats collector 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110402 118563 118563 118563 ?            -1 Rs    6001   3:29  \_ postgres: lzlpg: walsender lzl 127.0.0.1(62971) idle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110402 222918 222918 222918 ?            -1 Rs    6001   2:59  \_ postgres: lzlpg: </a:t>
            </a:r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walsender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logical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user 30.181.46.203(57218) idle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353695" y="4421505"/>
            <a:ext cx="9373235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此时的控制文件：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pg_controldata|grep -i state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Database cluster state:               </a:t>
            </a:r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in production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walsender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60655" y="1605280"/>
            <a:ext cx="1025779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pstack 117803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#0  0x00002b879fe0b983 in __select_nocancel () from /lib64/libc.so.6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#1  0x00000000008fd04a in pg_usleep (microsec=microsec@entry=10000) at pgsleep.c:56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#2  0x00000000007610c8 in </a:t>
            </a:r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WalSndWaitStopping () at walsender.c:3209</a:t>
            </a:r>
            <a:endParaRPr lang="en-US" altLang="en-US" sz="1595" dirty="0">
              <a:solidFill>
                <a:srgbClr val="FF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#3  0x000000000051fa86 in ShutdownXLOG (code=code@entry=0, arg=arg@entry=0) at xlog.c:8596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#4  0x00000000007215ff in HandleCheckpointerInterrupts () at checkpointer.c:566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#5  CheckpointerMain () at checkpointer.c:343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...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5" name="文本框 1"/>
          <p:cNvSpPr txBox="1"/>
          <p:nvPr/>
        </p:nvSpPr>
        <p:spPr>
          <a:xfrm>
            <a:off x="287655" y="3912235"/>
            <a:ext cx="1025779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此时的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checkpointer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堵在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WalSndWaitStopping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函数，代表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checkpointer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在等待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walsender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进程进入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stopping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状态</a:t>
            </a:r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此时库是停一半的状态，如果强行</a:t>
            </a:r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kill -9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，会导致数据库是</a:t>
            </a:r>
            <a:r>
              <a:rPr lang="zh-CN" altLang="en-US" sz="1595" b="1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非一致性停库</a:t>
            </a:r>
            <a:endParaRPr lang="zh-CN" altLang="en-US" sz="1595" b="1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walsender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1598400" y="2224163"/>
            <a:ext cx="540000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walsender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阻止停库该怎么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办？</a:t>
            </a:r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- 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方案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：关闭下游进程</a:t>
            </a:r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- 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方案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：发送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SIGTER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M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给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walsender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怎么优雅的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怎么优雅的停库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69900" y="1623060"/>
            <a:ext cx="9481185" cy="27997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1.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关闭下游进程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static void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ProcessRepliesIfAny(void)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{...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				/*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				 * 'X' means that the standby is closing down the socket.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				 */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			</a:t>
            </a:r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case 'X':</a:t>
            </a:r>
            <a:endParaRPr lang="en-US" altLang="en-US" sz="1595" dirty="0">
              <a:solidFill>
                <a:srgbClr val="FF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rgbClr val="FF0000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				proc_exit(0);</a:t>
            </a:r>
            <a:endParaRPr lang="en-US" altLang="en-US" sz="1595" dirty="0">
              <a:solidFill>
                <a:srgbClr val="FF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en-US" altLang="en-US" sz="1595" dirty="0">
              <a:solidFill>
                <a:srgbClr val="FF0000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7" name="文本框 1"/>
          <p:cNvSpPr txBox="1"/>
          <p:nvPr/>
        </p:nvSpPr>
        <p:spPr>
          <a:xfrm>
            <a:off x="596900" y="4451985"/>
            <a:ext cx="9568815" cy="94869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1.alter SUBSCRIPTION sub_lzl disable;---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需要提前找到所有关联的下游</a:t>
            </a:r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PG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库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2.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停同步工具</a:t>
            </a:r>
            <a:r>
              <a:rPr lang="en-US" altLang="zh-CN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----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同步工具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可能无法及时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维护</a:t>
            </a:r>
            <a:endParaRPr lang="zh-CN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" name="文本框 1"/>
          <p:cNvSpPr txBox="1"/>
          <p:nvPr/>
        </p:nvSpPr>
        <p:spPr>
          <a:xfrm>
            <a:off x="469900" y="2202815"/>
            <a:ext cx="5034280" cy="13220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2.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发送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SIGTERM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给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running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状态：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select pg_terminate_backend($walsender_pid)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2" name="Cloud Callout 1"/>
          <p:cNvSpPr/>
          <p:nvPr/>
        </p:nvSpPr>
        <p:spPr>
          <a:xfrm>
            <a:off x="4534535" y="1108075"/>
            <a:ext cx="5681980" cy="1401445"/>
          </a:xfrm>
          <a:prstGeom prst="cloudCallou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en-US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pg_terminate_backend()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本质上就是在发送</a:t>
            </a:r>
            <a:r>
              <a:rPr lang="en-US" altLang="zh-CN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SIGTERM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给</a:t>
            </a:r>
            <a:r>
              <a:rPr lang="zh-CN" altLang="en-US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子进程</a:t>
            </a:r>
            <a:endParaRPr lang="zh-CN" altLang="en-US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353820" y="4105910"/>
            <a:ext cx="539750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停一半的状态：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kill -SIGTERM $walsender_pid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同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kill -15 $walsender_pid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  <a:p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#</a:t>
            </a:r>
            <a:r>
              <a:rPr lang="zh-CN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同</a:t>
            </a:r>
            <a:r>
              <a:rPr lang="en-US" altLang="en-US" sz="1595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 kill $walsender_pid</a:t>
            </a:r>
            <a:endParaRPr lang="en-US" altLang="en-US" sz="1595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怎么优雅的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archiver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69900" y="1346835"/>
            <a:ext cx="1002220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除了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外，常见的还有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进程也可能阻止停库。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 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会发送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SIGUSR2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给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iver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让其最后一次归档并退出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static void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reaper(SIGNAL_ARGS)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if (pid == CheckpointerPID)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CheckpointerPID = 0;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if (EXIT_STATUS_0(exitstatus) &amp;&amp; pmState == PM_SHUTDOWN)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/* Waken archiver for the last time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(PgArchPID != 0)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	signal_child(PgArchPID, SIGUSR2);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   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archiver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1820" y="1727200"/>
            <a:ext cx="10022205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也依赖归档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进程的退出：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PM_WAIT_DEAD_END)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if (dlist_is_empty(&amp;BackendList) &amp;&amp;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PgArchPID == 0 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&amp;&amp; PgStatPID == 0)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/* These other guys should be dead already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Assert(StartupPID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Assert(WalReceiverPID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Assert(BgWriterPID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Assert(CheckpointerPID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Assert(WalWriterPID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Assert(AutoVacPID == 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/* syslogger is not considered here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pmState = PM_NO_CHILDREN;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archiver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91820" y="1727200"/>
            <a:ext cx="1002220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也依赖归档进程的退出：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$  ps -axjf|grep  61470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1  61470  61470  61470 ?            -1 Ss    6001   0:00 /myhost/bin/postgres -D /data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61470  61772  61772  61772 ?            -1 Ss    6001   0:00  \_ postgres: lzlpg: logger 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61470  63880  63880  63880 ?            -1 Ss    6001   0:00  \_ postgres: lzlpg: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 archiving 000000010000018800000007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可能的原因：归档延迟较多，归档盘写入较慢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不可能的原因：归档失败，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NUM_ARCHIVE_RETRIES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限制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此时暴力停库是否有问题？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如果只是归档进程阻止停库，那么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已经停止，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 checkpoint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条目已写入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controldata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的状态也为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 down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，即表示一致性停库。所以此时哪怕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在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running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kill -9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对数据库本身没有影响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怎么优雅的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停库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544955" y="1891030"/>
            <a:ext cx="6013450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在停库的时候，可以添加的动作：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1.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锁定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逻辑同步用户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2. pg_terminate_backend($logical_walsender)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3.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临时关闭归档（可选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,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archive_command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置空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）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4.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手动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5. stop 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fast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6.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如果仅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阻止停库，可以考虑暴力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停库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0800080" cy="64782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69260" y="2585720"/>
            <a:ext cx="5098415" cy="6629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PostgreSQL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停库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逻辑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2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信号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559435" y="1891030"/>
            <a:ext cx="9108440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linux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可以通过信号进行进程通信，并且定义了很多信号。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常用的信号：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-1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-SIGHUP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：挂起信号，在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中通常是通知进程重新加载配置。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-2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-SIGINT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：中断信号（通常是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Ctrl+C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），在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通常对应取消命令。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-3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-SIGQUIT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中通常是强制退出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die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-9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-SIGKILL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：无条件终止信号。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-15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-SIGTERM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：终止信号，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pg_terminate_backend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使用的信号，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中通常是合理退出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-10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-SIGUSR1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：自定义信号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-12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-SIGUSR2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：自定义信号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-17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SIGCHLD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进程使用的信号，一般是子进程退出后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接受该信号触发回收子进程任务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信号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60" y="1903095"/>
            <a:ext cx="9871710" cy="2447925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81977" y="1497648"/>
            <a:ext cx="5080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pg_ctl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通过信号管理停库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方式：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11" name="Rounded Rectangular Callout 10"/>
          <p:cNvSpPr/>
          <p:nvPr/>
        </p:nvSpPr>
        <p:spPr>
          <a:xfrm>
            <a:off x="712470" y="4418965"/>
            <a:ext cx="9346565" cy="1192530"/>
          </a:xfrm>
          <a:prstGeom prst="wedgeRoundRectCallout">
            <a:avLst/>
          </a:prstGeom>
          <a:solidFill>
            <a:srgbClr val="8C13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l">
              <a:buClrTx/>
              <a:buSzTx/>
              <a:buFontTx/>
            </a:pP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KILL -9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和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shutdown -m i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是不同的</a:t>
            </a:r>
            <a:endParaRPr kumimoji="1" lang="zh-CN" altLang="en-US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pg_ctl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没有发送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SIGKILL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（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kill -9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）的参数，但其实是可以直接对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发送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SIGKILL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的，但肯定不推荐这么做，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SIGKILL 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时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不会对子进程、共享内存、信号做任何处理。因为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SIGQUIT 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有兜底逻辑做子进程的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SIGKILL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，所以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SIGQUIT 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基本能保证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pm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能停下来。</a:t>
            </a:r>
            <a:endParaRPr kumimoji="1" lang="zh-CN" altLang="en-US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endParaRPr kumimoji="1" lang="zh-CN" altLang="en-US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信号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注册的信号：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void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PostmasterMain(int argc, char *argv[])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pqsignal_pm(SIGHUP, SIGHUP_handler);	/* reread config file and have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							 * children do same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pqsignal_pm(SIGINT,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pmdie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); 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/*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这里是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fast shutdown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pqsignal_pm(SIGQUIT, pmdie);	/* send SIGQUIT and die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pqsignal_pm(SIGTERM, pmdie);	/* wait for children and shut down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pqsignal_pm(SIGALRM, SIG_IGN);	/* ignored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pqsignal_pm(SIGPIPE, SIG_IGN);	/* ignored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pqsignal_pm(SIGUSR1, sigusr1_handler);	/* message from child process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pqsignal_pm(SIGUSR2, dummy_handler);	/* unused, reserve for children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pqsignal_pm(SIGCHLD,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);	/* handle child termination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信号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子进程注册的信号，示例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void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CheckpointerMain(void)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//checkpointer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会屏蔽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SIGTERM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，真正的停止是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SIGUSR2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pqsignal(SIGHUP, SignalHandlerForConfigReload);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pqsignal(SIGINT, ReqCheckpointHandler); /* request checkpoint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pqsignal(SIGTERM, SIG_IGN); /* ignore SIGTERM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pqsignal(SIGQUIT, SignalHandlerForCrashExit);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pqsignal(SIGALRM, SIG_IGN);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pqsignal(SIGPIPE, SIG_IGN);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pqsignal(SIGUSR1, procsignal_sigusr1_handler);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pqsignal(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SIGUSR2, SignalHandlerForShutdownRequest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每个子进程都会注册信号，大部分内容都差不多，根据子进程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负责不同的功能略微有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差别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reaper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函数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是进程回收函数，子进程退出后会发送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 SIGCHLD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信号，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通过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函数清理进程。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backend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等进程都有自己的清理流程。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以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进程退出，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回收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为例：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-429895" y="2182495"/>
            <a:ext cx="11352530" cy="40570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if (pid == CheckpointerPID)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CheckpointerPID = 0;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if (EXIT_STATUS_0(exitstatus) &amp;&amp; pmState == PM_SHUTDOWN)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//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if (PgArchPID != 0)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signal_child(PgArchPID, SIGUSR2); //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最后一次唤醒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SignalChildren(SIGUSR2);//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最后一次唤醒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   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                  pmState = PM_SHUTDOWN_2;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...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PostmasterStateMachine();//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最后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reaper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还是会进入状态机函数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pmdie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函数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pmdie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函数用于处理不同的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 signals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，包括子进程给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发送的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SIGCHILD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pg_ctl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发送的停库信号。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信号处理主体逻辑是根据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signal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状态机状态，并进入状态机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处理。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324485" y="1930400"/>
            <a:ext cx="1032891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pmdie(SIGNAL_ARGS)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switch (postgres_signal_arg)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case SIGTERM://Smart Shutdown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if (pmState == PM_RUN)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connsAllowed = ALLOW_SUPERUSER_CONNS;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PostmasterStateMachine()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;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//smart shutdown直接交给状态机处理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case SIGINT://Fast Shutdown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	pmState = PM_STOP_BACKENDS;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PostmasterStateMachine();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case SIGQUIT://Immediate Shutdown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TerminateChildren(SIGQUIT);//abort all children with SIGQUIT			pmState = PM_WAIT_BACKENDS;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PostmasterStateMachine();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break;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70050" y="983875"/>
            <a:ext cx="331312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</a:rPr>
              <a:t>函数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PostmasterStateMachine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函数是处理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退出的主体函数，主要是处理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在不同停库状态下做什么。比如一般进程退出、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、归档进程退出、异常退出等等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状态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9900" y="1930400"/>
            <a:ext cx="1018349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PM_RUN || pmState == PM_HOT_STANDBY)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当所有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normal backend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都退出后，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PM_STOP_BACKENDS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PM_STOP_BACKENDS)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除了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checkpointer, archiver, stats, and syslogger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，其他子进程都发生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SIGTERM</a:t>
            </a:r>
            <a:endParaRPr lang="en-US" altLang="zh-CN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PM_WAIT_BACKENDS;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PM_WAIT_BACKENDS)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//signal_child(CheckpointerPID, SIGUSR2);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//pmState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PM_SHUTDOWN;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PM_SHUTDOWN_2) //reaper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在处理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的退出时，会设置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pmState = PM_SHUTDOWN_2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//PM_SHUTDOWN_2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本质上是等待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和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archiver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//pmState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PM_WAIT_DEAD_END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(pmState == PM_WAIT_DEAD_END)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//PM_WAIT_DEAD_END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判断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BackendList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已经完全清空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//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pmState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转换为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PM_NO_CHILDREN             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(Shutdown &gt; NoShutdown &amp;&amp; pmState == PM_NO_CHILDREN) 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//PM_NO_CHILDREN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是停库的最后一个状态，表示可以正常停库了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   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异常退出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ExitPostmaster(1);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正常退出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ExitPostmaster(0);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和</a:t>
            </a:r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退出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进程在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退出时会被唤醒做最后一次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 checkpoint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等工作，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但是创建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 checkpoint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需要等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全部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进入退出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态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9900" y="1930400"/>
            <a:ext cx="10183495" cy="4276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HandleCheckpointerInterrupts(void)  //checkpointer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的退出，最最重要的就是做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ShutdownXLOG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ShutdownXLOG(0, 0);/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这里会写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 checkpoint 		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proc_exit(0);//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正常退出态为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0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ShutdownXLOG(int code, Datum arg)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	WalSndInitStopping();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//walsender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初始化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stopping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	WalSndWaitStopping();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//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等待所有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处于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stopping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状态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这里就是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shutdown checkpoint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的创建函数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CreateCheckPoint(CHECKPOINT_IS_SHUTDOWN | CHECKPOINT_IMMEDIATE);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和</a:t>
            </a:r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退出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69900" y="1346835"/>
            <a:ext cx="1018349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WalSndWaitStopping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会等待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walsender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退出，如果不退出是死循环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等待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469900" y="2237740"/>
            <a:ext cx="10183495" cy="20612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WalSndWaitStopping(void)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for (;;)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{...//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省略很多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if (all_stopped)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return;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755" y="64770"/>
            <a:ext cx="5575300" cy="6350000"/>
          </a:xfrm>
          <a:prstGeom prst="rect">
            <a:avLst/>
          </a:prstGeom>
        </p:spPr>
      </p:pic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停库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逻辑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8" name="图片 7" descr="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635"/>
            <a:ext cx="10800080" cy="647827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2969260" y="2585720"/>
            <a:ext cx="5098415" cy="12350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Spill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阻止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起库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  <a:p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和加速</a:t>
            </a:r>
            <a:r>
              <a:rPr kumimoji="1" lang="zh-CN" altLang="en-US" sz="3720" b="1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起库</a:t>
            </a:r>
            <a:endParaRPr kumimoji="1" lang="zh-CN" altLang="en-US" sz="3720" b="1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</p:txBody>
      </p: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2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阻止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70610" y="1537335"/>
            <a:ext cx="794004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现象：数据库启动缓慢，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进程在读取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文件，文件名在变化。查看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文件也很慢，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ls -l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最后跑出来有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1000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个文件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数据库正在启动，没有直接卡住。不过看上去启动会花很多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时间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- 1000w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文件直接导致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linux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操作系统很卡。在主机上做任何操作都很费劲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了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11" name="Oval Callout 10"/>
          <p:cNvSpPr/>
          <p:nvPr/>
        </p:nvSpPr>
        <p:spPr>
          <a:xfrm>
            <a:off x="1201420" y="3469005"/>
            <a:ext cx="6527800" cy="1467485"/>
          </a:xfrm>
          <a:prstGeom prst="wedgeEllipseCallout">
            <a:avLst/>
          </a:prstGeom>
          <a:solidFill>
            <a:srgbClr val="8C13F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疑问？？？</a:t>
            </a:r>
            <a:endParaRPr kumimoji="1" lang="en-US" altLang="zh-CN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en-US" altLang="zh-CN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1</a:t>
            </a:r>
            <a:r>
              <a:rPr kumimoji="1" lang="en-US" altLang="zh-CN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.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1000w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个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spill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哪里来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的？</a:t>
            </a:r>
            <a:endParaRPr kumimoji="1" lang="zh-CN" altLang="en-US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  <a:p>
            <a:pPr lvl="0" algn="ctr">
              <a:buClrTx/>
              <a:buSzTx/>
              <a:buFontTx/>
            </a:pPr>
            <a:r>
              <a:rPr kumimoji="1" lang="en-US" altLang="zh-CN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2</a:t>
            </a:r>
            <a:r>
              <a:rPr kumimoji="1" lang="en-US" altLang="zh-CN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.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库起不来，怎么</a:t>
            </a:r>
            <a:r>
              <a:rPr kumimoji="1" lang="zh-CN" altLang="en-US" sz="1595">
                <a:latin typeface="思源黑体 CN Regular" panose="020B0500000000000000" pitchFamily="34" charset="-122"/>
                <a:ea typeface="思源黑体 CN Regular" panose="020B0500000000000000" pitchFamily="34" charset="-122"/>
                <a:sym typeface="+mn-ea"/>
              </a:rPr>
              <a:t>办？</a:t>
            </a:r>
            <a:endParaRPr kumimoji="1" lang="zh-CN" altLang="en-US" sz="1595">
              <a:latin typeface="思源黑体 CN Regular" panose="020B0500000000000000" pitchFamily="34" charset="-122"/>
              <a:ea typeface="思源黑体 CN Regular" panose="020B0500000000000000" pitchFamily="34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怎么来的，怎么定位到</a:t>
            </a:r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94918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ReorderBufferSerializedPath(char *path, ReplicationSlot *slot, TransactionId xid,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               XLogSegNo segno)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XLogRecPtr    recptr;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XLogSegNoOffsetToRecPtr(segno, 0, wal_segment_size, recptr);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snprintf(path, MAXPGPATH, "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pg_replslot/%s/xid-%u-lsn-%X-%X.spill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",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NameStr(MyReplicationSlot-&gt;data.name),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xid,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    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(uint32) (recptr &gt;&gt; 32),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(uint32) recptr);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怎么来的，怎么定位到</a:t>
            </a:r>
            <a:r>
              <a:rPr lang="en-US" altLang="zh-CN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94918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#define XLogSegNoOffsetToRecPtr(segno, offset, wal_segsz_bytes, dest) \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        (dest) = (segno) * (wal_segsz_bytes) + (offset)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XLogRecPtr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就是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LSN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(uint32) (recptr &gt;&gt; 32)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表示取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LSN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前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32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位。因为传入的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offset=0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，也传入了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segno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，那么根本不需要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日志段内偏移量信息。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wal_segsz_bytes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的真实值是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128M*1014*1024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，将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XLogSegNoOffsetToRecPtr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中的式子转化下为（以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xid-407989064-lsn-42D1E-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20000000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为例）：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segno= dest/(128*1024*1024)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再把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16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进制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20000000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转化下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segno= x'20000000'::int/(128*1024*1024)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segno= 4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ls 42D1E*04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0000000200042D1E00000004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怎么来的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794004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文件生成规则如下：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同一个事务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id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，如果跨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就会产生多个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。如：一个不含子事务的大事务跨越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3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，就会对应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3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不同的事务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id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对应不同的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。如：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1000w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个子事务对应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1000w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例如：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文件名结构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xid-407989064-lsn-42D1E-20000000.spill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755" y="3312795"/>
            <a:ext cx="10219690" cy="80200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怎么来的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7940040" cy="18148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溢出逻辑的版本差异：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PG12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及以前是写死的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4096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条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changes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PG13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新增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logical_decoding_work_mem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参数，可调整内存大小以减少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概率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PG14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及以后支持流式复制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Streaming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触发流式复制也需要一定的条件，所以即使有流式复制也可能会发生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PG17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新增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debug_logical_replication_streaming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参数以强制触发流式传输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35382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库起不来？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起库中最关键的进程是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进程。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进程无论如何都在起库时启动。对于一致性停库和非一致性停库来说，非一致性停库会走跟多的逻辑。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其一便是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 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目录：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if (ControlFile-&gt;state != DB_SHUTDOWNED &amp;&amp;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ControlFile-&gt;state != DB_SHUTDOWNED_IN_RECOVERY)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RemoveTempXlogFiles();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SyncDataDirectory();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因为控制文件记录的状态不是正常停库的，所以走到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if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中调用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SyncDataDirectory()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做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fsync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持久化。这个动作是为了保证在数据库运行前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目录是完全持久化的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进程做了很多很多事，其中跟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相关的除了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fs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ync 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外，还有启动</a:t>
            </a:r>
            <a:r>
              <a:rPr lang="en-US" alt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reorderbuffer</a:t>
            </a:r>
            <a:r>
              <a:rPr lang="zh-CN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。启动的时候会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清理所有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目录的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StartupReorderBuffer(void)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while ((logical_de = ReadDir(logical_dir, "pg_replslot")) != NULL)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{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/* if it cannot be a slot, skip the directory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if (!ReplicationSlotValidateName(logical_de-&gt;d_name, DEBUG2))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continue;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/*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 * ok, has to be a surviving logical slot, iterate and delete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 * everything starting with xid-*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 */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ReorderBufferCleanupSerializedTXNs(logical_de-&gt;d_name)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FreeDir(logical_dir);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起库逻辑小结：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pg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会启动一个辅助进程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以协助起库，不同于在常见的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childprocess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（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walwriter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bgwriter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checkpointer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等等）进程，它是起库过程中必定会启动的进程，它会做很多事情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StartupXLOG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起库时一定会被调用，无论数据库是否一致性停库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只有非正常停库状态下，才会触发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SyncDataDirectory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SyncDataDirectory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fsync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持久化所有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文件，并查看所有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信息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fsync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是为了在库启动前保证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文件都一致；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应该是为了验证文件是否正常和可读（在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进程启动前只验证过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datadir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目录可读性）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无论停库状态，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StartupReorderBuffer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一定会被调用并清理所有复制槽的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思考如何去加速起库？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1000w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删除起来肯定是很慢的，直接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mv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目录的话就非常快。但是直接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mv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需要注意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mv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后的名称和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文件，以及需要知道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mv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到底跳过了哪一个源码步骤。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由于是异常停库，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进程会执行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SyncDataDirectoryfsync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所有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data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文件，这一点是比较难绕过的。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SyncDataDirectory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做完以后，才开始处理复制槽。处理复制槽时会调用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StartupReorderBuffer()-&gt;ReorderBufferCleanupSerializedTXNs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全量清理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文件。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在进入清理前，会调用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ReplicationSlotValidateName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校验复制槽名称的有效性，我们可以在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ReplicationSlotValidateName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上做文章，以骗过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startup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进程跳过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ReorderBufferCleanupSerializedTXNs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的过程。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ReplicationSlotValidateName(const char *name, int elevel)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{...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if (!((*cp &gt;= 'a' &amp;&amp; *cp &lt;= 'z')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  || (*cp &gt;= '0' &amp;&amp; *cp &lt;= '9')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			  || (*cp == '_')))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...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}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有效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 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只包含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a-z;0-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9;_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。所以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时建议加个点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建议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slotname.bak,slotname.20241215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。</a:t>
            </a: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不建议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slotnamebackup,slotname20241215,slotname_bak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等等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- 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不建议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.tmp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后缀，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有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.tmp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后缀有特殊含义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endParaRPr lang="en-US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最后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rename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后，</a:t>
            </a:r>
            <a:r>
              <a:rPr lang="zh-CN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要创建目录和拷贝</a:t>
            </a: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state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，不然启动的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会表现的很反常（比如重复的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、自动生产一个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slotname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、删不到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slot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、下游起不来链路等等）。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cd pg_replslot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mv slotname slotname.bak 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mkdir slotname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  <a:p>
            <a:pPr lvl="0" algn="l">
              <a:buClrTx/>
              <a:buSzTx/>
              <a:buFontTx/>
            </a:pPr>
            <a:r>
              <a:rPr lang="en-US" altLang="en-US" sz="1595" b="1">
                <a:solidFill>
                  <a:srgbClr val="FF0000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cp slotname.bak/state slotname/</a:t>
            </a:r>
            <a:endParaRPr lang="en-US" altLang="en-US" sz="1595" b="1">
              <a:solidFill>
                <a:srgbClr val="FF0000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044A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8" name="直接连接符 7"/>
          <p:cNvCxnSpPr/>
          <p:nvPr/>
        </p:nvCxnSpPr>
        <p:spPr>
          <a:xfrm flipV="1">
            <a:off x="395755" y="787248"/>
            <a:ext cx="10022840" cy="571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 descr="生态大会2025LOGO转曲_画板 1"/>
          <p:cNvPicPr>
            <a:picLocks noChangeAspect="1"/>
          </p:cNvPicPr>
          <p:nvPr/>
        </p:nvPicPr>
        <p:blipFill>
          <a:blip r:embed="rId1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10" name="文本框 4"/>
          <p:cNvSpPr txBox="1"/>
          <p:nvPr/>
        </p:nvSpPr>
        <p:spPr>
          <a:xfrm>
            <a:off x="469900" y="983615"/>
            <a:ext cx="4638675" cy="3632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如何加速</a:t>
            </a:r>
            <a:r>
              <a:rPr lang="zh-CN" altLang="en-US" sz="1770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起库</a:t>
            </a:r>
            <a:endParaRPr lang="zh-CN" altLang="en-US" sz="1770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9900" y="1497965"/>
            <a:ext cx="9791065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lvl="0" algn="l">
              <a:buClrTx/>
              <a:buSzTx/>
              <a:buFontTx/>
            </a:pP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伪造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2000w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个</a:t>
            </a:r>
            <a:r>
              <a:rPr lang="en-US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spill</a:t>
            </a:r>
            <a:r>
              <a:rPr lang="zh-CN" altLang="en-US" sz="1595" b="1">
                <a:solidFill>
                  <a:schemeClr val="bg1"/>
                </a:solidFill>
                <a:latin typeface="思源黑体 Heavy" panose="020B0A00000000000000" charset="-122"/>
                <a:ea typeface="思源黑体 Heavy" panose="020B0A00000000000000" charset="-122"/>
                <a:sym typeface="+mn-ea"/>
              </a:rPr>
              <a:t>测试起库时间：</a:t>
            </a:r>
            <a:endParaRPr lang="zh-CN" altLang="en-US" sz="1595" b="1">
              <a:solidFill>
                <a:schemeClr val="bg1"/>
              </a:solidFill>
              <a:latin typeface="思源黑体 Heavy" panose="020B0A00000000000000" charset="-122"/>
              <a:ea typeface="思源黑体 Heavy" panose="020B0A00000000000000" charset="-122"/>
              <a:sym typeface="+mn-ea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810" y="1835150"/>
            <a:ext cx="9791065" cy="239458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800080" cy="648017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00875" y="1406673"/>
            <a:ext cx="3762000" cy="991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en-US" altLang="zh-CN" sz="5845" b="1" kern="4000" spc="200" dirty="0">
                <a:solidFill>
                  <a:schemeClr val="bg1"/>
                </a:solidFill>
                <a:latin typeface="思源黑體 Bold" panose="020B0800000000000000" charset="-120"/>
                <a:ea typeface="思源黑體 Bold" panose="020B0800000000000000" charset="-120"/>
              </a:rPr>
              <a:t>Thanks</a:t>
            </a:r>
            <a:endParaRPr kumimoji="1" lang="en-US" altLang="zh-CN" sz="5845" b="1" kern="4000" spc="200" dirty="0">
              <a:solidFill>
                <a:schemeClr val="bg1"/>
              </a:solidFill>
              <a:latin typeface="思源黑體 Bold" panose="020B0800000000000000" charset="-120"/>
              <a:ea typeface="思源黑體 Bold" panose="020B0800000000000000" charset="-12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825107" y="2430423"/>
            <a:ext cx="1976143" cy="7727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kumimoji="1" lang="zh-CN" altLang="en-US" sz="4430" dirty="0">
                <a:solidFill>
                  <a:schemeClr val="bg1">
                    <a:lumMod val="75000"/>
                  </a:schemeClr>
                </a:solidFill>
                <a:latin typeface="思源黑體 Medium" panose="020B0600000000000000" charset="-120"/>
                <a:ea typeface="思源黑體 Medium" panose="020B0600000000000000" charset="-120"/>
              </a:rPr>
              <a:t>谢谢</a:t>
            </a:r>
            <a:endParaRPr kumimoji="1" lang="zh-CN" altLang="en-US" sz="4430" dirty="0">
              <a:solidFill>
                <a:schemeClr val="bg1">
                  <a:lumMod val="75000"/>
                </a:schemeClr>
              </a:solidFill>
              <a:latin typeface="思源黑體 Medium" panose="020B0600000000000000" charset="-120"/>
              <a:ea typeface="思源黑體 Medium" panose="020B0600000000000000" charset="-120"/>
            </a:endParaRPr>
          </a:p>
        </p:txBody>
      </p:sp>
      <p:pic>
        <p:nvPicPr>
          <p:cNvPr id="2" name="图片 1" descr="生态大会2025LOGO转曲_画板 1"/>
          <p:cNvPicPr>
            <a:picLocks noChangeAspect="1"/>
          </p:cNvPicPr>
          <p:nvPr/>
        </p:nvPicPr>
        <p:blipFill>
          <a:blip r:embed="rId2"/>
          <a:srcRect l="17663" t="17394" r="12213" b="14933"/>
          <a:stretch>
            <a:fillRect/>
          </a:stretch>
        </p:blipFill>
        <p:spPr>
          <a:xfrm>
            <a:off x="353975" y="188698"/>
            <a:ext cx="1559812" cy="643500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8635027" y="247753"/>
            <a:ext cx="2017687" cy="445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IvorySQL 2025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生态大会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  <a:p>
            <a:pPr algn="ctr"/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暨</a:t>
            </a:r>
            <a:r>
              <a:rPr lang="en-US" altLang="zh-CN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PostgreSQL</a:t>
            </a:r>
            <a:r>
              <a:rPr lang="zh-CN" altLang="en-US" sz="1150" b="1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高峰论坛</a:t>
            </a:r>
            <a:endParaRPr lang="zh-CN" altLang="en-US" sz="1150" b="1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65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66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67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68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69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70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71.xml><?xml version="1.0" encoding="utf-8"?>
<p:tagLst xmlns:p="http://schemas.openxmlformats.org/presentationml/2006/main">
  <p:tag name="KSO_WM_DIAGRAM_VIRTUALLY_FRAME" val="{&quot;height&quot;:284.14000000000004,&quot;left&quot;:448.99165354330705,&quot;top&quot;:175.75047244094486,&quot;width&quot;:372.15173228346447}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  <p:tag name="resource_record_key" val="{&quot;13&quot;:[20482073],&quot;65&quot;:[20205081]}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107.xml><?xml version="1.0" encoding="utf-8"?>
<p:tagLst xmlns:p="http://schemas.openxmlformats.org/presentationml/2006/main">
  <p:tag name="resource_record_key" val="{&quot;13&quot;:[20482073],&quot;65&quot;:[20205081]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12707</Words>
  <Application>WPS Presentation</Application>
  <PresentationFormat>宽屏</PresentationFormat>
  <Paragraphs>585</Paragraphs>
  <Slides>36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64" baseType="lpstr">
      <vt:lpstr>Arial</vt:lpstr>
      <vt:lpstr>宋体</vt:lpstr>
      <vt:lpstr>Wingdings</vt:lpstr>
      <vt:lpstr>Wingdings</vt:lpstr>
      <vt:lpstr>思源黑體 Bold</vt:lpstr>
      <vt:lpstr>汉仪中黑KW</vt:lpstr>
      <vt:lpstr>思源黑体 CN Medium</vt:lpstr>
      <vt:lpstr>思源黑体 Heavy</vt:lpstr>
      <vt:lpstr>思源黑體 Medium</vt:lpstr>
      <vt:lpstr>微软雅黑</vt:lpstr>
      <vt:lpstr>汉仪旗黑</vt:lpstr>
      <vt:lpstr>思源黑体 CN Regular</vt:lpstr>
      <vt:lpstr>宋体</vt:lpstr>
      <vt:lpstr>Arial Unicode MS</vt:lpstr>
      <vt:lpstr>Calibri</vt:lpstr>
      <vt:lpstr>Helvetica Neue</vt:lpstr>
      <vt:lpstr>微软雅黑</vt:lpstr>
      <vt:lpstr>思源黑体 CN Medium</vt:lpstr>
      <vt:lpstr>思源黑体 CN Regular</vt:lpstr>
      <vt:lpstr>思源黑体 Heavy</vt:lpstr>
      <vt:lpstr>思源黑體 Bold</vt:lpstr>
      <vt:lpstr>思源黑體 Medium</vt:lpstr>
      <vt:lpstr>汉仪书宋二KW</vt:lpstr>
      <vt:lpstr>Open Sans</vt:lpstr>
      <vt:lpstr>var(--monospace)</vt:lpstr>
      <vt:lpstr>Thonburi</vt:lpstr>
      <vt:lpstr>Apple Color Emoji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刘智龙</cp:lastModifiedBy>
  <cp:revision>611</cp:revision>
  <dcterms:created xsi:type="dcterms:W3CDTF">2025-06-25T04:52:59Z</dcterms:created>
  <dcterms:modified xsi:type="dcterms:W3CDTF">2025-06-25T04:52:59Z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1033-7.5.1.8994</vt:lpwstr>
  </property>
  <property fmtid="{D5CDD505-2E9C-101B-9397-08002B2CF9AE}" pid="3" name="ICV">
    <vt:lpwstr>AE548B75E61B561A67A454685482B47D_43</vt:lpwstr>
  </property>
</Properties>
</file>